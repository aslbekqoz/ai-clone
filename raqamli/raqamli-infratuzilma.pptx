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Kirish" id="{91b609e9-1830-8b81-c298-290e4a0b294f}">
          <p14:sldIdLst>
            <p14:sldId id="256"/>
            <p14:sldId id="257"/>
          </p14:sldIdLst>
        </p14:section>
        <p14:section name="Nazariya va formula" id="{8e1bd931-d388-a081-fe2a-f9944fb06d6d}">
          <p14:sldIdLst>
            <p14:sldId id="258"/>
            <p14:sldId id="259"/>
            <p14:sldId id="260"/>
            <p14:sldId id="261"/>
          </p14:sldIdLst>
        </p14:section>
        <p14:section name="Statistik va grafik tahlil" id="{79ef7b63-b66f-ea12-1823-294ef63c52d8}">
          <p14:sldIdLst>
            <p14:sldId id="262"/>
            <p14:sldId id="263"/>
            <p14:sldId id="264"/>
            <p14:sldId id="265"/>
          </p14:sldIdLst>
        </p14:section>
        <p14:section name="Talaba tahlili va xulosasi" id="{df5b801c-1120-34b3-b784-f93cb7ae12ef}">
          <p14:sldIdLst>
            <p14:sldId id="266"/>
            <p14:sldId id="267"/>
            <p14:sldId id="268"/>
            <p14:sldId id="269"/>
          </p14:sldIdLst>
        </p14:section>
        <p14:section name="Manbalar" id="{a35555da-34d5-2c6e-c794-d28aab578991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Keng polosali obuna / 100 kishi</c:v>
                </c:pt>
              </c:strCache>
            </c:strRef>
          </c:tx>
          <c:spPr>
            <a:solidFill>
              <a:srgbClr val="7DD3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/>
                  </c:pt>
                  <c:pt idx="2">
                    <c:v>2012</c:v>
                  </c:pt>
                  <c:pt idx="3">
                    <c:v/>
                  </c:pt>
                  <c:pt idx="4">
                    <c:v>2014</c:v>
                  </c:pt>
                  <c:pt idx="5">
                    <c:v/>
                  </c:pt>
                  <c:pt idx="6">
                    <c:v>2016</c:v>
                  </c:pt>
                  <c:pt idx="7">
                    <c:v/>
                  </c:pt>
                  <c:pt idx="8">
                    <c:v>2018</c:v>
                  </c:pt>
                  <c:pt idx="9">
                    <c:v/>
                  </c:pt>
                  <c:pt idx="10">
                    <c:v>2020</c:v>
                  </c:pt>
                  <c:pt idx="11">
                    <c:v/>
                  </c:pt>
                  <c:pt idx="12">
                    <c:v>2022</c:v>
                  </c:pt>
                  <c:pt idx="13">
                    <c:v/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0.42</c:v>
                </c:pt>
                <c:pt idx="1">
                  <c:v>0.51</c:v>
                </c:pt>
                <c:pt idx="2">
                  <c:v>0.75</c:v>
                </c:pt>
                <c:pt idx="3">
                  <c:v>1.03</c:v>
                </c:pt>
                <c:pt idx="4">
                  <c:v>2.71</c:v>
                </c:pt>
                <c:pt idx="5">
                  <c:v>5.81</c:v>
                </c:pt>
                <c:pt idx="6">
                  <c:v>8.78</c:v>
                </c:pt>
                <c:pt idx="7">
                  <c:v>10.43</c:v>
                </c:pt>
                <c:pt idx="8">
                  <c:v>12.74</c:v>
                </c:pt>
                <c:pt idx="9">
                  <c:v>10.56</c:v>
                </c:pt>
                <c:pt idx="10">
                  <c:v>15.81</c:v>
                </c:pt>
                <c:pt idx="11">
                  <c:v>21.89</c:v>
                </c:pt>
                <c:pt idx="12">
                  <c:v>25.8</c:v>
                </c:pt>
                <c:pt idx="13">
                  <c:v>30.27</c:v>
                </c:pt>
                <c:pt idx="14">
                  <c:v>34.74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Internetdan foydalanuvchilar, %</c:v>
                </c:pt>
              </c:strCache>
            </c:strRef>
          </c:tx>
          <c:spPr>
            <a:solidFill>
              <a:srgbClr val="0A84C1"/>
            </a:solidFill>
            <a:ln w="38100" cap="flat">
              <a:solidFill>
                <a:srgbClr val="0A84C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A84C1"/>
              </a:solidFill>
              <a:ln w="9525" cap="flat">
                <a:solidFill>
                  <a:srgbClr val="0A84C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/>
                  </c:pt>
                  <c:pt idx="2">
                    <c:v>2012</c:v>
                  </c:pt>
                  <c:pt idx="3">
                    <c:v/>
                  </c:pt>
                  <c:pt idx="4">
                    <c:v>2014</c:v>
                  </c:pt>
                  <c:pt idx="5">
                    <c:v/>
                  </c:pt>
                  <c:pt idx="6">
                    <c:v>2016</c:v>
                  </c:pt>
                  <c:pt idx="7">
                    <c:v/>
                  </c:pt>
                  <c:pt idx="8">
                    <c:v>2018</c:v>
                  </c:pt>
                  <c:pt idx="9">
                    <c:v/>
                  </c:pt>
                  <c:pt idx="10">
                    <c:v>2020</c:v>
                  </c:pt>
                  <c:pt idx="11">
                    <c:v/>
                  </c:pt>
                  <c:pt idx="12">
                    <c:v>2022</c:v>
                  </c:pt>
                  <c:pt idx="13">
                    <c:v/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15.9</c:v>
                </c:pt>
                <c:pt idx="1">
                  <c:v>18.6</c:v>
                </c:pt>
                <c:pt idx="2">
                  <c:v>23.6</c:v>
                </c:pt>
                <c:pt idx="3">
                  <c:v>26.8</c:v>
                </c:pt>
                <c:pt idx="4">
                  <c:v>35.5</c:v>
                </c:pt>
                <c:pt idx="5">
                  <c:v>42.8</c:v>
                </c:pt>
                <c:pt idx="6">
                  <c:v>46.79</c:v>
                </c:pt>
                <c:pt idx="7">
                  <c:v>48.7</c:v>
                </c:pt>
                <c:pt idx="8">
                  <c:v>55.2</c:v>
                </c:pt>
                <c:pt idx="9">
                  <c:v>70.4</c:v>
                </c:pt>
                <c:pt idx="10">
                  <c:v>71.1</c:v>
                </c:pt>
                <c:pt idx="11">
                  <c:v>76.59</c:v>
                </c:pt>
                <c:pt idx="12">
                  <c:v>83.9</c:v>
                </c:pt>
                <c:pt idx="13">
                  <c:v>89.01</c:v>
                </c:pt>
                <c:pt idx="14">
                  <c:v>89.51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Dunyo: internet, %</c:v>
                </c:pt>
              </c:strCache>
            </c:strRef>
          </c:tx>
          <c:spPr>
            <a:solidFill>
              <a:srgbClr val="9AA4B2"/>
            </a:solidFill>
            <a:ln w="25400" cap="flat">
              <a:solidFill>
                <a:srgbClr val="9AA4B2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4B2"/>
              </a:solidFill>
              <a:ln w="9525" cap="flat">
                <a:solidFill>
                  <a:srgbClr val="9AA4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/>
                  </c:pt>
                  <c:pt idx="2">
                    <c:v>2012</c:v>
                  </c:pt>
                  <c:pt idx="3">
                    <c:v/>
                  </c:pt>
                  <c:pt idx="4">
                    <c:v>2014</c:v>
                  </c:pt>
                  <c:pt idx="5">
                    <c:v/>
                  </c:pt>
                  <c:pt idx="6">
                    <c:v>2016</c:v>
                  </c:pt>
                  <c:pt idx="7">
                    <c:v/>
                  </c:pt>
                  <c:pt idx="8">
                    <c:v>2018</c:v>
                  </c:pt>
                  <c:pt idx="9">
                    <c:v/>
                  </c:pt>
                  <c:pt idx="10">
                    <c:v>2020</c:v>
                  </c:pt>
                  <c:pt idx="11">
                    <c:v/>
                  </c:pt>
                  <c:pt idx="12">
                    <c:v>2022</c:v>
                  </c:pt>
                  <c:pt idx="13">
                    <c:v/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28.4</c:v>
                </c:pt>
                <c:pt idx="1">
                  <c:v>30.9</c:v>
                </c:pt>
                <c:pt idx="2">
                  <c:v>33.3</c:v>
                </c:pt>
                <c:pt idx="3">
                  <c:v>35.3</c:v>
                </c:pt>
                <c:pt idx="4">
                  <c:v>37.4</c:v>
                </c:pt>
                <c:pt idx="5">
                  <c:v>39.9</c:v>
                </c:pt>
                <c:pt idx="6">
                  <c:v>43.6</c:v>
                </c:pt>
                <c:pt idx="7">
                  <c:v>46.3</c:v>
                </c:pt>
                <c:pt idx="8">
                  <c:v>49.4</c:v>
                </c:pt>
                <c:pt idx="9">
                  <c:v>53.9</c:v>
                </c:pt>
                <c:pt idx="10">
                  <c:v>60.1</c:v>
                </c:pt>
                <c:pt idx="11">
                  <c:v>63.8</c:v>
                </c:pt>
                <c:pt idx="12">
                  <c:v>67</c:v>
                </c:pt>
                <c:pt idx="13">
                  <c:v>69.2</c:v>
                </c:pt>
                <c:pt idx="14">
                  <c:v>71.2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0F172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+mj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+mj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5F7FA">
            <a:alpha val="0"/>
          </a:srgbClr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5563"/>
              </a:solidFill>
              <a:latin typeface="+mj-lt"/>
              <a:cs typeface="+mj-lt"/>
            </a:defRPr>
          </a:pPr>
          <a:endParaRPr lang="en-US"/>
        </a:p>
      </c:txPr>
    </c:legend>
    <c:plotVisOnly val="1"/>
    <c:dispBlanksAs val="span"/>
  </c:chart>
  <c:spPr>
    <a:solidFill>
      <a:srgbClr val="F5F7FA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O‘zbekiston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/>
                  </c:pt>
                  <c:pt idx="2">
                    <c:v>2012</c:v>
                  </c:pt>
                  <c:pt idx="3">
                    <c:v/>
                  </c:pt>
                  <c:pt idx="4">
                    <c:v>2014</c:v>
                  </c:pt>
                  <c:pt idx="5">
                    <c:v/>
                  </c:pt>
                  <c:pt idx="6">
                    <c:v>2016</c:v>
                  </c:pt>
                  <c:pt idx="7">
                    <c:v/>
                  </c:pt>
                  <c:pt idx="8">
                    <c:v>2018</c:v>
                  </c:pt>
                  <c:pt idx="9">
                    <c:v/>
                  </c:pt>
                  <c:pt idx="10">
                    <c:v>2020</c:v>
                  </c:pt>
                  <c:pt idx="11">
                    <c:v/>
                  </c:pt>
                  <c:pt idx="12">
                    <c:v>2022</c:v>
                  </c:pt>
                  <c:pt idx="13">
                    <c:v/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15561</c:v>
                </c:pt>
                <c:pt idx="1">
                  <c:v>16354</c:v>
                </c:pt>
                <c:pt idx="2">
                  <c:v>17128</c:v>
                </c:pt>
                <c:pt idx="3">
                  <c:v>18136</c:v>
                </c:pt>
                <c:pt idx="4">
                  <c:v>19208</c:v>
                </c:pt>
                <c:pt idx="5">
                  <c:v>20359</c:v>
                </c:pt>
                <c:pt idx="6">
                  <c:v>21361</c:v>
                </c:pt>
                <c:pt idx="7">
                  <c:v>22207</c:v>
                </c:pt>
                <c:pt idx="8">
                  <c:v>23020</c:v>
                </c:pt>
                <c:pt idx="9">
                  <c:v>24107</c:v>
                </c:pt>
                <c:pt idx="10">
                  <c:v>24754</c:v>
                </c:pt>
                <c:pt idx="11">
                  <c:v>26215</c:v>
                </c:pt>
                <c:pt idx="12">
                  <c:v>26371</c:v>
                </c:pt>
                <c:pt idx="13">
                  <c:v>27562</c:v>
                </c:pt>
                <c:pt idx="14">
                  <c:v>28948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Dunyo o‘rtachasi</c:v>
                </c:pt>
              </c:strCache>
            </c:strRef>
          </c:tx>
          <c:spPr>
            <a:solidFill>
              <a:srgbClr val="9AA4B2"/>
            </a:solidFill>
            <a:ln w="31750" cap="flat">
              <a:solidFill>
                <a:srgbClr val="9AA4B2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4B2"/>
              </a:solidFill>
              <a:ln w="9525" cap="flat">
                <a:solidFill>
                  <a:srgbClr val="9AA4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/>
                  </c:pt>
                  <c:pt idx="2">
                    <c:v>2012</c:v>
                  </c:pt>
                  <c:pt idx="3">
                    <c:v/>
                  </c:pt>
                  <c:pt idx="4">
                    <c:v>2014</c:v>
                  </c:pt>
                  <c:pt idx="5">
                    <c:v/>
                  </c:pt>
                  <c:pt idx="6">
                    <c:v>2016</c:v>
                  </c:pt>
                  <c:pt idx="7">
                    <c:v/>
                  </c:pt>
                  <c:pt idx="8">
                    <c:v>2018</c:v>
                  </c:pt>
                  <c:pt idx="9">
                    <c:v/>
                  </c:pt>
                  <c:pt idx="10">
                    <c:v>2020</c:v>
                  </c:pt>
                  <c:pt idx="11">
                    <c:v/>
                  </c:pt>
                  <c:pt idx="12">
                    <c:v>2022</c:v>
                  </c:pt>
                  <c:pt idx="13">
                    <c:v/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37975</c:v>
                </c:pt>
                <c:pt idx="1">
                  <c:v>38954</c:v>
                </c:pt>
                <c:pt idx="2">
                  <c:v>39759</c:v>
                </c:pt>
                <c:pt idx="3">
                  <c:v>40581</c:v>
                </c:pt>
                <c:pt idx="4">
                  <c:v>41496</c:v>
                </c:pt>
                <c:pt idx="5">
                  <c:v>42386</c:v>
                </c:pt>
                <c:pt idx="6">
                  <c:v>43259</c:v>
                </c:pt>
                <c:pt idx="7">
                  <c:v>44410</c:v>
                </c:pt>
                <c:pt idx="8">
                  <c:v>45464</c:v>
                </c:pt>
                <c:pt idx="9">
                  <c:v>46212</c:v>
                </c:pt>
                <c:pt idx="10">
                  <c:v>45843</c:v>
                </c:pt>
                <c:pt idx="11">
                  <c:v>47410</c:v>
                </c:pt>
                <c:pt idx="12">
                  <c:v>47985</c:v>
                </c:pt>
                <c:pt idx="13">
                  <c:v>48571</c:v>
                </c:pt>
                <c:pt idx="14">
                  <c:v>49573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0F172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+mj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0"/>
          <c:min val="0"/>
        </c:scaling>
        <c:delete val="0"/>
        <c:axPos val="l"/>
        <c:majorGridlines>
          <c:spPr>
            <a:ln w="9525" cap="flat">
              <a:solidFill>
                <a:srgbClr val="D5DAE1"/>
              </a:solidFill>
              <a:prstDash val="solid"/>
              <a:round/>
            </a:ln>
          </c:spPr>
        </c:majorGridlines>
        <c:numFmt formatCode="[&gt;=1000]# ##0;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+mj-lt"/>
              </a:defRPr>
            </a:pPr>
            <a:endParaRPr lang="en-US"/>
          </a:p>
        </c:txPr>
        <c:crossAx val="2094734554"/>
        <c:crosses val="autoZero"/>
        <c:crossBetween val="between"/>
        <c:majorUnit val="10000"/>
      </c:valAx>
      <c:spPr>
        <a:solidFill>
          <a:srgbClr val="F5F7FA">
            <a:alpha val="0"/>
          </a:srgbClr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5563"/>
              </a:solidFill>
              <a:latin typeface="+mj-lt"/>
              <a:cs typeface="+mj-lt"/>
            </a:defRPr>
          </a:pPr>
          <a:endParaRPr lang="en-US"/>
        </a:p>
      </c:txPr>
    </c:legend>
    <c:plotVisOnly val="1"/>
    <c:dispBlanksAs val="span"/>
  </c:chart>
  <c:spPr>
    <a:solidFill>
      <a:srgbClr val="F5F7FA">
        <a:alpha val="0"/>
      </a:srgbClr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Unumdorlik 2024</c:v>
                </c:pt>
              </c:strCache>
            </c:strRef>
          </c:tx>
          <c:spPr>
            <a:solidFill>
              <a:srgbClr val="0A84C1"/>
            </a:solidFill>
            <a:effectLst/>
          </c:spPr>
          <c:invertIfNegative val="0"/>
          <c:dLbls>
            <c:numFmt formatCode="# ##0&quot; $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F172A"/>
                    </a:solidFill>
                    <a:latin typeface="+mj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84C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84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84C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4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A84C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Koreya</c:v>
                  </c:pt>
                  <c:pt idx="1">
                    <c:v>Turkiya</c:v>
                  </c:pt>
                  <c:pt idx="2">
                    <c:v>Qozog‘iston</c:v>
                  </c:pt>
                  <c:pt idx="3">
                    <c:v>Dunyo</c:v>
                  </c:pt>
                  <c:pt idx="4">
                    <c:v>O‘zbekiston</c:v>
                  </c:pt>
                  <c:pt idx="5">
                    <c:v>Qirg‘iziston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98259</c:v>
                </c:pt>
                <c:pt idx="1">
                  <c:v>93115</c:v>
                </c:pt>
                <c:pt idx="2">
                  <c:v>75824</c:v>
                </c:pt>
                <c:pt idx="3">
                  <c:v>49573</c:v>
                </c:pt>
                <c:pt idx="4">
                  <c:v>28948</c:v>
                </c:pt>
                <c:pt idx="5">
                  <c:v>19213</c:v>
                </c:pt>
              </c:numCache>
            </c:numRef>
          </c:val>
        </c:ser>
        <c:dLbls>
          <c:numFmt formatCode="# ##0&quot; $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F172A"/>
                  </a:solidFill>
                  <a:latin typeface="+mj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0F172A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+mj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00"/>
          <c:min val="0"/>
        </c:scaling>
        <c:delete val="0"/>
        <c:axPos val="b"/>
        <c:majorGridlines>
          <c:spPr>
            <a:ln w="9525" cap="flat">
              <a:solidFill>
                <a:srgbClr val="D5DAE1"/>
              </a:solidFill>
              <a:prstDash val="solid"/>
              <a:round/>
            </a:ln>
          </c:spPr>
        </c:majorGridlines>
        <c:numFmt formatCode="[&gt;=1000]# ##0;0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+mj-lt"/>
              </a:defRPr>
            </a:pPr>
            <a:endParaRPr lang="en-US"/>
          </a:p>
        </c:txPr>
        <c:crossAx val="2094734554"/>
        <c:crosses val="autoZero"/>
        <c:crossBetween val="between"/>
        <c:majorUnit val="30000"/>
      </c:valAx>
      <c:spPr>
        <a:solidFill>
          <a:srgbClr val="F5F7FA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5F7FA">
        <a:alpha val="0"/>
      </a:srgbClr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1"/>
          <c:y val="0.03"/>
          <c:w val="0.86"/>
          <c:h val="0.8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Mamlakatlar</c:v>
                </c:pt>
              </c:strCache>
            </c:strRef>
          </c:tx>
          <c:spPr>
            <a:solidFill>
              <a:srgbClr val="0A84C1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0A84C1"/>
              </a:solidFill>
              <a:ln w="9525" cap="flat">
                <a:solidFill>
                  <a:srgbClr val="0A84C1"/>
                </a:solidFill>
                <a:prstDash val="solid"/>
                <a:round/>
              </a:ln>
              <a:effectLst/>
            </c:spPr>
          </c:marker>
          <c:xVal>
            <c:numRef>
              <c:f>Sheet1!$A$2:$A$49</c:f>
              <c:numCache>
                <c:formatCode>General</c:formatCode>
                <c:ptCount val="48"/>
                <c:pt idx="0">
                  <c:v>80</c:v>
                </c:pt>
                <c:pt idx="1">
                  <c:v>89</c:v>
                </c:pt>
                <c:pt idx="2">
                  <c:v>44.5</c:v>
                </c:pt>
                <c:pt idx="3">
                  <c:v>84.15</c:v>
                </c:pt>
                <c:pt idx="4">
                  <c:v>90.6</c:v>
                </c:pt>
                <c:pt idx="5">
                  <c:v>92.48</c:v>
                </c:pt>
                <c:pt idx="6">
                  <c:v>74.01</c:v>
                </c:pt>
                <c:pt idx="7">
                  <c:v>93.18</c:v>
                </c:pt>
                <c:pt idx="8">
                  <c:v>20.34</c:v>
                </c:pt>
                <c:pt idx="9">
                  <c:v>86.84</c:v>
                </c:pt>
                <c:pt idx="10">
                  <c:v>95.45</c:v>
                </c:pt>
                <c:pt idx="11">
                  <c:v>81.88</c:v>
                </c:pt>
                <c:pt idx="12">
                  <c:v>69.21</c:v>
                </c:pt>
                <c:pt idx="13">
                  <c:v>60.25</c:v>
                </c:pt>
                <c:pt idx="14">
                  <c:v>83.71</c:v>
                </c:pt>
                <c:pt idx="15">
                  <c:v>85.01</c:v>
                </c:pt>
                <c:pt idx="16">
                  <c:v>92.88</c:v>
                </c:pt>
                <c:pt idx="17">
                  <c:v>32.07</c:v>
                </c:pt>
                <c:pt idx="18">
                  <c:v>91.04</c:v>
                </c:pt>
                <c:pt idx="19">
                  <c:v>97.42</c:v>
                </c:pt>
                <c:pt idx="20">
                  <c:v>91</c:v>
                </c:pt>
                <c:pt idx="21">
                  <c:v>81.18</c:v>
                </c:pt>
                <c:pt idx="22">
                  <c:v>83.74</c:v>
                </c:pt>
                <c:pt idx="23">
                  <c:v>97.69</c:v>
                </c:pt>
                <c:pt idx="24">
                  <c:v>40.06</c:v>
                </c:pt>
                <c:pt idx="25">
                  <c:v>45.81</c:v>
                </c:pt>
                <c:pt idx="26">
                  <c:v>77.87</c:v>
                </c:pt>
                <c:pt idx="27">
                  <c:v>86.41</c:v>
                </c:pt>
                <c:pt idx="28">
                  <c:v>92.24</c:v>
                </c:pt>
                <c:pt idx="29">
                  <c:v>100</c:v>
                </c:pt>
                <c:pt idx="30">
                  <c:v>94.29</c:v>
                </c:pt>
                <c:pt idx="31">
                  <c:v>89.54</c:v>
                </c:pt>
                <c:pt idx="32">
                  <c:v>54.42</c:v>
                </c:pt>
                <c:pt idx="33">
                  <c:v>85.96</c:v>
                </c:pt>
                <c:pt idx="34">
                  <c:v>28.43</c:v>
                </c:pt>
                <c:pt idx="35">
                  <c:v>93.53</c:v>
                </c:pt>
                <c:pt idx="36">
                  <c:v>78.08</c:v>
                </c:pt>
                <c:pt idx="37">
                  <c:v>78.34</c:v>
                </c:pt>
                <c:pt idx="38">
                  <c:v>20</c:v>
                </c:pt>
                <c:pt idx="39">
                  <c:v>30</c:v>
                </c:pt>
                <c:pt idx="40">
                  <c:v>40</c:v>
                </c:pt>
                <c:pt idx="41">
                  <c:v>50</c:v>
                </c:pt>
                <c:pt idx="42">
                  <c:v>60</c:v>
                </c:pt>
                <c:pt idx="43">
                  <c:v>70</c:v>
                </c:pt>
                <c:pt idx="44">
                  <c:v>80</c:v>
                </c:pt>
                <c:pt idx="45">
                  <c:v>90</c:v>
                </c:pt>
                <c:pt idx="46">
                  <c:v>100</c:v>
                </c:pt>
                <c:pt idx="47">
                  <c:v>89.01</c:v>
                </c:pt>
              </c:numCache>
            </c:numRef>
          </c:xVal>
          <c:yVal>
            <c:numRef>
              <c:f>Sheet1!$B$2:$B$49</c:f>
              <c:numCache>
                <c:formatCode>General</c:formatCode>
                <c:ptCount val="48"/>
                <c:pt idx="0">
                  <c:v>45896</c:v>
                </c:pt>
                <c:pt idx="1">
                  <c:v>45198</c:v>
                </c:pt>
                <c:pt idx="2">
                  <c:v>19552</c:v>
                </c:pt>
                <c:pt idx="3">
                  <c:v>41148</c:v>
                </c:pt>
                <c:pt idx="4">
                  <c:v>43342</c:v>
                </c:pt>
                <c:pt idx="5">
                  <c:v>123949</c:v>
                </c:pt>
                <c:pt idx="6">
                  <c:v>59310</c:v>
                </c:pt>
                <c:pt idx="7">
                  <c:v>79990</c:v>
                </c:pt>
                <c:pt idx="8">
                  <c:v>6876</c:v>
                </c:pt>
                <c:pt idx="9">
                  <c:v>125877</c:v>
                </c:pt>
                <c:pt idx="10">
                  <c:v>109038</c:v>
                </c:pt>
                <c:pt idx="11">
                  <c:v>50507</c:v>
                </c:pt>
                <c:pt idx="12">
                  <c:v>28184</c:v>
                </c:pt>
                <c:pt idx="13">
                  <c:v>22582</c:v>
                </c:pt>
                <c:pt idx="14">
                  <c:v>57915</c:v>
                </c:pt>
                <c:pt idx="15">
                  <c:v>87546</c:v>
                </c:pt>
                <c:pt idx="16">
                  <c:v>73513</c:v>
                </c:pt>
                <c:pt idx="17">
                  <c:v>14259</c:v>
                </c:pt>
                <c:pt idx="18">
                  <c:v>17780</c:v>
                </c:pt>
                <c:pt idx="19">
                  <c:v>97027</c:v>
                </c:pt>
                <c:pt idx="20">
                  <c:v>30377</c:v>
                </c:pt>
                <c:pt idx="21">
                  <c:v>48507</c:v>
                </c:pt>
                <c:pt idx="22">
                  <c:v>41750</c:v>
                </c:pt>
                <c:pt idx="23">
                  <c:v>66454</c:v>
                </c:pt>
                <c:pt idx="24">
                  <c:v>16752</c:v>
                </c:pt>
                <c:pt idx="25">
                  <c:v>19335</c:v>
                </c:pt>
                <c:pt idx="26">
                  <c:v>23082</c:v>
                </c:pt>
                <c:pt idx="27">
                  <c:v>89295</c:v>
                </c:pt>
                <c:pt idx="28">
                  <c:v>81664</c:v>
                </c:pt>
                <c:pt idx="29">
                  <c:v>135453</c:v>
                </c:pt>
                <c:pt idx="30">
                  <c:v>220446</c:v>
                </c:pt>
                <c:pt idx="31">
                  <c:v>37169</c:v>
                </c:pt>
                <c:pt idx="32">
                  <c:v>19890</c:v>
                </c:pt>
                <c:pt idx="33">
                  <c:v>92880</c:v>
                </c:pt>
                <c:pt idx="34">
                  <c:v>7431</c:v>
                </c:pt>
                <c:pt idx="35">
                  <c:v>150828</c:v>
                </c:pt>
                <c:pt idx="36">
                  <c:v>24493</c:v>
                </c:pt>
                <c:pt idx="37">
                  <c:v>49596</c:v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— Model chizig‘i</c:v>
                </c:pt>
              </c:strCache>
            </c:strRef>
          </c:tx>
          <c:spPr>
            <a:ln w="31750" cap="rnd">
              <a:solidFill>
                <a:srgbClr val="0F172A"/>
              </a:solidFill>
              <a:round/>
            </a:ln>
          </c:spPr>
          <c:marker>
            <c:symbol val="none"/>
          </c:marker>
          <c:xVal>
            <c:numRef>
              <c:f>Sheet1!$A$2:$A$49</c:f>
              <c:numCache>
                <c:formatCode>General</c:formatCode>
                <c:ptCount val="48"/>
                <c:pt idx="0">
                  <c:v>80</c:v>
                </c:pt>
                <c:pt idx="1">
                  <c:v>89</c:v>
                </c:pt>
                <c:pt idx="2">
                  <c:v>44.5</c:v>
                </c:pt>
                <c:pt idx="3">
                  <c:v>84.15</c:v>
                </c:pt>
                <c:pt idx="4">
                  <c:v>90.6</c:v>
                </c:pt>
                <c:pt idx="5">
                  <c:v>92.48</c:v>
                </c:pt>
                <c:pt idx="6">
                  <c:v>74.01</c:v>
                </c:pt>
                <c:pt idx="7">
                  <c:v>93.18</c:v>
                </c:pt>
                <c:pt idx="8">
                  <c:v>20.34</c:v>
                </c:pt>
                <c:pt idx="9">
                  <c:v>86.84</c:v>
                </c:pt>
                <c:pt idx="10">
                  <c:v>95.45</c:v>
                </c:pt>
                <c:pt idx="11">
                  <c:v>81.88</c:v>
                </c:pt>
                <c:pt idx="12">
                  <c:v>69.21</c:v>
                </c:pt>
                <c:pt idx="13">
                  <c:v>60.25</c:v>
                </c:pt>
                <c:pt idx="14">
                  <c:v>83.71</c:v>
                </c:pt>
                <c:pt idx="15">
                  <c:v>85.01</c:v>
                </c:pt>
                <c:pt idx="16">
                  <c:v>92.88</c:v>
                </c:pt>
                <c:pt idx="17">
                  <c:v>32.07</c:v>
                </c:pt>
                <c:pt idx="18">
                  <c:v>91.04</c:v>
                </c:pt>
                <c:pt idx="19">
                  <c:v>97.42</c:v>
                </c:pt>
                <c:pt idx="20">
                  <c:v>91</c:v>
                </c:pt>
                <c:pt idx="21">
                  <c:v>81.18</c:v>
                </c:pt>
                <c:pt idx="22">
                  <c:v>83.74</c:v>
                </c:pt>
                <c:pt idx="23">
                  <c:v>97.69</c:v>
                </c:pt>
                <c:pt idx="24">
                  <c:v>40.06</c:v>
                </c:pt>
                <c:pt idx="25">
                  <c:v>45.81</c:v>
                </c:pt>
                <c:pt idx="26">
                  <c:v>77.87</c:v>
                </c:pt>
                <c:pt idx="27">
                  <c:v>86.41</c:v>
                </c:pt>
                <c:pt idx="28">
                  <c:v>92.24</c:v>
                </c:pt>
                <c:pt idx="29">
                  <c:v>100</c:v>
                </c:pt>
                <c:pt idx="30">
                  <c:v>94.29</c:v>
                </c:pt>
                <c:pt idx="31">
                  <c:v>89.54</c:v>
                </c:pt>
                <c:pt idx="32">
                  <c:v>54.42</c:v>
                </c:pt>
                <c:pt idx="33">
                  <c:v>85.96</c:v>
                </c:pt>
                <c:pt idx="34">
                  <c:v>28.43</c:v>
                </c:pt>
                <c:pt idx="35">
                  <c:v>93.53</c:v>
                </c:pt>
                <c:pt idx="36">
                  <c:v>78.08</c:v>
                </c:pt>
                <c:pt idx="37">
                  <c:v>78.34</c:v>
                </c:pt>
                <c:pt idx="38">
                  <c:v>20</c:v>
                </c:pt>
                <c:pt idx="39">
                  <c:v>30</c:v>
                </c:pt>
                <c:pt idx="40">
                  <c:v>40</c:v>
                </c:pt>
                <c:pt idx="41">
                  <c:v>50</c:v>
                </c:pt>
                <c:pt idx="42">
                  <c:v>60</c:v>
                </c:pt>
                <c:pt idx="43">
                  <c:v>70</c:v>
                </c:pt>
                <c:pt idx="44">
                  <c:v>80</c:v>
                </c:pt>
                <c:pt idx="45">
                  <c:v>90</c:v>
                </c:pt>
                <c:pt idx="46">
                  <c:v>100</c:v>
                </c:pt>
                <c:pt idx="47">
                  <c:v>89.01</c:v>
                </c:pt>
              </c:numCache>
            </c:numRef>
          </c:xVal>
          <c:yVal>
            <c:numRef>
              <c:f>Sheet1!$C$2:$C$49</c:f>
              <c:numCache>
                <c:formatCode>General</c:formatCode>
                <c:ptCount val="4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>7214.019035273057</c:v>
                </c:pt>
                <c:pt idx="39">
                  <c:v>9888.672104913569</c:v>
                </c:pt>
                <c:pt idx="40">
                  <c:v>13554.97338174055</c:v>
                </c:pt>
                <c:pt idx="41">
                  <c:v>18580.5840693613</c:v>
                </c:pt>
                <c:pt idx="42">
                  <c:v>25469.478591795843</c:v>
                </c:pt>
                <c:pt idx="43">
                  <c:v>34912.483768883176</c:v>
                </c:pt>
                <c:pt idx="44">
                  <c:v>47856.555779872</c:v>
                </c:pt>
                <c:pt idx="45">
                  <c:v>65599.74209435226</c:v>
                </c:pt>
                <c:pt idx="46">
                  <c:v>89921.35126981864</c:v>
                </c:pt>
                <c:pt idx="47">
                  <c:v/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O‘zbekiston</c:v>
                </c:pt>
              </c:strCache>
            </c:strRef>
          </c:tx>
          <c:spPr>
            <a:solidFill>
              <a:srgbClr val="E8590C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E8590C"/>
              </a:solidFill>
              <a:ln w="9525" cap="flat">
                <a:solidFill>
                  <a:srgbClr val="E8590C"/>
                </a:solidFill>
                <a:prstDash val="solid"/>
                <a:round/>
              </a:ln>
              <a:effectLst/>
            </c:spPr>
          </c:marker>
          <c:xVal>
            <c:numRef>
              <c:f>Sheet1!$A$2:$A$49</c:f>
              <c:numCache>
                <c:formatCode>General</c:formatCode>
                <c:ptCount val="48"/>
                <c:pt idx="0">
                  <c:v>80</c:v>
                </c:pt>
                <c:pt idx="1">
                  <c:v>89</c:v>
                </c:pt>
                <c:pt idx="2">
                  <c:v>44.5</c:v>
                </c:pt>
                <c:pt idx="3">
                  <c:v>84.15</c:v>
                </c:pt>
                <c:pt idx="4">
                  <c:v>90.6</c:v>
                </c:pt>
                <c:pt idx="5">
                  <c:v>92.48</c:v>
                </c:pt>
                <c:pt idx="6">
                  <c:v>74.01</c:v>
                </c:pt>
                <c:pt idx="7">
                  <c:v>93.18</c:v>
                </c:pt>
                <c:pt idx="8">
                  <c:v>20.34</c:v>
                </c:pt>
                <c:pt idx="9">
                  <c:v>86.84</c:v>
                </c:pt>
                <c:pt idx="10">
                  <c:v>95.45</c:v>
                </c:pt>
                <c:pt idx="11">
                  <c:v>81.88</c:v>
                </c:pt>
                <c:pt idx="12">
                  <c:v>69.21</c:v>
                </c:pt>
                <c:pt idx="13">
                  <c:v>60.25</c:v>
                </c:pt>
                <c:pt idx="14">
                  <c:v>83.71</c:v>
                </c:pt>
                <c:pt idx="15">
                  <c:v>85.01</c:v>
                </c:pt>
                <c:pt idx="16">
                  <c:v>92.88</c:v>
                </c:pt>
                <c:pt idx="17">
                  <c:v>32.07</c:v>
                </c:pt>
                <c:pt idx="18">
                  <c:v>91.04</c:v>
                </c:pt>
                <c:pt idx="19">
                  <c:v>97.42</c:v>
                </c:pt>
                <c:pt idx="20">
                  <c:v>91</c:v>
                </c:pt>
                <c:pt idx="21">
                  <c:v>81.18</c:v>
                </c:pt>
                <c:pt idx="22">
                  <c:v>83.74</c:v>
                </c:pt>
                <c:pt idx="23">
                  <c:v>97.69</c:v>
                </c:pt>
                <c:pt idx="24">
                  <c:v>40.06</c:v>
                </c:pt>
                <c:pt idx="25">
                  <c:v>45.81</c:v>
                </c:pt>
                <c:pt idx="26">
                  <c:v>77.87</c:v>
                </c:pt>
                <c:pt idx="27">
                  <c:v>86.41</c:v>
                </c:pt>
                <c:pt idx="28">
                  <c:v>92.24</c:v>
                </c:pt>
                <c:pt idx="29">
                  <c:v>100</c:v>
                </c:pt>
                <c:pt idx="30">
                  <c:v>94.29</c:v>
                </c:pt>
                <c:pt idx="31">
                  <c:v>89.54</c:v>
                </c:pt>
                <c:pt idx="32">
                  <c:v>54.42</c:v>
                </c:pt>
                <c:pt idx="33">
                  <c:v>85.96</c:v>
                </c:pt>
                <c:pt idx="34">
                  <c:v>28.43</c:v>
                </c:pt>
                <c:pt idx="35">
                  <c:v>93.53</c:v>
                </c:pt>
                <c:pt idx="36">
                  <c:v>78.08</c:v>
                </c:pt>
                <c:pt idx="37">
                  <c:v>78.34</c:v>
                </c:pt>
                <c:pt idx="38">
                  <c:v>20</c:v>
                </c:pt>
                <c:pt idx="39">
                  <c:v>30</c:v>
                </c:pt>
                <c:pt idx="40">
                  <c:v>40</c:v>
                </c:pt>
                <c:pt idx="41">
                  <c:v>50</c:v>
                </c:pt>
                <c:pt idx="42">
                  <c:v>60</c:v>
                </c:pt>
                <c:pt idx="43">
                  <c:v>70</c:v>
                </c:pt>
                <c:pt idx="44">
                  <c:v>80</c:v>
                </c:pt>
                <c:pt idx="45">
                  <c:v>90</c:v>
                </c:pt>
                <c:pt idx="46">
                  <c:v>100</c:v>
                </c:pt>
                <c:pt idx="47">
                  <c:v>89.01</c:v>
                </c:pt>
              </c:numCache>
            </c:numRef>
          </c:xVal>
          <c:yVal>
            <c:numRef>
              <c:f>Sheet1!$D$2:$D$49</c:f>
              <c:numCache>
                <c:formatCode>General</c:formatCode>
                <c:ptCount val="4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>27562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00"/>
          <c:min val="10"/>
        </c:scaling>
        <c:delete val="0"/>
        <c:axPos val="b"/>
        <c:numFmt formatCode="# ##0" sourceLinked="1"/>
        <c:majorTickMark val="none"/>
        <c:minorTickMark val="none"/>
        <c:tickLblPos val="nextTo"/>
        <c:spPr>
          <a:ln w="12700" cap="flat">
            <a:solidFill>
              <a:srgbClr val="0F172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+mj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10"/>
      </c:valAx>
      <c:valAx>
        <c:axId val="2094734552"/>
        <c:scaling>
          <c:logBase val="10"/>
          <c:orientation val="minMax"/>
          <c:max val="250000"/>
          <c:min val="5000"/>
        </c:scaling>
        <c:delete val="0"/>
        <c:axPos val="l"/>
        <c:majorGridlines>
          <c:spPr>
            <a:ln w="9525" cap="flat">
              <a:solidFill>
                <a:srgbClr val="D5DAE1"/>
              </a:solidFill>
              <a:prstDash val="solid"/>
              <a:round/>
            </a:ln>
          </c:spPr>
        </c:majorGridlines>
        <c:numFmt formatCode="# ##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+mj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F5F7FA">
            <a:alpha val="0"/>
          </a:srgbClr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5F7FA">
        <a:alpha val="0"/>
      </a:srgbClr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Unumdorlik</c:v>
                </c:pt>
              </c:strCache>
            </c:strRef>
          </c:tx>
          <c:spPr>
            <a:solidFill>
              <a:srgbClr val="7DD3FC"/>
            </a:solidFill>
            <a:effectLst/>
          </c:spPr>
          <c:invertIfNegative val="0"/>
          <c:dLbls>
            <c:numFmt formatCode="# ##0&quot; $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F172A"/>
                    </a:solidFill>
                    <a:latin typeface="+mj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DD3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Model kutgan</c:v>
                  </c:pt>
                  <c:pt idx="1">
                    <c:v>Haqiqiy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63583</c:v>
                </c:pt>
                <c:pt idx="1">
                  <c:v>27562</c:v>
                </c:pt>
              </c:numCache>
            </c:numRef>
          </c:val>
        </c:ser>
        <c:dLbls>
          <c:numFmt formatCode="# ##0&quot; $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0F172A"/>
                  </a:solidFill>
                  <a:latin typeface="+mj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0F172A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+mj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000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+mj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7FA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5F7FA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Kirish (≈1 daqiqa)
Assalomu alaykum! Mening mavzuim — raqamli infratuzilmaning mehnat unumdorligiga ta’sir mexanizmi.
[▶ bosing] Ikki raqamdan boshlayman. 2010-yilda O‘zbekistonda aholining atigi 15,9 foizi internetdan foydalangan, 2024-yilda esa 89,5 foizi.
[▶ bosing] Xuddi shu davrda bitta band xodim yaratadigan YaIM — ya’ni mehnat unumdorligi — 86 foizga oshgan.
[▶ bosing] Savol oddiy: bu ikki o‘sish bir-biriga bog‘liqmi? Agar bog‘liq bo‘lsa, internet unumdorlikni qaysi yo‘llar bilan oshiradi? Javobni nazariya, formula, statistika va grafiklar orqali izlaymiz.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Tadqiqot savoli (≈1 daqiqa)
Avval ikki tushunchani aniqlab olaylik.
[▶ bosing] Raqamli infratuzilma — bu ma’lumot uzatadigan va saqlaydigan «yo‘llar»: optik tola, mobil tarmoqlar, ma’lumot markazlari, davlat va to‘lov platformalari. Mehnat unumdorligi — bitta band xodimga to‘g‘ri keladigan YaIM. Barcha raqamlar Jahon bankining rasmiy bazasidan olingan.
[▶ bosing] Tahlilni topshiriq talab qilgan besh qadamda qilaman: formula, statistik tahlil, grafik tahlil, o‘zimning tahlilim va xulosam.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Nazariya (≈1,5 daqiqa)
Iqtisodchilar bu savolni 40 yildan beri o‘rganadi.
[▶ bosing] 1987-yilda Nobel mukofoti sohibi Robert Solow mashhur gap aytgan: kompyuter hamma joyda, faqat unumdorlik statistikasida yo‘q. Ya’ni texnologiya kelgan zahoti natija ko‘rinmaydi.
[▶ bosing] Keyingi tadqiqotlar ta’sirni topdi. Czernich va hammualliflari OECD mamlakatlarida keng polosali internet qamrovi 10 foiz punkt oshganda yillik o‘sish 0,9–1,5 foiz punkt tezlashganini ko‘rsatgan.
[▶ bosing] Xalqaro elektraloqa ittifoqi — ITU hisobiga ko‘ra, mobil keng polosali internet 1 foiz oshsa, YaIM 0,15 foiz oshadi. Lekin Osiyo-Tinch okeani mintaqasida ta’sir kichikroq.
[▶ bosing] Eng muhim topilma — Akerman va hammualliflari: internet malakali xodimga foyda beradi, malakasizga esa yo‘q.
[▶ bosing] Demak, infratuzilma zarur, lekin yetarli 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Mexanizm (≈1,5 daqiqa)
Endi asosiy savol — qanday qilib? Chapda sabab, o‘ngda natija.
[▶ bosing] Birinchi kanal — xarajatlar. Internet bilan ma’lumot qidirish, mijoz bilan bog‘lanish, to‘lov qilish arzon va tez bo‘ladi.
[▶ bosing] Ikkinchisi — raqamli kapital: har bir xodimning qo‘lida kompyuter, dastur, bulutli xizmat ko‘payadi.
[▶ bosing] Uchinchisi — ko‘nikma: internetdan foyda olish uchun xodim uni ishlata bilishi kerak.
[▶ bosing] To‘rtinchisi — mehnat bozori: Hjort va Poulsen Afrikada tez internet kelgan hududlarda bandlik 4,2–10 foizga oshganini topgan.
[▶ bosing] Beshinchisi — innovatsiya: yangi biznes modellar va bilim tez tarqaladi.
[▶ bosing] Har bir kanal formulaning bitta hadiga ta’sir qiladi — buni keyingi slaydda ko‘ramiz.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 (≈1,5 daqiqa)
Mexanizmni formula bilan yozamiz.
[▶ bosing] Birinchi qator — Cobb–Douglas ishlab chiqarish funksiyasi, unga alohida omil sifatida raqamli kapital D qo‘shilgan.
[▶ bosing] Ikkala tomonni xodimlar soni L ga bo‘lsak, bitta xodimga to‘g‘ri keladigan formula chiqadi: unumdorlik y texnologiya A, oddiy kapital k va raqamli kapital d ga bog‘liq.
[▶ bosing] Logarifm olib, vaqt bo‘yicha differensiallasak, o‘sish sur’atlari chiqadi: unumdorlik o‘sishi = TFP o‘sishi + alfa karra kapital o‘sishi + gamma karra raqamli kapital o‘sishi. Gamma — elastiklik: raqamli kapital 1 foiz oshsa, unumdorlik gamma foiz oshadi.
[▶ bosing] O‘ngda har bir had qaysi kanalga mos kelishi yozilgan. Bu Jorgenson va Stiroh AQSh uchun qo‘llagan o‘sish hisobi usuli.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Ekonometrik model (≈1 daqiqa)
Formulani ma’lumotga qo‘llash uchun ikkita regressiya tuzdim.
[▶ bosing] Birinchisi — vaqt qatori: O‘zbekistonning 15 yillik ma’lumoti. Ikkala tomonda logarifm bo‘lgani uchun beta-bir elastiklik bo‘ladi.
[▶ bosing] Ikkinchisi — kesim: 2023-yilda 39 mamlakat. Bu yerda beta-bir internet 10 foiz punkt farq qilganda unumdorlik qancha farq qilishini ko‘rsatadi.
[▶ bosing] Koeffitsiyentlar eng kichik kvadratlar usuli bilan hisoblanadi.
[▶ bosing] Muhim ogohlantirish: regressiya bog‘liqlikni o‘lchaydi, sababni emas. Boy mamlakatlar internetga ko‘proq sarflaydi. Czernich va hammualliflari bu muammoni instrumental o‘zgaruvchi bilan hal qilgan.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Statistik tahlil (≈1,5 daqiqa)
Endi O‘zbekiston raqamlari.
[▶ bosing] Internetdan foydalanuvchilar 15,9 foizdan 89,5 foizga chiqdi. Uydagi keng polosali internet obunalari 100 kishiga 0,42 tadan 34,74 taga — 83 barobar oshdi. Unumdorlik 15 561 dollardan 28 948 dollarga, ya’ni 86 foizga oshdi — yiliga o‘rtacha 4,53 foiz.
[▶ bosing] Jadvalda har ikki yillik qadam. E’tibor bering: internet ba’zi yillarda sakrab o‘sgan, unumdorlik esa har ikki yilda deyarli bir xil — 7–10 foiz atrofida o‘sgan.
[▶ bosing] Statistik xulosa: ulanish tez bo‘ldi, keng polosali obunalar soni bo‘yicha biz dunyo o‘rtachasidan ham o‘tdik. Lekin foyda sekin yig‘iladi.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 tahlil (≈1,5 daqiqa)
Grafikda bu yaqqol ko‘rinadi.
[▶ bosing] Chapda — infratuzilma. Ko‘k chiziq internetdan foydalanuvchilar, och ustunlar keng polosali obunalar, kulrang uzuq chiziq — dunyo o‘rtachasi. 2018–2019-yillarda bir yilda 15,2 foiz punkt sakrash bor, O‘zbekiston dunyo o‘rtachasini 2015-yildan beri ortda qoldirgan.
[▶ bosing] O‘ngda — unumdorlik. To‘q sariq ustunlar bir tekis o‘sadi, sakrash yo‘q. Kulrang chiziq — dunyo o‘rtachasi. Biz hali uning 58 foizidamiz.
[▶ bosing] Ya’ni infratuzilma «tez yo‘l» bilan keldi, unumdorlik esa «sekin yo‘l» bilan ergashmoqda — bu nazariyadagi kechikishga 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Taqqoslash (≈1,5 daqiqa)
Endi O‘zbekistonni qo‘shnilar va dunyo bilan solishtiramiz.
[▶ bosing] Grafikda 2024-yildagi unumdorlik. Koreyada bitta xodim 98 259 dollar, Turkiyada 93 115, Qozog‘istonda 75 824, bizda 28 948 dollar yaratadi.
[▶ bosing] Jadvalga qarang: internet qamrovi deyarli bir xil — 87 dan 98 foizgacha. Unumdorlik farqi esa uch barobardan ko‘p. Demak, internetga ulanishning o‘zi farqni tushuntirmaydi.
[▶ bosing] Ijobiy tomoni: O‘zbekiston bu guruhdagi eng tez o‘sayotgan mamlakat — yiliga 4,53 foiz.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39 mamlakat (≈1,5 daqiqa)
Bu taqdimotdagi eng muhim grafik.
[▶ bosing] Har bir nuqta — bitta mamlakat, 2023-yil. Gorizontalda internetdan foydalanuvchilar ulushi, vertikalda unumdorlik, logarifmik shkalada. Ko‘k chiziq — men hisoblagan regressiya modeli.
[▶ bosing] Model bo‘yicha internet 10 foiz punkt yuqori bo‘lgan mamlakatda unumdorlik o‘rtacha 37 foiz yuqori. R-kvadrat 0,65: farqlarning uchdan ikki qismini shu bitta ko‘rsatkich tushuntiradi.
[▶ bosing] Endi to‘q sariq nuqta — O‘zbekiston. U chiziqdan ancha pastda. Bizdagi internet darajasi bilan model 63 583 dollar kutadi, haqiqatda 27 562 dollar.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Talaba tahlili 1 (≈1,5 daqiqa)
Endi o‘zimning natijalarim.
[▶ bosing] Jadvalda uchta model. O‘zbekiston vaqt qatorida elastiklik 0,34: internetdan foydalanuvchilar 1 foiz ko‘paysa, unumdorlik 0,34 foiz yuqori. Keng polosali internet bo‘yicha — 0,13. 39 mamlakat modelida +10 foiz punkt internet unumdorlikning taxminan 37 foiz yuqoriligiga mos keladi.
[▶ bosing] Lekin halol bo‘lishim kerak: O‘zbekiston ma’lumotida ikkala ko‘rsatkich ham har yili o‘sadi, shuning uchun korrelyatsiya 0,99 — bu sabab-oqibatni isbotlamaydi.
[▶ bosing] Eng qiziq natija — o‘ngda. Bizdagi internet darajasi bilan xalqaro model 63 583 dollar unumdorlik kutadi, haqiqatda 27 562 dollar.
[▶ bosing] Ya’ni biz kutilgan darajadan 57 foiz pastdamiz. Raqamli dividendning yarmidan kamini olayapmiz.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Talaba tahlili 2 (≈1,5 daqiqa)
Nega biz chiziqdan pastdamiz?
[▶ bosing] Avval faktlar. Keng polosali obunalar bo‘yicha biz dunyo o‘rtachasidan yuqorimiz — 100 kishiga 34,7 va 19,3. Unumdorlik esa dunyo o‘rtachasining 58 foizi. IT Park rezidentlari eksporti bir yilda 140 milliondan 344 million dollarga oshdi. Demak, muammo ulanishda emas.
[▶ bosing] Mening birinchi farazim — J-egri chiziq. Ulanishning katta qismi so‘nggi olti yilda bo‘ldi, foyda esa kechikib keladi.
[▶ bosing] Ikkinchisi — ko‘nikma. Internetdan ishda foydalanishni bilmasak, u faqat iste’mol vositasi bo‘lib qoladi.
[▶ bosing] Uchinchisi — raqamli sektor va firmalarning raqamlashuvi hali boshlang‘ich bosqichda.
[▶ bosing] Xulosa: endi «nechta odam ulangan» emas, «ulanish qancha qiymat yaratmoqda» degan savol muhim.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Talaba xulosasi (≈1,5 daqiqa)
Xulosa qilaman.
[▶ bosing] Birinchidan, raqamli infratuzilma unumdorlikka bevosita emas, besh kanal orqali ta’sir qiladi.
[▶ bosing] Ikkinchidan, formula bo‘yicha raqamli kapital alohida o‘sish manbai. Mening hisobimda O‘zbekiston uchun elastiklik 0,34, mamlakatlar o‘rtasida esa +10 foiz punkt internet taxminan 37 foiz yuqori unumdorlikka mos keladi.
[▶ bosing] Uchinchidan, O‘zbekiston ulanish bo‘yicha katta yutuqqa erishdi.
[▶ bosing] To‘rtinchidan, unumdorlik hali model kutganidan 57 foiz past.
[▶ bosing] Asosiy fikr: infratuzilma qurildi, endi undan foydalanish samarasini oshirish kerak.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Takliflar (≈1 daqiqa)
Tahlildan kelib chiqib, uchta taklif beraman.
[▶ bosing] Birinchisi — ish joyida raqamli ko‘nikma. Akerman tadqiqoti ko‘rsatganidek, internet malakali xodimga foyda beradi.
[▶ bosing] Ikkinchisi — kichik biznesni raqamlashtirish: bulutli dasturlar va onlayn savdo uchun imtiyozlar. Shunda raqamli kapital firmalarga yetib boradi.
[▶ bosing] Uchinchisi — o‘lchash. Hozir statistika qancha odam ulanganini o‘lchaydi, lekin internetdan ishda qanday foydalanilayotganini o‘lchamaydi. Buni «Raqamli O‘zbekiston — 2030» strategiyasi monitoringiga qo‘shish kerak.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Manbalar
Bu slayd gapirilmaydi. Savol bo‘lsa, kerakli manbaga ko‘rsatiladi. Barcha statistik raqamlar [1] dan, regressiyalar — talaba hisobi (raqamli/data/data.json, raqamli/build.js).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QOVA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ZMUN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749808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28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la"/>
          <p:cNvSpPr/>
          <p:nvPr/>
        </p:nvSpPr>
        <p:spPr>
          <a:xfrm>
            <a:off x="6949440" y="914400"/>
            <a:ext cx="4754880" cy="0"/>
          </a:xfrm>
          <a:prstGeom prst="line">
            <a:avLst/>
          </a:prstGeom>
          <a:noFill/>
          <a:ln w="1905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3" name="tugun"/>
          <p:cNvSpPr/>
          <p:nvPr/>
        </p:nvSpPr>
        <p:spPr>
          <a:xfrm>
            <a:off x="6894576" y="859536"/>
            <a:ext cx="109728" cy="109728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4" name="tola"/>
          <p:cNvSpPr/>
          <p:nvPr/>
        </p:nvSpPr>
        <p:spPr>
          <a:xfrm>
            <a:off x="7680960" y="1554480"/>
            <a:ext cx="4023360" cy="0"/>
          </a:xfrm>
          <a:prstGeom prst="line">
            <a:avLst/>
          </a:prstGeom>
          <a:noFill/>
          <a:ln w="19050">
            <a:solidFill>
              <a:srgbClr val="0A84C1">
                <a:alpha val="65000"/>
              </a:srgbClr>
            </a:solidFill>
            <a:prstDash val="solid"/>
          </a:ln>
        </p:spPr>
      </p:sp>
      <p:sp>
        <p:nvSpPr>
          <p:cNvPr id="5" name="tugun"/>
          <p:cNvSpPr/>
          <p:nvPr/>
        </p:nvSpPr>
        <p:spPr>
          <a:xfrm>
            <a:off x="7626096" y="1499616"/>
            <a:ext cx="109728" cy="109728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6" name="tola"/>
          <p:cNvSpPr/>
          <p:nvPr/>
        </p:nvSpPr>
        <p:spPr>
          <a:xfrm>
            <a:off x="6400800" y="2194560"/>
            <a:ext cx="5303520" cy="0"/>
          </a:xfrm>
          <a:prstGeom prst="line">
            <a:avLst/>
          </a:prstGeom>
          <a:noFill/>
          <a:ln w="1905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7" name="tugun"/>
          <p:cNvSpPr/>
          <p:nvPr/>
        </p:nvSpPr>
        <p:spPr>
          <a:xfrm>
            <a:off x="6345936" y="2139696"/>
            <a:ext cx="109728" cy="109728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8" name="tola"/>
          <p:cNvSpPr/>
          <p:nvPr/>
        </p:nvSpPr>
        <p:spPr>
          <a:xfrm>
            <a:off x="8412480" y="2834640"/>
            <a:ext cx="3291840" cy="0"/>
          </a:xfrm>
          <a:prstGeom prst="line">
            <a:avLst/>
          </a:prstGeom>
          <a:noFill/>
          <a:ln w="19050">
            <a:solidFill>
              <a:srgbClr val="0A84C1">
                <a:alpha val="65000"/>
              </a:srgbClr>
            </a:solidFill>
            <a:prstDash val="solid"/>
          </a:ln>
        </p:spPr>
      </p:sp>
      <p:sp>
        <p:nvSpPr>
          <p:cNvPr id="9" name="tugun"/>
          <p:cNvSpPr/>
          <p:nvPr/>
        </p:nvSpPr>
        <p:spPr>
          <a:xfrm>
            <a:off x="8357616" y="2779776"/>
            <a:ext cx="109728" cy="109728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10" name="mavzu"/>
          <p:cNvSpPr txBox="1"/>
          <p:nvPr/>
        </p:nvSpPr>
        <p:spPr>
          <a:xfrm>
            <a:off x="54864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3F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13-MAVZU  ·  INFRATUZILMA VA IQTISODIY O‘SISH</a:t>
            </a:r>
            <a:endParaRPr lang="en-US" sz="1300" dirty="0"/>
          </a:p>
        </p:txBody>
      </p:sp>
      <p:sp>
        <p:nvSpPr>
          <p:cNvPr id="11" name="sarlavha"/>
          <p:cNvSpPr txBox="1"/>
          <p:nvPr/>
        </p:nvSpPr>
        <p:spPr>
          <a:xfrm>
            <a:off x="548640" y="105156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Raqamli infratuzilma mehnat unumdorligini qanday oshiradi?</a:t>
            </a:r>
            <a:endParaRPr lang="en-US" sz="4000" dirty="0"/>
          </a:p>
        </p:txBody>
      </p:sp>
      <p:sp>
        <p:nvSpPr>
          <p:cNvPr id="12" name="kichik-sarlavha"/>
          <p:cNvSpPr txBox="1"/>
          <p:nvPr/>
        </p:nvSpPr>
        <p:spPr>
          <a:xfrm>
            <a:off x="548640" y="30175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E3"/>
                </a:solidFill>
              </a:rPr>
              <a:t>Ta’sir mexanizmi: nazariya, formula, O‘zbekiston va 39 mamlakat ma’lumotlari asosida tahlil</a:t>
            </a:r>
            <a:endParaRPr lang="en-US" sz="1600" dirty="0"/>
          </a:p>
        </p:txBody>
      </p:sp>
      <p:sp>
        <p:nvSpPr>
          <p:cNvPr id="13" name="katta-raqam"/>
          <p:cNvSpPr txBox="1"/>
          <p:nvPr/>
        </p:nvSpPr>
        <p:spPr>
          <a:xfrm>
            <a:off x="548640" y="4069080"/>
            <a:ext cx="3840480" cy="5675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15,9% → 89,5%</a:t>
            </a:r>
            <a:endParaRPr lang="en-US" sz="3600" dirty="0"/>
          </a:p>
        </p:txBody>
      </p:sp>
      <p:sp>
        <p:nvSpPr>
          <p:cNvPr id="14" name="katta-raqam-izoh"/>
          <p:cNvSpPr txBox="1"/>
          <p:nvPr/>
        </p:nvSpPr>
        <p:spPr>
          <a:xfrm>
            <a:off x="548640" y="467321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5" name="izoh"/>
          <p:cNvSpPr txBox="1"/>
          <p:nvPr/>
        </p:nvSpPr>
        <p:spPr>
          <a:xfrm>
            <a:off x="548640" y="46908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E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O‘zbekistonda internetdan foydalanuvchilar, 2010 → 2024 [1]</a:t>
            </a:r>
            <a:endParaRPr lang="en-US" sz="1200" dirty="0"/>
          </a:p>
        </p:txBody>
      </p:sp>
      <p:sp>
        <p:nvSpPr>
          <p:cNvPr id="16" name="katta-raqam"/>
          <p:cNvSpPr txBox="1"/>
          <p:nvPr/>
        </p:nvSpPr>
        <p:spPr>
          <a:xfrm>
            <a:off x="5120640" y="4069080"/>
            <a:ext cx="3108960" cy="5675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2A90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+86%</a:t>
            </a:r>
            <a:endParaRPr lang="en-US" sz="3600" dirty="0"/>
          </a:p>
        </p:txBody>
      </p:sp>
      <p:sp>
        <p:nvSpPr>
          <p:cNvPr id="17" name="katta-raqam-izoh"/>
          <p:cNvSpPr txBox="1"/>
          <p:nvPr/>
        </p:nvSpPr>
        <p:spPr>
          <a:xfrm>
            <a:off x="5120640" y="4673215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8" name="izoh"/>
          <p:cNvSpPr txBox="1"/>
          <p:nvPr/>
        </p:nvSpPr>
        <p:spPr>
          <a:xfrm>
            <a:off x="5120640" y="46908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E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bitta band xodimga YaIM (unumdorlik), 2010 → 2024 [1]</a:t>
            </a:r>
            <a:endParaRPr lang="en-US" sz="1200" dirty="0"/>
          </a:p>
        </p:txBody>
      </p:sp>
      <p:sp>
        <p:nvSpPr>
          <p:cNvPr id="19" name="savol"/>
          <p:cNvSpPr txBox="1"/>
          <p:nvPr/>
        </p:nvSpPr>
        <p:spPr>
          <a:xfrm>
            <a:off x="548640" y="5349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DD3F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Savol: ikkalasi bir-biriga bog‘liqmi — va qanday?</a:t>
            </a:r>
            <a:endParaRPr lang="en-US" sz="1800" dirty="0"/>
          </a:p>
        </p:txBody>
      </p:sp>
      <p:sp>
        <p:nvSpPr>
          <p:cNvPr id="20" name="muallif"/>
          <p:cNvSpPr txBox="1"/>
          <p:nvPr/>
        </p:nvSpPr>
        <p:spPr>
          <a:xfrm>
            <a:off x="7863840" y="617220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7D2E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Tayyorladi: Qo‘ziboyev Aslbek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shrut"/>
          <p:cNvSpPr/>
          <p:nvPr/>
        </p:nvSpPr>
        <p:spPr>
          <a:xfrm>
            <a:off x="8366760" y="566928"/>
            <a:ext cx="3291840" cy="0"/>
          </a:xfrm>
          <a:prstGeom prst="line">
            <a:avLst/>
          </a:prstGeom>
          <a:noFill/>
          <a:ln w="31750">
            <a:solidFill>
              <a:srgbClr val="D5DAE1"/>
            </a:solidFill>
            <a:prstDash val="solid"/>
          </a:ln>
        </p:spPr>
      </p:sp>
      <p:sp>
        <p:nvSpPr>
          <p:cNvPr id="3" name="bekat"/>
          <p:cNvSpPr/>
          <p:nvPr/>
        </p:nvSpPr>
        <p:spPr>
          <a:xfrm>
            <a:off x="8307324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4" name="bekat-nomi"/>
          <p:cNvSpPr txBox="1"/>
          <p:nvPr/>
        </p:nvSpPr>
        <p:spPr>
          <a:xfrm>
            <a:off x="801928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Nazariya</a:t>
            </a:r>
            <a:endParaRPr lang="en-US" sz="900" dirty="0"/>
          </a:p>
        </p:txBody>
      </p:sp>
      <p:sp>
        <p:nvSpPr>
          <p:cNvPr id="5" name="bekat"/>
          <p:cNvSpPr/>
          <p:nvPr/>
        </p:nvSpPr>
        <p:spPr>
          <a:xfrm>
            <a:off x="8965692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6" name="bekat-nomi"/>
          <p:cNvSpPr txBox="1"/>
          <p:nvPr/>
        </p:nvSpPr>
        <p:spPr>
          <a:xfrm>
            <a:off x="8677656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Formula</a:t>
            </a:r>
            <a:endParaRPr lang="en-US" sz="900" dirty="0"/>
          </a:p>
        </p:txBody>
      </p:sp>
      <p:sp>
        <p:nvSpPr>
          <p:cNvPr id="7" name="bekat"/>
          <p:cNvSpPr/>
          <p:nvPr/>
        </p:nvSpPr>
        <p:spPr>
          <a:xfrm>
            <a:off x="9624060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8" name="bekat-nomi"/>
          <p:cNvSpPr txBox="1"/>
          <p:nvPr/>
        </p:nvSpPr>
        <p:spPr>
          <a:xfrm>
            <a:off x="9336024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Statistika</a:t>
            </a:r>
            <a:endParaRPr lang="en-US" sz="900" dirty="0"/>
          </a:p>
        </p:txBody>
      </p:sp>
      <p:sp>
        <p:nvSpPr>
          <p:cNvPr id="9" name="bekat"/>
          <p:cNvSpPr/>
          <p:nvPr/>
        </p:nvSpPr>
        <p:spPr>
          <a:xfrm>
            <a:off x="10282428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0" name="bekat-nomi"/>
          <p:cNvSpPr txBox="1"/>
          <p:nvPr/>
        </p:nvSpPr>
        <p:spPr>
          <a:xfrm>
            <a:off x="9994392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Grafik</a:t>
            </a:r>
            <a:endParaRPr lang="en-US" sz="900" dirty="0"/>
          </a:p>
        </p:txBody>
      </p:sp>
      <p:sp>
        <p:nvSpPr>
          <p:cNvPr id="11" name="bekat"/>
          <p:cNvSpPr/>
          <p:nvPr/>
        </p:nvSpPr>
        <p:spPr>
          <a:xfrm>
            <a:off x="10940796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2" name="bekat-nomi"/>
          <p:cNvSpPr txBox="1"/>
          <p:nvPr/>
        </p:nvSpPr>
        <p:spPr>
          <a:xfrm>
            <a:off x="10652760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Tahlil</a:t>
            </a:r>
            <a:endParaRPr lang="en-US" sz="900" dirty="0"/>
          </a:p>
        </p:txBody>
      </p:sp>
      <p:sp>
        <p:nvSpPr>
          <p:cNvPr id="13" name="bekat"/>
          <p:cNvSpPr/>
          <p:nvPr/>
        </p:nvSpPr>
        <p:spPr>
          <a:xfrm>
            <a:off x="11599164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4" name="bekat-nomi"/>
          <p:cNvSpPr txBox="1"/>
          <p:nvPr/>
        </p:nvSpPr>
        <p:spPr>
          <a:xfrm>
            <a:off x="1131112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Xulosa</a:t>
            </a:r>
            <a:endParaRPr lang="en-US" sz="900" dirty="0"/>
          </a:p>
        </p:txBody>
      </p:sp>
      <p:sp>
        <p:nvSpPr>
          <p:cNvPr id="15" name="sahifa"/>
          <p:cNvSpPr txBox="1"/>
          <p:nvPr/>
        </p:nvSpPr>
        <p:spPr>
          <a:xfrm>
            <a:off x="9692640" y="64465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13-mavzu  ·  2 / 15</a:t>
            </a:r>
            <a:endParaRPr lang="en-US" sz="10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548640" y="384048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Tadqiqot savoli: internet bor joyda xodim ko‘proq ishlab chiqaradimi?</a:t>
            </a:r>
            <a:endParaRPr lang="en-US" sz="2800" dirty="0"/>
          </a:p>
        </p:txBody>
      </p:sp>
      <p:sp>
        <p:nvSpPr>
          <p:cNvPr id="17" name="tarif-fon"/>
          <p:cNvSpPr/>
          <p:nvPr/>
        </p:nvSpPr>
        <p:spPr>
          <a:xfrm>
            <a:off x="548640" y="1600200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8" name="tarif"/>
          <p:cNvSpPr txBox="1"/>
          <p:nvPr/>
        </p:nvSpPr>
        <p:spPr>
          <a:xfrm>
            <a:off x="777240" y="1709928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Raqamli infratuzilma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Ma’lumot uzatish va saqlash tizimlari: optik tola va keng polosali internet, mobil 4G/5G tarmoqlar, ma’lumot markazlari, raqamli davlat va to‘lov platformalari.</a:t>
            </a:r>
            <a:endParaRPr lang="en-US" sz="1700" dirty="0"/>
          </a:p>
        </p:txBody>
      </p:sp>
      <p:sp>
        <p:nvSpPr>
          <p:cNvPr id="19" name="tarif-fon"/>
          <p:cNvSpPr/>
          <p:nvPr/>
        </p:nvSpPr>
        <p:spPr>
          <a:xfrm>
            <a:off x="548640" y="3200400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0" name="tarif"/>
          <p:cNvSpPr txBox="1"/>
          <p:nvPr/>
        </p:nvSpPr>
        <p:spPr>
          <a:xfrm>
            <a:off x="777240" y="3310128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Mehnat unumdorligi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Bitta band xodimga to‘g‘ri keladigan YaIM:  Y / L  (doimiy 2021 PPP $, Jahon banki). Ko‘rsatkich oshsa — har bir xodim ko‘proq qiymat yaratadi.</a:t>
            </a:r>
            <a:endParaRPr lang="en-US" sz="1700" dirty="0"/>
          </a:p>
        </p:txBody>
      </p:sp>
      <p:sp>
        <p:nvSpPr>
          <p:cNvPr id="21" name="malumot"/>
          <p:cNvSpPr txBox="1"/>
          <p:nvPr/>
        </p:nvSpPr>
        <p:spPr>
          <a:xfrm>
            <a:off x="548640" y="49377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Ma’lumot: Jahon banki WDI (ITU va XMT asosida), 2010–2024; 39 mamlakat kesimi, 2023 [1]</a:t>
            </a:r>
            <a:endParaRPr lang="en-US" sz="1200" dirty="0"/>
          </a:p>
        </p:txBody>
      </p:sp>
      <p:sp>
        <p:nvSpPr>
          <p:cNvPr id="22" name="qadamlar-sarlavha"/>
          <p:cNvSpPr txBox="1"/>
          <p:nvPr/>
        </p:nvSpPr>
        <p:spPr>
          <a:xfrm>
            <a:off x="6766560" y="15544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Tahlil 5 qadamda</a:t>
            </a:r>
            <a:endParaRPr lang="en-US" sz="1700" dirty="0"/>
          </a:p>
        </p:txBody>
      </p:sp>
      <p:sp>
        <p:nvSpPr>
          <p:cNvPr id="23" name="qadam-chiziq"/>
          <p:cNvSpPr/>
          <p:nvPr/>
        </p:nvSpPr>
        <p:spPr>
          <a:xfrm>
            <a:off x="6967728" y="2103120"/>
            <a:ext cx="0" cy="3291840"/>
          </a:xfrm>
          <a:prstGeom prst="line">
            <a:avLst/>
          </a:prstGeom>
          <a:noFill/>
          <a:ln w="25400">
            <a:solidFill>
              <a:srgbClr val="0A84C1"/>
            </a:solidFill>
            <a:prstDash val="solid"/>
          </a:ln>
        </p:spPr>
      </p:sp>
      <p:sp>
        <p:nvSpPr>
          <p:cNvPr id="24" name="qadam-raqam"/>
          <p:cNvSpPr/>
          <p:nvPr/>
        </p:nvSpPr>
        <p:spPr>
          <a:xfrm>
            <a:off x="6803136" y="1993392"/>
            <a:ext cx="329184" cy="329184"/>
          </a:xfrm>
          <a:prstGeom prst="ellipse">
            <a:avLst/>
          </a:prstGeom>
          <a:solidFill>
            <a:srgbClr val="0A84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qadam-raqam-matn"/>
          <p:cNvSpPr txBox="1"/>
          <p:nvPr/>
        </p:nvSpPr>
        <p:spPr>
          <a:xfrm>
            <a:off x="6803136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qadam"/>
          <p:cNvSpPr txBox="1"/>
          <p:nvPr/>
        </p:nvSpPr>
        <p:spPr>
          <a:xfrm>
            <a:off x="7315200" y="193852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Formula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unumdorlik o‘sishini manbalarga ajratish</a:t>
            </a:r>
            <a:endParaRPr lang="en-US" sz="1500" dirty="0"/>
          </a:p>
        </p:txBody>
      </p:sp>
      <p:sp>
        <p:nvSpPr>
          <p:cNvPr id="27" name="qadam-raqam"/>
          <p:cNvSpPr/>
          <p:nvPr/>
        </p:nvSpPr>
        <p:spPr>
          <a:xfrm>
            <a:off x="6803136" y="2779776"/>
            <a:ext cx="329184" cy="329184"/>
          </a:xfrm>
          <a:prstGeom prst="ellipse">
            <a:avLst/>
          </a:prstGeom>
          <a:solidFill>
            <a:srgbClr val="0A84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qadam-raqam-matn"/>
          <p:cNvSpPr txBox="1"/>
          <p:nvPr/>
        </p:nvSpPr>
        <p:spPr>
          <a:xfrm>
            <a:off x="6803136" y="2779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qadam"/>
          <p:cNvSpPr txBox="1"/>
          <p:nvPr/>
        </p:nvSpPr>
        <p:spPr>
          <a:xfrm>
            <a:off x="7315200" y="272491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Statistik tahlil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O‘zbekiston 2010–2024 va qo‘shnilar</a:t>
            </a:r>
            <a:endParaRPr lang="en-US" sz="1500" dirty="0"/>
          </a:p>
        </p:txBody>
      </p:sp>
      <p:sp>
        <p:nvSpPr>
          <p:cNvPr id="30" name="qadam-raqam"/>
          <p:cNvSpPr/>
          <p:nvPr/>
        </p:nvSpPr>
        <p:spPr>
          <a:xfrm>
            <a:off x="6803136" y="3566160"/>
            <a:ext cx="329184" cy="329184"/>
          </a:xfrm>
          <a:prstGeom prst="ellipse">
            <a:avLst/>
          </a:prstGeom>
          <a:solidFill>
            <a:srgbClr val="0A84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qadam-raqam-matn"/>
          <p:cNvSpPr txBox="1"/>
          <p:nvPr/>
        </p:nvSpPr>
        <p:spPr>
          <a:xfrm>
            <a:off x="6803136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qadam"/>
          <p:cNvSpPr txBox="1"/>
          <p:nvPr/>
        </p:nvSpPr>
        <p:spPr>
          <a:xfrm>
            <a:off x="7315200" y="351129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Grafik tahlil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trendlar va 39 mamlakat taqqoslovi</a:t>
            </a:r>
            <a:endParaRPr lang="en-US" sz="1500" dirty="0"/>
          </a:p>
        </p:txBody>
      </p:sp>
      <p:sp>
        <p:nvSpPr>
          <p:cNvPr id="33" name="qadam-raqam"/>
          <p:cNvSpPr/>
          <p:nvPr/>
        </p:nvSpPr>
        <p:spPr>
          <a:xfrm>
            <a:off x="6803136" y="4352544"/>
            <a:ext cx="329184" cy="329184"/>
          </a:xfrm>
          <a:prstGeom prst="ellipse">
            <a:avLst/>
          </a:prstGeom>
          <a:solidFill>
            <a:srgbClr val="0A84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qadam-raqam-matn"/>
          <p:cNvSpPr txBox="1"/>
          <p:nvPr/>
        </p:nvSpPr>
        <p:spPr>
          <a:xfrm>
            <a:off x="6803136" y="4352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qadam"/>
          <p:cNvSpPr txBox="1"/>
          <p:nvPr/>
        </p:nvSpPr>
        <p:spPr>
          <a:xfrm>
            <a:off x="7315200" y="429768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Talaba tahlili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o‘z regressiyalarim va izohim</a:t>
            </a:r>
            <a:endParaRPr lang="en-US" sz="1500" dirty="0"/>
          </a:p>
        </p:txBody>
      </p:sp>
      <p:sp>
        <p:nvSpPr>
          <p:cNvPr id="36" name="qadam-raqam"/>
          <p:cNvSpPr/>
          <p:nvPr/>
        </p:nvSpPr>
        <p:spPr>
          <a:xfrm>
            <a:off x="6803136" y="5138928"/>
            <a:ext cx="329184" cy="329184"/>
          </a:xfrm>
          <a:prstGeom prst="ellipse">
            <a:avLst/>
          </a:prstGeom>
          <a:solidFill>
            <a:srgbClr val="0A84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qadam-raqam-matn"/>
          <p:cNvSpPr txBox="1"/>
          <p:nvPr/>
        </p:nvSpPr>
        <p:spPr>
          <a:xfrm>
            <a:off x="6803136" y="5138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qadam"/>
          <p:cNvSpPr txBox="1"/>
          <p:nvPr/>
        </p:nvSpPr>
        <p:spPr>
          <a:xfrm>
            <a:off x="7315200" y="508406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Talaba xulosasi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natija va takliflar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shrut"/>
          <p:cNvSpPr/>
          <p:nvPr/>
        </p:nvSpPr>
        <p:spPr>
          <a:xfrm>
            <a:off x="8366760" y="566928"/>
            <a:ext cx="3291840" cy="0"/>
          </a:xfrm>
          <a:prstGeom prst="line">
            <a:avLst/>
          </a:prstGeom>
          <a:noFill/>
          <a:ln w="31750">
            <a:solidFill>
              <a:srgbClr val="D5DAE1"/>
            </a:solidFill>
            <a:prstDash val="solid"/>
          </a:ln>
        </p:spPr>
      </p:sp>
      <p:sp>
        <p:nvSpPr>
          <p:cNvPr id="3" name="marshrut-otilgan"/>
          <p:cNvSpPr/>
          <p:nvPr/>
        </p:nvSpPr>
        <p:spPr>
          <a:xfrm>
            <a:off x="8366760" y="566928"/>
            <a:ext cx="0" cy="0"/>
          </a:xfrm>
          <a:prstGeom prst="line">
            <a:avLst/>
          </a:prstGeom>
          <a:noFill/>
          <a:ln w="31750">
            <a:solidFill>
              <a:srgbClr val="0A84C1"/>
            </a:solidFill>
            <a:prstDash val="solid"/>
          </a:ln>
        </p:spPr>
      </p:sp>
      <p:sp>
        <p:nvSpPr>
          <p:cNvPr id="4" name="bekat"/>
          <p:cNvSpPr/>
          <p:nvPr/>
        </p:nvSpPr>
        <p:spPr>
          <a:xfrm>
            <a:off x="8275320" y="475488"/>
            <a:ext cx="182880" cy="182880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5" name="bekat-nomi"/>
          <p:cNvSpPr txBox="1"/>
          <p:nvPr/>
        </p:nvSpPr>
        <p:spPr>
          <a:xfrm>
            <a:off x="801928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Nazariya</a:t>
            </a:r>
            <a:endParaRPr lang="en-US" sz="900" dirty="0"/>
          </a:p>
        </p:txBody>
      </p:sp>
      <p:sp>
        <p:nvSpPr>
          <p:cNvPr id="6" name="bekat"/>
          <p:cNvSpPr/>
          <p:nvPr/>
        </p:nvSpPr>
        <p:spPr>
          <a:xfrm>
            <a:off x="8965692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7" name="bekat-nomi"/>
          <p:cNvSpPr txBox="1"/>
          <p:nvPr/>
        </p:nvSpPr>
        <p:spPr>
          <a:xfrm>
            <a:off x="8677656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Formula</a:t>
            </a:r>
            <a:endParaRPr lang="en-US" sz="900" dirty="0"/>
          </a:p>
        </p:txBody>
      </p:sp>
      <p:sp>
        <p:nvSpPr>
          <p:cNvPr id="8" name="bekat"/>
          <p:cNvSpPr/>
          <p:nvPr/>
        </p:nvSpPr>
        <p:spPr>
          <a:xfrm>
            <a:off x="9624060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9" name="bekat-nomi"/>
          <p:cNvSpPr txBox="1"/>
          <p:nvPr/>
        </p:nvSpPr>
        <p:spPr>
          <a:xfrm>
            <a:off x="9336024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Statistika</a:t>
            </a:r>
            <a:endParaRPr lang="en-US" sz="900" dirty="0"/>
          </a:p>
        </p:txBody>
      </p:sp>
      <p:sp>
        <p:nvSpPr>
          <p:cNvPr id="10" name="bekat"/>
          <p:cNvSpPr/>
          <p:nvPr/>
        </p:nvSpPr>
        <p:spPr>
          <a:xfrm>
            <a:off x="10282428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1" name="bekat-nomi"/>
          <p:cNvSpPr txBox="1"/>
          <p:nvPr/>
        </p:nvSpPr>
        <p:spPr>
          <a:xfrm>
            <a:off x="9994392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Grafik</a:t>
            </a:r>
            <a:endParaRPr lang="en-US" sz="900" dirty="0"/>
          </a:p>
        </p:txBody>
      </p:sp>
      <p:sp>
        <p:nvSpPr>
          <p:cNvPr id="12" name="bekat"/>
          <p:cNvSpPr/>
          <p:nvPr/>
        </p:nvSpPr>
        <p:spPr>
          <a:xfrm>
            <a:off x="10940796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3" name="bekat-nomi"/>
          <p:cNvSpPr txBox="1"/>
          <p:nvPr/>
        </p:nvSpPr>
        <p:spPr>
          <a:xfrm>
            <a:off x="10652760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Tahlil</a:t>
            </a:r>
            <a:endParaRPr lang="en-US" sz="900" dirty="0"/>
          </a:p>
        </p:txBody>
      </p:sp>
      <p:sp>
        <p:nvSpPr>
          <p:cNvPr id="14" name="bekat"/>
          <p:cNvSpPr/>
          <p:nvPr/>
        </p:nvSpPr>
        <p:spPr>
          <a:xfrm>
            <a:off x="11599164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5" name="bekat-nomi"/>
          <p:cNvSpPr txBox="1"/>
          <p:nvPr/>
        </p:nvSpPr>
        <p:spPr>
          <a:xfrm>
            <a:off x="1131112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Xulosa</a:t>
            </a:r>
            <a:endParaRPr lang="en-US" sz="900" dirty="0"/>
          </a:p>
        </p:txBody>
      </p:sp>
      <p:sp>
        <p:nvSpPr>
          <p:cNvPr id="16" name="sahifa"/>
          <p:cNvSpPr txBox="1"/>
          <p:nvPr/>
        </p:nvSpPr>
        <p:spPr>
          <a:xfrm>
            <a:off x="9692640" y="64465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13-mavzu  ·  3 / 15</a:t>
            </a:r>
            <a:endParaRPr lang="en-US" sz="100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384048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Nazariya: raqamli infratuzilma unumdorlikni oshiradi, lekin darhol emas</a:t>
            </a:r>
            <a:endParaRPr lang="en-US" sz="2800" dirty="0"/>
          </a:p>
        </p:txBody>
      </p:sp>
      <p:sp>
        <p:nvSpPr>
          <p:cNvPr id="18" name="karta-fon"/>
          <p:cNvSpPr/>
          <p:nvPr/>
        </p:nvSpPr>
        <p:spPr>
          <a:xfrm>
            <a:off x="548640" y="1572768"/>
            <a:ext cx="534924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9" name="karta-sarlavha"/>
          <p:cNvSpPr txBox="1"/>
          <p:nvPr/>
        </p:nvSpPr>
        <p:spPr>
          <a:xfrm>
            <a:off x="777240" y="170992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Solow paradoksi, 1987</a:t>
            </a:r>
            <a:endParaRPr lang="en-US" sz="1500" dirty="0"/>
          </a:p>
        </p:txBody>
      </p:sp>
      <p:sp>
        <p:nvSpPr>
          <p:cNvPr id="20" name="karta-matn"/>
          <p:cNvSpPr txBox="1"/>
          <p:nvPr/>
        </p:nvSpPr>
        <p:spPr>
          <a:xfrm>
            <a:off x="777240" y="2048256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</a:rPr>
              <a:t>«Kompyuter davrini hamma joyda ko‘rish mumkin — faqat unumdorlik statistikasida emas.»</a:t>
            </a:r>
            <a:endParaRPr lang="en-US" sz="1400" dirty="0"/>
          </a:p>
        </p:txBody>
      </p:sp>
      <p:sp>
        <p:nvSpPr>
          <p:cNvPr id="21" name="karta-xulosa"/>
          <p:cNvSpPr txBox="1"/>
          <p:nvPr/>
        </p:nvSpPr>
        <p:spPr>
          <a:xfrm>
            <a:off x="777240" y="294436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Texnologiya bor, natija kechikadi [4]</a:t>
            </a:r>
            <a:endParaRPr lang="en-US" sz="1200" dirty="0"/>
          </a:p>
        </p:txBody>
      </p:sp>
      <p:sp>
        <p:nvSpPr>
          <p:cNvPr id="22" name="karta-fon"/>
          <p:cNvSpPr/>
          <p:nvPr/>
        </p:nvSpPr>
        <p:spPr>
          <a:xfrm>
            <a:off x="6126480" y="1572768"/>
            <a:ext cx="534924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3" name="karta-sarlavha"/>
          <p:cNvSpPr txBox="1"/>
          <p:nvPr/>
        </p:nvSpPr>
        <p:spPr>
          <a:xfrm>
            <a:off x="6355080" y="170992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Czernich va b., 2011</a:t>
            </a:r>
            <a:endParaRPr lang="en-US" sz="1500" dirty="0"/>
          </a:p>
        </p:txBody>
      </p:sp>
      <p:sp>
        <p:nvSpPr>
          <p:cNvPr id="24" name="karta-matn"/>
          <p:cNvSpPr txBox="1"/>
          <p:nvPr/>
        </p:nvSpPr>
        <p:spPr>
          <a:xfrm>
            <a:off x="6355080" y="2048256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Keng polosali internet qamrovi 10 f.p. oshsa, aholi jon boshiga yillik o‘sish 0,9–1,5 f.p. tezlashgan (OECD, 1996–2007).</a:t>
            </a:r>
            <a:endParaRPr lang="en-US" sz="1400" dirty="0"/>
          </a:p>
        </p:txBody>
      </p:sp>
      <p:sp>
        <p:nvSpPr>
          <p:cNvPr id="25" name="karta-xulosa"/>
          <p:cNvSpPr txBox="1"/>
          <p:nvPr/>
        </p:nvSpPr>
        <p:spPr>
          <a:xfrm>
            <a:off x="6355080" y="294436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Infratuzilma → o‘sish [5]</a:t>
            </a:r>
            <a:endParaRPr lang="en-US" sz="1200" dirty="0"/>
          </a:p>
        </p:txBody>
      </p:sp>
      <p:sp>
        <p:nvSpPr>
          <p:cNvPr id="26" name="karta-fon"/>
          <p:cNvSpPr/>
          <p:nvPr/>
        </p:nvSpPr>
        <p:spPr>
          <a:xfrm>
            <a:off x="548640" y="3511296"/>
            <a:ext cx="534924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7" name="karta-sarlavha"/>
          <p:cNvSpPr txBox="1"/>
          <p:nvPr/>
        </p:nvSpPr>
        <p:spPr>
          <a:xfrm>
            <a:off x="777240" y="364845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ITU, 2019</a:t>
            </a:r>
            <a:endParaRPr lang="en-US" sz="1500" dirty="0"/>
          </a:p>
        </p:txBody>
      </p:sp>
      <p:sp>
        <p:nvSpPr>
          <p:cNvPr id="28" name="karta-matn"/>
          <p:cNvSpPr txBox="1"/>
          <p:nvPr/>
        </p:nvSpPr>
        <p:spPr>
          <a:xfrm>
            <a:off x="777240" y="3986784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Mobil keng polosali internet qamrovi 1% oshsa, YaIM 0,15% oshadi (global model). Osiyo-Tinch okeani: +10% → jon boshiga YaIM +0,51%.</a:t>
            </a:r>
            <a:endParaRPr lang="en-US" sz="1400" dirty="0"/>
          </a:p>
        </p:txBody>
      </p:sp>
      <p:sp>
        <p:nvSpPr>
          <p:cNvPr id="29" name="karta-xulosa"/>
          <p:cNvSpPr txBox="1"/>
          <p:nvPr/>
        </p:nvSpPr>
        <p:spPr>
          <a:xfrm>
            <a:off x="777240" y="488289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Ta’sir mintaqaga bog‘liq [6]</a:t>
            </a:r>
            <a:endParaRPr lang="en-US" sz="1200" dirty="0"/>
          </a:p>
        </p:txBody>
      </p:sp>
      <p:sp>
        <p:nvSpPr>
          <p:cNvPr id="30" name="karta-fon"/>
          <p:cNvSpPr/>
          <p:nvPr/>
        </p:nvSpPr>
        <p:spPr>
          <a:xfrm>
            <a:off x="6126480" y="3511296"/>
            <a:ext cx="534924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31" name="karta-sarlavha"/>
          <p:cNvSpPr txBox="1"/>
          <p:nvPr/>
        </p:nvSpPr>
        <p:spPr>
          <a:xfrm>
            <a:off x="6355080" y="364845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Akerman va b., 2015</a:t>
            </a:r>
            <a:endParaRPr lang="en-US" sz="1500" dirty="0"/>
          </a:p>
        </p:txBody>
      </p:sp>
      <p:sp>
        <p:nvSpPr>
          <p:cNvPr id="32" name="karta-matn"/>
          <p:cNvSpPr txBox="1"/>
          <p:nvPr/>
        </p:nvSpPr>
        <p:spPr>
          <a:xfrm>
            <a:off x="6355080" y="3986784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Norvegiya firmalarida keng polosali internet malakali xodimlar unumdorligini oshirgan, malakasizlarnikini — pasaytirgan.</a:t>
            </a:r>
            <a:endParaRPr lang="en-US" sz="1400" dirty="0"/>
          </a:p>
        </p:txBody>
      </p:sp>
      <p:sp>
        <p:nvSpPr>
          <p:cNvPr id="33" name="karta-xulosa"/>
          <p:cNvSpPr txBox="1"/>
          <p:nvPr/>
        </p:nvSpPr>
        <p:spPr>
          <a:xfrm>
            <a:off x="6355080" y="488289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Ko‘nikma — hal qiluvchi shart [7]</a:t>
            </a:r>
            <a:endParaRPr lang="en-US" sz="1200" dirty="0"/>
          </a:p>
        </p:txBody>
      </p:sp>
      <p:sp>
        <p:nvSpPr>
          <p:cNvPr id="34" name="anglatadi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 nimani anglatadi?  Raqamli infratuzilma — zarur, lekin yetarli shart emas: natija ko‘nikma va vaqtga bog‘liq.</a:t>
            </a:r>
            <a:endParaRPr lang="en-US" sz="1500" dirty="0"/>
          </a:p>
        </p:txBody>
      </p:sp>
      <p:sp>
        <p:nvSpPr>
          <p:cNvPr id="35" name="manba"/>
          <p:cNvSpPr txBox="1"/>
          <p:nvPr/>
        </p:nvSpPr>
        <p:spPr>
          <a:xfrm>
            <a:off x="548640" y="6446520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Manbalar: [4]–[7]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shrut"/>
          <p:cNvSpPr/>
          <p:nvPr/>
        </p:nvSpPr>
        <p:spPr>
          <a:xfrm>
            <a:off x="8366760" y="566928"/>
            <a:ext cx="3291840" cy="0"/>
          </a:xfrm>
          <a:prstGeom prst="line">
            <a:avLst/>
          </a:prstGeom>
          <a:noFill/>
          <a:ln w="31750">
            <a:solidFill>
              <a:srgbClr val="D5DAE1"/>
            </a:solidFill>
            <a:prstDash val="solid"/>
          </a:ln>
        </p:spPr>
      </p:sp>
      <p:sp>
        <p:nvSpPr>
          <p:cNvPr id="3" name="marshrut-otilgan"/>
          <p:cNvSpPr/>
          <p:nvPr/>
        </p:nvSpPr>
        <p:spPr>
          <a:xfrm>
            <a:off x="8366760" y="566928"/>
            <a:ext cx="0" cy="0"/>
          </a:xfrm>
          <a:prstGeom prst="line">
            <a:avLst/>
          </a:prstGeom>
          <a:noFill/>
          <a:ln w="31750">
            <a:solidFill>
              <a:srgbClr val="0A84C1"/>
            </a:solidFill>
            <a:prstDash val="solid"/>
          </a:ln>
        </p:spPr>
      </p:sp>
      <p:sp>
        <p:nvSpPr>
          <p:cNvPr id="4" name="bekat"/>
          <p:cNvSpPr/>
          <p:nvPr/>
        </p:nvSpPr>
        <p:spPr>
          <a:xfrm>
            <a:off x="8275320" y="475488"/>
            <a:ext cx="182880" cy="182880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5" name="bekat-nomi"/>
          <p:cNvSpPr txBox="1"/>
          <p:nvPr/>
        </p:nvSpPr>
        <p:spPr>
          <a:xfrm>
            <a:off x="801928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Nazariya</a:t>
            </a:r>
            <a:endParaRPr lang="en-US" sz="900" dirty="0"/>
          </a:p>
        </p:txBody>
      </p:sp>
      <p:sp>
        <p:nvSpPr>
          <p:cNvPr id="6" name="bekat"/>
          <p:cNvSpPr/>
          <p:nvPr/>
        </p:nvSpPr>
        <p:spPr>
          <a:xfrm>
            <a:off x="8965692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7" name="bekat-nomi"/>
          <p:cNvSpPr txBox="1"/>
          <p:nvPr/>
        </p:nvSpPr>
        <p:spPr>
          <a:xfrm>
            <a:off x="8677656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Formula</a:t>
            </a:r>
            <a:endParaRPr lang="en-US" sz="900" dirty="0"/>
          </a:p>
        </p:txBody>
      </p:sp>
      <p:sp>
        <p:nvSpPr>
          <p:cNvPr id="8" name="bekat"/>
          <p:cNvSpPr/>
          <p:nvPr/>
        </p:nvSpPr>
        <p:spPr>
          <a:xfrm>
            <a:off x="9624060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9" name="bekat-nomi"/>
          <p:cNvSpPr txBox="1"/>
          <p:nvPr/>
        </p:nvSpPr>
        <p:spPr>
          <a:xfrm>
            <a:off x="9336024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Statistika</a:t>
            </a:r>
            <a:endParaRPr lang="en-US" sz="900" dirty="0"/>
          </a:p>
        </p:txBody>
      </p:sp>
      <p:sp>
        <p:nvSpPr>
          <p:cNvPr id="10" name="bekat"/>
          <p:cNvSpPr/>
          <p:nvPr/>
        </p:nvSpPr>
        <p:spPr>
          <a:xfrm>
            <a:off x="10282428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1" name="bekat-nomi"/>
          <p:cNvSpPr txBox="1"/>
          <p:nvPr/>
        </p:nvSpPr>
        <p:spPr>
          <a:xfrm>
            <a:off x="9994392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Grafik</a:t>
            </a:r>
            <a:endParaRPr lang="en-US" sz="900" dirty="0"/>
          </a:p>
        </p:txBody>
      </p:sp>
      <p:sp>
        <p:nvSpPr>
          <p:cNvPr id="12" name="bekat"/>
          <p:cNvSpPr/>
          <p:nvPr/>
        </p:nvSpPr>
        <p:spPr>
          <a:xfrm>
            <a:off x="10940796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3" name="bekat-nomi"/>
          <p:cNvSpPr txBox="1"/>
          <p:nvPr/>
        </p:nvSpPr>
        <p:spPr>
          <a:xfrm>
            <a:off x="10652760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Tahlil</a:t>
            </a:r>
            <a:endParaRPr lang="en-US" sz="900" dirty="0"/>
          </a:p>
        </p:txBody>
      </p:sp>
      <p:sp>
        <p:nvSpPr>
          <p:cNvPr id="14" name="bekat"/>
          <p:cNvSpPr/>
          <p:nvPr/>
        </p:nvSpPr>
        <p:spPr>
          <a:xfrm>
            <a:off x="11599164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5" name="bekat-nomi"/>
          <p:cNvSpPr txBox="1"/>
          <p:nvPr/>
        </p:nvSpPr>
        <p:spPr>
          <a:xfrm>
            <a:off x="1131112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Xulosa</a:t>
            </a:r>
            <a:endParaRPr lang="en-US" sz="900" dirty="0"/>
          </a:p>
        </p:txBody>
      </p:sp>
      <p:sp>
        <p:nvSpPr>
          <p:cNvPr id="16" name="sahifa"/>
          <p:cNvSpPr txBox="1"/>
          <p:nvPr/>
        </p:nvSpPr>
        <p:spPr>
          <a:xfrm>
            <a:off x="9692640" y="64465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13-mavzu  ·  4 / 15</a:t>
            </a:r>
            <a:endParaRPr lang="en-US" sz="100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384048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Mexanizm: internet unumdorlikka beshta kanal orqali ta’sir qiladi</a:t>
            </a:r>
            <a:endParaRPr lang="en-US" sz="2800" dirty="0"/>
          </a:p>
        </p:txBody>
      </p:sp>
      <p:sp>
        <p:nvSpPr>
          <p:cNvPr id="18" name="sabab"/>
          <p:cNvSpPr/>
          <p:nvPr/>
        </p:nvSpPr>
        <p:spPr>
          <a:xfrm>
            <a:off x="548640" y="2331720"/>
            <a:ext cx="2240280" cy="2194560"/>
          </a:xfrm>
          <a:prstGeom prst="roundRect">
            <a:avLst>
              <a:gd name="adj" fmla="val 4167"/>
            </a:avLst>
          </a:prstGeom>
          <a:solidFill>
            <a:srgbClr val="0F1B33"/>
          </a:solidFill>
          <a:ln/>
        </p:spPr>
      </p:sp>
      <p:sp>
        <p:nvSpPr>
          <p:cNvPr id="19" name="sabab-matn"/>
          <p:cNvSpPr txBox="1"/>
          <p:nvPr/>
        </p:nvSpPr>
        <p:spPr>
          <a:xfrm>
            <a:off x="731520" y="233172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Raqamli infratuzilma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7D2E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optik tola, 4G/5G, ma’lumot markazlari, platformalar</a:t>
            </a:r>
            <a:endParaRPr lang="en-US" sz="1700" dirty="0"/>
          </a:p>
        </p:txBody>
      </p:sp>
      <p:sp>
        <p:nvSpPr>
          <p:cNvPr id="20" name="natija"/>
          <p:cNvSpPr/>
          <p:nvPr/>
        </p:nvSpPr>
        <p:spPr>
          <a:xfrm>
            <a:off x="9418320" y="2331720"/>
            <a:ext cx="2221992" cy="2194560"/>
          </a:xfrm>
          <a:prstGeom prst="roundRect">
            <a:avLst>
              <a:gd name="adj" fmla="val 4167"/>
            </a:avLst>
          </a:prstGeom>
          <a:solidFill>
            <a:srgbClr val="E8590C"/>
          </a:solidFill>
          <a:ln/>
        </p:spPr>
      </p:sp>
      <p:sp>
        <p:nvSpPr>
          <p:cNvPr id="21" name="natija-matn"/>
          <p:cNvSpPr txBox="1"/>
          <p:nvPr/>
        </p:nvSpPr>
        <p:spPr>
          <a:xfrm>
            <a:off x="9601200" y="233172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Mehnat unumdorligi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 = Y / L</a:t>
            </a:r>
            <a:endParaRPr lang="en-US" sz="1700" dirty="0"/>
          </a:p>
        </p:txBody>
      </p:sp>
      <p:sp>
        <p:nvSpPr>
          <p:cNvPr id="22" name="kanal-strelka"/>
          <p:cNvSpPr/>
          <p:nvPr/>
        </p:nvSpPr>
        <p:spPr>
          <a:xfrm>
            <a:off x="2852928" y="1847088"/>
            <a:ext cx="411480" cy="0"/>
          </a:xfrm>
          <a:prstGeom prst="line">
            <a:avLst/>
          </a:prstGeom>
          <a:noFill/>
          <a:ln w="25400">
            <a:solidFill>
              <a:srgbClr val="0A84C1"/>
            </a:solidFill>
            <a:prstDash val="solid"/>
            <a:tailEnd type="triangle"/>
          </a:ln>
        </p:spPr>
      </p:sp>
      <p:sp>
        <p:nvSpPr>
          <p:cNvPr id="23" name="kanal-fon"/>
          <p:cNvSpPr/>
          <p:nvPr/>
        </p:nvSpPr>
        <p:spPr>
          <a:xfrm>
            <a:off x="3337560" y="14813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4" name="kanal-raqam"/>
          <p:cNvSpPr txBox="1"/>
          <p:nvPr/>
        </p:nvSpPr>
        <p:spPr>
          <a:xfrm>
            <a:off x="342900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kanal"/>
          <p:cNvSpPr txBox="1"/>
          <p:nvPr/>
        </p:nvSpPr>
        <p:spPr>
          <a:xfrm>
            <a:off x="3931920" y="14813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Axborot va tranzaksiya xarajatlari ↓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qidiruv, aloqa, to‘lov arzonlashadi</a:t>
            </a:r>
            <a:endParaRPr lang="en-US" sz="1400" dirty="0"/>
          </a:p>
        </p:txBody>
      </p:sp>
      <p:sp>
        <p:nvSpPr>
          <p:cNvPr id="26" name="kanal-had"/>
          <p:cNvSpPr/>
          <p:nvPr/>
        </p:nvSpPr>
        <p:spPr>
          <a:xfrm>
            <a:off x="7589520" y="1682496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/>
        </p:spPr>
      </p:sp>
      <p:sp>
        <p:nvSpPr>
          <p:cNvPr id="27" name="kanal-had-matn"/>
          <p:cNvSpPr txBox="1"/>
          <p:nvPr/>
        </p:nvSpPr>
        <p:spPr>
          <a:xfrm>
            <a:off x="7589520" y="168249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</a:t>
            </a:r>
            <a:endParaRPr lang="en-US" sz="1100" dirty="0"/>
          </a:p>
        </p:txBody>
      </p:sp>
      <p:sp>
        <p:nvSpPr>
          <p:cNvPr id="28" name="kanal-strelka2"/>
          <p:cNvSpPr/>
          <p:nvPr/>
        </p:nvSpPr>
        <p:spPr>
          <a:xfrm>
            <a:off x="8503920" y="1847088"/>
            <a:ext cx="86868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29" name="kanal-strelka"/>
          <p:cNvSpPr/>
          <p:nvPr/>
        </p:nvSpPr>
        <p:spPr>
          <a:xfrm>
            <a:off x="2852928" y="2734056"/>
            <a:ext cx="411480" cy="0"/>
          </a:xfrm>
          <a:prstGeom prst="line">
            <a:avLst/>
          </a:prstGeom>
          <a:noFill/>
          <a:ln w="25400">
            <a:solidFill>
              <a:srgbClr val="0A84C1"/>
            </a:solidFill>
            <a:prstDash val="solid"/>
            <a:tailEnd type="triangle"/>
          </a:ln>
        </p:spPr>
      </p:sp>
      <p:sp>
        <p:nvSpPr>
          <p:cNvPr id="30" name="kanal-fon"/>
          <p:cNvSpPr/>
          <p:nvPr/>
        </p:nvSpPr>
        <p:spPr>
          <a:xfrm>
            <a:off x="3337560" y="2368296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31" name="kanal-raqam"/>
          <p:cNvSpPr txBox="1"/>
          <p:nvPr/>
        </p:nvSpPr>
        <p:spPr>
          <a:xfrm>
            <a:off x="3429000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kanal"/>
          <p:cNvSpPr txBox="1"/>
          <p:nvPr/>
        </p:nvSpPr>
        <p:spPr>
          <a:xfrm>
            <a:off x="3931920" y="236829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Raqamli kapital chuqurlashuvi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har xodimga ko‘proq raqamli vosita</a:t>
            </a:r>
            <a:endParaRPr lang="en-US" sz="1400" dirty="0"/>
          </a:p>
        </p:txBody>
      </p:sp>
      <p:sp>
        <p:nvSpPr>
          <p:cNvPr id="33" name="kanal-had"/>
          <p:cNvSpPr/>
          <p:nvPr/>
        </p:nvSpPr>
        <p:spPr>
          <a:xfrm>
            <a:off x="7589520" y="2569464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/>
        </p:spPr>
      </p:sp>
      <p:sp>
        <p:nvSpPr>
          <p:cNvPr id="34" name="kanal-had-matn"/>
          <p:cNvSpPr txBox="1"/>
          <p:nvPr/>
        </p:nvSpPr>
        <p:spPr>
          <a:xfrm>
            <a:off x="7589520" y="2569464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</a:t>
            </a:r>
            <a:endParaRPr lang="en-US" sz="1100" dirty="0"/>
          </a:p>
        </p:txBody>
      </p:sp>
      <p:sp>
        <p:nvSpPr>
          <p:cNvPr id="35" name="kanal-strelka2"/>
          <p:cNvSpPr/>
          <p:nvPr/>
        </p:nvSpPr>
        <p:spPr>
          <a:xfrm>
            <a:off x="8503920" y="2734056"/>
            <a:ext cx="86868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36" name="kanal-strelka"/>
          <p:cNvSpPr/>
          <p:nvPr/>
        </p:nvSpPr>
        <p:spPr>
          <a:xfrm>
            <a:off x="2852928" y="3621024"/>
            <a:ext cx="411480" cy="0"/>
          </a:xfrm>
          <a:prstGeom prst="line">
            <a:avLst/>
          </a:prstGeom>
          <a:noFill/>
          <a:ln w="25400">
            <a:solidFill>
              <a:srgbClr val="0A84C1"/>
            </a:solidFill>
            <a:prstDash val="solid"/>
            <a:tailEnd type="triangle"/>
          </a:ln>
        </p:spPr>
      </p:sp>
      <p:sp>
        <p:nvSpPr>
          <p:cNvPr id="37" name="kanal-fon"/>
          <p:cNvSpPr/>
          <p:nvPr/>
        </p:nvSpPr>
        <p:spPr>
          <a:xfrm>
            <a:off x="3337560" y="3255264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38" name="kanal-raqam"/>
          <p:cNvSpPr txBox="1"/>
          <p:nvPr/>
        </p:nvSpPr>
        <p:spPr>
          <a:xfrm>
            <a:off x="3429000" y="3419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kanal"/>
          <p:cNvSpPr txBox="1"/>
          <p:nvPr/>
        </p:nvSpPr>
        <p:spPr>
          <a:xfrm>
            <a:off x="3931920" y="3255264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Ko‘nikma komplementarligi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malakali xodim ko‘proq foyda oladi [7]</a:t>
            </a:r>
            <a:endParaRPr lang="en-US" sz="1400" dirty="0"/>
          </a:p>
        </p:txBody>
      </p:sp>
      <p:sp>
        <p:nvSpPr>
          <p:cNvPr id="40" name="kanal-had"/>
          <p:cNvSpPr/>
          <p:nvPr/>
        </p:nvSpPr>
        <p:spPr>
          <a:xfrm>
            <a:off x="7589520" y="3456432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/>
        </p:spPr>
      </p:sp>
      <p:sp>
        <p:nvSpPr>
          <p:cNvPr id="41" name="kanal-had-matn"/>
          <p:cNvSpPr txBox="1"/>
          <p:nvPr/>
        </p:nvSpPr>
        <p:spPr>
          <a:xfrm>
            <a:off x="7589520" y="345643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 sifati</a:t>
            </a:r>
            <a:endParaRPr lang="en-US" sz="1100" dirty="0"/>
          </a:p>
        </p:txBody>
      </p:sp>
      <p:sp>
        <p:nvSpPr>
          <p:cNvPr id="42" name="kanal-strelka2"/>
          <p:cNvSpPr/>
          <p:nvPr/>
        </p:nvSpPr>
        <p:spPr>
          <a:xfrm>
            <a:off x="8503920" y="3621024"/>
            <a:ext cx="86868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43" name="kanal-strelka"/>
          <p:cNvSpPr/>
          <p:nvPr/>
        </p:nvSpPr>
        <p:spPr>
          <a:xfrm>
            <a:off x="2852928" y="4507992"/>
            <a:ext cx="411480" cy="0"/>
          </a:xfrm>
          <a:prstGeom prst="line">
            <a:avLst/>
          </a:prstGeom>
          <a:noFill/>
          <a:ln w="25400">
            <a:solidFill>
              <a:srgbClr val="0A84C1"/>
            </a:solidFill>
            <a:prstDash val="solid"/>
            <a:tailEnd type="triangle"/>
          </a:ln>
        </p:spPr>
      </p:sp>
      <p:sp>
        <p:nvSpPr>
          <p:cNvPr id="44" name="kanal-fon"/>
          <p:cNvSpPr/>
          <p:nvPr/>
        </p:nvSpPr>
        <p:spPr>
          <a:xfrm>
            <a:off x="3337560" y="4142232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45" name="kanal-raqam"/>
          <p:cNvSpPr txBox="1"/>
          <p:nvPr/>
        </p:nvSpPr>
        <p:spPr>
          <a:xfrm>
            <a:off x="3429000" y="4306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kanal"/>
          <p:cNvSpPr txBox="1"/>
          <p:nvPr/>
        </p:nvSpPr>
        <p:spPr>
          <a:xfrm>
            <a:off x="3931920" y="414223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Mehnat bozori va yangi xizmatlar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ish topish tezlashadi, bandlik oshadi [8]</a:t>
            </a:r>
            <a:endParaRPr lang="en-US" sz="1400" dirty="0"/>
          </a:p>
        </p:txBody>
      </p:sp>
      <p:sp>
        <p:nvSpPr>
          <p:cNvPr id="47" name="kanal-had"/>
          <p:cNvSpPr/>
          <p:nvPr/>
        </p:nvSpPr>
        <p:spPr>
          <a:xfrm>
            <a:off x="7589520" y="4343400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/>
        </p:spPr>
      </p:sp>
      <p:sp>
        <p:nvSpPr>
          <p:cNvPr id="48" name="kanal-had-matn"/>
          <p:cNvSpPr txBox="1"/>
          <p:nvPr/>
        </p:nvSpPr>
        <p:spPr>
          <a:xfrm>
            <a:off x="7589520" y="434340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</a:t>
            </a:r>
            <a:endParaRPr lang="en-US" sz="1100" dirty="0"/>
          </a:p>
        </p:txBody>
      </p:sp>
      <p:sp>
        <p:nvSpPr>
          <p:cNvPr id="49" name="kanal-strelka2"/>
          <p:cNvSpPr/>
          <p:nvPr/>
        </p:nvSpPr>
        <p:spPr>
          <a:xfrm>
            <a:off x="8503920" y="4507992"/>
            <a:ext cx="86868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50" name="kanal-strelka"/>
          <p:cNvSpPr/>
          <p:nvPr/>
        </p:nvSpPr>
        <p:spPr>
          <a:xfrm>
            <a:off x="2852928" y="5394960"/>
            <a:ext cx="411480" cy="0"/>
          </a:xfrm>
          <a:prstGeom prst="line">
            <a:avLst/>
          </a:prstGeom>
          <a:noFill/>
          <a:ln w="25400">
            <a:solidFill>
              <a:srgbClr val="0A84C1"/>
            </a:solidFill>
            <a:prstDash val="solid"/>
            <a:tailEnd type="triangle"/>
          </a:ln>
        </p:spPr>
      </p:sp>
      <p:sp>
        <p:nvSpPr>
          <p:cNvPr id="51" name="kanal-fon"/>
          <p:cNvSpPr/>
          <p:nvPr/>
        </p:nvSpPr>
        <p:spPr>
          <a:xfrm>
            <a:off x="3337560" y="502920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52" name="kanal-raqam"/>
          <p:cNvSpPr txBox="1"/>
          <p:nvPr/>
        </p:nvSpPr>
        <p:spPr>
          <a:xfrm>
            <a:off x="3429000" y="5193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600" dirty="0"/>
          </a:p>
        </p:txBody>
      </p:sp>
      <p:sp>
        <p:nvSpPr>
          <p:cNvPr id="53" name="kanal"/>
          <p:cNvSpPr txBox="1"/>
          <p:nvPr/>
        </p:nvSpPr>
        <p:spPr>
          <a:xfrm>
            <a:off x="3931920" y="5029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Innovatsiya va tarqalish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yangi biznes modellar, bilim almashinuvi</a:t>
            </a:r>
            <a:endParaRPr lang="en-US" sz="1400" dirty="0"/>
          </a:p>
        </p:txBody>
      </p:sp>
      <p:sp>
        <p:nvSpPr>
          <p:cNvPr id="54" name="kanal-had"/>
          <p:cNvSpPr/>
          <p:nvPr/>
        </p:nvSpPr>
        <p:spPr>
          <a:xfrm>
            <a:off x="7589520" y="5230368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/>
        </p:spPr>
      </p:sp>
      <p:sp>
        <p:nvSpPr>
          <p:cNvPr id="55" name="kanal-had-matn"/>
          <p:cNvSpPr txBox="1"/>
          <p:nvPr/>
        </p:nvSpPr>
        <p:spPr>
          <a:xfrm>
            <a:off x="7589520" y="523036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</a:t>
            </a:r>
            <a:endParaRPr lang="en-US" sz="1100" dirty="0"/>
          </a:p>
        </p:txBody>
      </p:sp>
      <p:sp>
        <p:nvSpPr>
          <p:cNvPr id="56" name="kanal-strelka2"/>
          <p:cNvSpPr/>
          <p:nvPr/>
        </p:nvSpPr>
        <p:spPr>
          <a:xfrm>
            <a:off x="8503920" y="5394960"/>
            <a:ext cx="86868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57" name="izoh"/>
          <p:cNvSpPr txBox="1"/>
          <p:nvPr/>
        </p:nvSpPr>
        <p:spPr>
          <a:xfrm>
            <a:off x="333756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Ko‘k yorliq — kanal formulaning qaysi hadiga ta’sir qilishi (keyingi slayd).</a:t>
            </a:r>
            <a:endParaRPr lang="en-US" sz="1200" dirty="0"/>
          </a:p>
        </p:txBody>
      </p:sp>
      <p:sp>
        <p:nvSpPr>
          <p:cNvPr id="58" name="manba"/>
          <p:cNvSpPr txBox="1"/>
          <p:nvPr/>
        </p:nvSpPr>
        <p:spPr>
          <a:xfrm>
            <a:off x="548640" y="6446520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Manbalar: [5], [7], [8]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shrut"/>
          <p:cNvSpPr/>
          <p:nvPr/>
        </p:nvSpPr>
        <p:spPr>
          <a:xfrm>
            <a:off x="8366760" y="566928"/>
            <a:ext cx="3291840" cy="0"/>
          </a:xfrm>
          <a:prstGeom prst="line">
            <a:avLst/>
          </a:prstGeom>
          <a:noFill/>
          <a:ln w="31750">
            <a:solidFill>
              <a:srgbClr val="D5DAE1"/>
            </a:solidFill>
            <a:prstDash val="solid"/>
          </a:ln>
        </p:spPr>
      </p:sp>
      <p:sp>
        <p:nvSpPr>
          <p:cNvPr id="3" name="marshrut-otilgan"/>
          <p:cNvSpPr/>
          <p:nvPr/>
        </p:nvSpPr>
        <p:spPr>
          <a:xfrm>
            <a:off x="8366760" y="566928"/>
            <a:ext cx="658368" cy="0"/>
          </a:xfrm>
          <a:prstGeom prst="line">
            <a:avLst/>
          </a:prstGeom>
          <a:noFill/>
          <a:ln w="31750">
            <a:solidFill>
              <a:srgbClr val="0A84C1"/>
            </a:solidFill>
            <a:prstDash val="solid"/>
          </a:ln>
        </p:spPr>
      </p:sp>
      <p:sp>
        <p:nvSpPr>
          <p:cNvPr id="4" name="bekat"/>
          <p:cNvSpPr/>
          <p:nvPr/>
        </p:nvSpPr>
        <p:spPr>
          <a:xfrm>
            <a:off x="8307324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5" name="bekat-nomi"/>
          <p:cNvSpPr txBox="1"/>
          <p:nvPr/>
        </p:nvSpPr>
        <p:spPr>
          <a:xfrm>
            <a:off x="801928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Nazariya</a:t>
            </a:r>
            <a:endParaRPr lang="en-US" sz="900" dirty="0"/>
          </a:p>
        </p:txBody>
      </p:sp>
      <p:sp>
        <p:nvSpPr>
          <p:cNvPr id="6" name="bekat"/>
          <p:cNvSpPr/>
          <p:nvPr/>
        </p:nvSpPr>
        <p:spPr>
          <a:xfrm>
            <a:off x="8933688" y="475488"/>
            <a:ext cx="182880" cy="182880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7" name="bekat-nomi"/>
          <p:cNvSpPr txBox="1"/>
          <p:nvPr/>
        </p:nvSpPr>
        <p:spPr>
          <a:xfrm>
            <a:off x="8677656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Formula</a:t>
            </a:r>
            <a:endParaRPr lang="en-US" sz="900" dirty="0"/>
          </a:p>
        </p:txBody>
      </p:sp>
      <p:sp>
        <p:nvSpPr>
          <p:cNvPr id="8" name="bekat"/>
          <p:cNvSpPr/>
          <p:nvPr/>
        </p:nvSpPr>
        <p:spPr>
          <a:xfrm>
            <a:off x="9624060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9" name="bekat-nomi"/>
          <p:cNvSpPr txBox="1"/>
          <p:nvPr/>
        </p:nvSpPr>
        <p:spPr>
          <a:xfrm>
            <a:off x="9336024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Statistika</a:t>
            </a:r>
            <a:endParaRPr lang="en-US" sz="900" dirty="0"/>
          </a:p>
        </p:txBody>
      </p:sp>
      <p:sp>
        <p:nvSpPr>
          <p:cNvPr id="10" name="bekat"/>
          <p:cNvSpPr/>
          <p:nvPr/>
        </p:nvSpPr>
        <p:spPr>
          <a:xfrm>
            <a:off x="10282428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1" name="bekat-nomi"/>
          <p:cNvSpPr txBox="1"/>
          <p:nvPr/>
        </p:nvSpPr>
        <p:spPr>
          <a:xfrm>
            <a:off x="9994392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Grafik</a:t>
            </a:r>
            <a:endParaRPr lang="en-US" sz="900" dirty="0"/>
          </a:p>
        </p:txBody>
      </p:sp>
      <p:sp>
        <p:nvSpPr>
          <p:cNvPr id="12" name="bekat"/>
          <p:cNvSpPr/>
          <p:nvPr/>
        </p:nvSpPr>
        <p:spPr>
          <a:xfrm>
            <a:off x="10940796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3" name="bekat-nomi"/>
          <p:cNvSpPr txBox="1"/>
          <p:nvPr/>
        </p:nvSpPr>
        <p:spPr>
          <a:xfrm>
            <a:off x="10652760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Tahlil</a:t>
            </a:r>
            <a:endParaRPr lang="en-US" sz="900" dirty="0"/>
          </a:p>
        </p:txBody>
      </p:sp>
      <p:sp>
        <p:nvSpPr>
          <p:cNvPr id="14" name="bekat"/>
          <p:cNvSpPr/>
          <p:nvPr/>
        </p:nvSpPr>
        <p:spPr>
          <a:xfrm>
            <a:off x="11599164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5" name="bekat-nomi"/>
          <p:cNvSpPr txBox="1"/>
          <p:nvPr/>
        </p:nvSpPr>
        <p:spPr>
          <a:xfrm>
            <a:off x="1131112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Xulosa</a:t>
            </a:r>
            <a:endParaRPr lang="en-US" sz="900" dirty="0"/>
          </a:p>
        </p:txBody>
      </p:sp>
      <p:sp>
        <p:nvSpPr>
          <p:cNvPr id="16" name="sahifa"/>
          <p:cNvSpPr txBox="1"/>
          <p:nvPr/>
        </p:nvSpPr>
        <p:spPr>
          <a:xfrm>
            <a:off x="9692640" y="64465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13-mavzu  ·  5 / 15</a:t>
            </a:r>
            <a:endParaRPr lang="en-US" sz="100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384048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Formula: unumdorlik o‘sishini manbalarga ajratamiz</a:t>
            </a:r>
            <a:endParaRPr lang="en-US" sz="2800" dirty="0"/>
          </a:p>
        </p:txBody>
      </p:sp>
      <p:sp>
        <p:nvSpPr>
          <p:cNvPr id="18" name="formula-fon"/>
          <p:cNvSpPr/>
          <p:nvPr/>
        </p:nvSpPr>
        <p:spPr>
          <a:xfrm>
            <a:off x="548640" y="1508760"/>
            <a:ext cx="704088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9" name="formula-yorliq"/>
          <p:cNvSpPr txBox="1"/>
          <p:nvPr/>
        </p:nvSpPr>
        <p:spPr>
          <a:xfrm>
            <a:off x="822960" y="16916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1. Kengaytirilgan Cobb–Douglas ishlab chiqarish funksiyasi</a:t>
            </a:r>
            <a:endParaRPr lang="en-US" sz="1200" dirty="0"/>
          </a:p>
        </p:txBody>
      </p:sp>
      <p:sp>
        <p:nvSpPr>
          <p:cNvPr id="20" name="formula"/>
          <p:cNvSpPr txBox="1"/>
          <p:nvPr/>
        </p:nvSpPr>
        <p:spPr>
          <a:xfrm>
            <a:off x="822960" y="198424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A · K</a:t>
            </a:r>
            <a:pPr indent="0" marL="0">
              <a:buNone/>
            </a:pPr>
            <a:r>
              <a:rPr lang="en-US" sz="2600" baseline="300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</a:t>
            </a:r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D</a:t>
            </a:r>
            <a:pPr indent="0" marL="0">
              <a:buNone/>
            </a:pPr>
            <a:r>
              <a:rPr lang="en-US" sz="2600" baseline="300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</a:t>
            </a:r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L</a:t>
            </a:r>
            <a:pPr indent="0" marL="0">
              <a:buNone/>
            </a:pPr>
            <a:r>
              <a:rPr lang="en-US" sz="2600" baseline="300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1−α−γ</a:t>
            </a:r>
            <a:endParaRPr lang="en-US" sz="2600" dirty="0"/>
          </a:p>
        </p:txBody>
      </p:sp>
      <p:sp>
        <p:nvSpPr>
          <p:cNvPr id="21" name="formula-yorliq"/>
          <p:cNvSpPr txBox="1"/>
          <p:nvPr/>
        </p:nvSpPr>
        <p:spPr>
          <a:xfrm>
            <a:off x="822960" y="27889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2. Bitta xodimga (Y, K, D ni L ga bo‘lamiz)</a:t>
            </a:r>
            <a:endParaRPr lang="en-US" sz="1200" dirty="0"/>
          </a:p>
        </p:txBody>
      </p:sp>
      <p:sp>
        <p:nvSpPr>
          <p:cNvPr id="22" name="formula"/>
          <p:cNvSpPr txBox="1"/>
          <p:nvPr/>
        </p:nvSpPr>
        <p:spPr>
          <a:xfrm>
            <a:off x="82296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Y/L = A · k</a:t>
            </a:r>
            <a:pPr indent="0" marL="0">
              <a:buNone/>
            </a:pPr>
            <a:r>
              <a:rPr lang="en-US" sz="2600" baseline="300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</a:t>
            </a:r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d</a:t>
            </a:r>
            <a:pPr indent="0" marL="0">
              <a:buNone/>
            </a:pPr>
            <a:r>
              <a:rPr lang="en-US" sz="2600" baseline="300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</a:t>
            </a:r>
            <a:endParaRPr lang="en-US" sz="2600" dirty="0"/>
          </a:p>
        </p:txBody>
      </p:sp>
      <p:sp>
        <p:nvSpPr>
          <p:cNvPr id="23" name="formula-yorliq"/>
          <p:cNvSpPr txBox="1"/>
          <p:nvPr/>
        </p:nvSpPr>
        <p:spPr>
          <a:xfrm>
            <a:off x="822960" y="38862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3. O‘sish sur’atlarida (logarifm olib, vaqt bo‘yicha differensiallaymiz)</a:t>
            </a:r>
            <a:endParaRPr lang="en-US" sz="1200" dirty="0"/>
          </a:p>
        </p:txBody>
      </p:sp>
      <p:sp>
        <p:nvSpPr>
          <p:cNvPr id="24" name="formula"/>
          <p:cNvSpPr txBox="1"/>
          <p:nvPr/>
        </p:nvSpPr>
        <p:spPr>
          <a:xfrm>
            <a:off x="822960" y="417880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pPr indent="0" marL="0">
              <a:buNone/>
            </a:pPr>
            <a:r>
              <a:rPr lang="en-US" sz="2600" baseline="-400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g</a:t>
            </a:r>
            <a:pPr indent="0" marL="0">
              <a:buNone/>
            </a:pPr>
            <a:r>
              <a:rPr lang="en-US" sz="2600" baseline="-400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</a:t>
            </a:r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+ α·g</a:t>
            </a:r>
            <a:pPr indent="0" marL="0">
              <a:buNone/>
            </a:pPr>
            <a:r>
              <a:rPr lang="en-US" sz="2600" baseline="-400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</a:t>
            </a:r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+ γ·g</a:t>
            </a:r>
            <a:pPr indent="0" marL="0">
              <a:buNone/>
            </a:pPr>
            <a:r>
              <a:rPr lang="en-US" sz="2600" baseline="-400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</a:t>
            </a:r>
            <a:endParaRPr lang="en-US" sz="2600" dirty="0"/>
          </a:p>
        </p:txBody>
      </p:sp>
      <p:sp>
        <p:nvSpPr>
          <p:cNvPr id="25" name="formula-misol"/>
          <p:cNvSpPr txBox="1"/>
          <p:nvPr/>
        </p:nvSpPr>
        <p:spPr>
          <a:xfrm>
            <a:off x="822960" y="48920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</a:rPr>
              <a:t>γ — raqamli kapital elastikligi: d 1% oshsa, y taxminan γ% oshadi. Masalan, γ = 0,1 bo‘lsa, d ning 10% o‘sishi y ni ≈1% oshiradi.</a:t>
            </a:r>
            <a:endParaRPr lang="en-US" sz="1300" dirty="0"/>
          </a:p>
        </p:txBody>
      </p:sp>
      <p:sp>
        <p:nvSpPr>
          <p:cNvPr id="26" name="hadlar-sarlavha"/>
          <p:cNvSpPr txBox="1"/>
          <p:nvPr/>
        </p:nvSpPr>
        <p:spPr>
          <a:xfrm>
            <a:off x="7909560" y="15087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Hadlar</a:t>
            </a:r>
            <a:endParaRPr lang="en-US" sz="1600" dirty="0"/>
          </a:p>
        </p:txBody>
      </p:sp>
      <p:sp>
        <p:nvSpPr>
          <p:cNvPr id="27" name="had"/>
          <p:cNvSpPr txBox="1"/>
          <p:nvPr/>
        </p:nvSpPr>
        <p:spPr>
          <a:xfrm>
            <a:off x="7909560" y="192024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A84C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endParaRPr lang="en-US" sz="2000" dirty="0"/>
          </a:p>
        </p:txBody>
      </p:sp>
      <p:sp>
        <p:nvSpPr>
          <p:cNvPr id="28" name="had-izoh"/>
          <p:cNvSpPr txBox="1"/>
          <p:nvPr/>
        </p:nvSpPr>
        <p:spPr>
          <a:xfrm>
            <a:off x="8641080" y="193852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mehnat unumdorligi (YaIM / band xodim)</a:t>
            </a:r>
            <a:endParaRPr lang="en-US" sz="1300" dirty="0"/>
          </a:p>
        </p:txBody>
      </p:sp>
      <p:sp>
        <p:nvSpPr>
          <p:cNvPr id="29" name="had"/>
          <p:cNvSpPr txBox="1"/>
          <p:nvPr/>
        </p:nvSpPr>
        <p:spPr>
          <a:xfrm>
            <a:off x="7909560" y="257860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A84C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</a:t>
            </a:r>
            <a:endParaRPr lang="en-US" sz="2000" dirty="0"/>
          </a:p>
        </p:txBody>
      </p:sp>
      <p:sp>
        <p:nvSpPr>
          <p:cNvPr id="30" name="had-izoh"/>
          <p:cNvSpPr txBox="1"/>
          <p:nvPr/>
        </p:nvSpPr>
        <p:spPr>
          <a:xfrm>
            <a:off x="8641080" y="259689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umumiy omil unumdorligi (TFP): texnologiya, tashkil etish — 1 va 5-kanal</a:t>
            </a:r>
            <a:endParaRPr lang="en-US" sz="1300" dirty="0"/>
          </a:p>
        </p:txBody>
      </p:sp>
      <p:sp>
        <p:nvSpPr>
          <p:cNvPr id="31" name="had"/>
          <p:cNvSpPr txBox="1"/>
          <p:nvPr/>
        </p:nvSpPr>
        <p:spPr>
          <a:xfrm>
            <a:off x="7909560" y="323697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A84C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</a:t>
            </a:r>
            <a:endParaRPr lang="en-US" sz="2000" dirty="0"/>
          </a:p>
        </p:txBody>
      </p:sp>
      <p:sp>
        <p:nvSpPr>
          <p:cNvPr id="32" name="had-izoh"/>
          <p:cNvSpPr txBox="1"/>
          <p:nvPr/>
        </p:nvSpPr>
        <p:spPr>
          <a:xfrm>
            <a:off x="8641080" y="325526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oddiy kapital / xodim (bino, mashina)</a:t>
            </a:r>
            <a:endParaRPr lang="en-US" sz="1300" dirty="0"/>
          </a:p>
        </p:txBody>
      </p:sp>
      <p:sp>
        <p:nvSpPr>
          <p:cNvPr id="33" name="had"/>
          <p:cNvSpPr txBox="1"/>
          <p:nvPr/>
        </p:nvSpPr>
        <p:spPr>
          <a:xfrm>
            <a:off x="7909560" y="389534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A84C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</a:t>
            </a:r>
            <a:endParaRPr lang="en-US" sz="2000" dirty="0"/>
          </a:p>
        </p:txBody>
      </p:sp>
      <p:sp>
        <p:nvSpPr>
          <p:cNvPr id="34" name="had-izoh"/>
          <p:cNvSpPr txBox="1"/>
          <p:nvPr/>
        </p:nvSpPr>
        <p:spPr>
          <a:xfrm>
            <a:off x="8641080" y="391363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raqamli kapital / xodim (tarmoq, kompyuter, dastur) — 2-kanal</a:t>
            </a:r>
            <a:endParaRPr lang="en-US" sz="1300" dirty="0"/>
          </a:p>
        </p:txBody>
      </p:sp>
      <p:sp>
        <p:nvSpPr>
          <p:cNvPr id="35" name="had"/>
          <p:cNvSpPr txBox="1"/>
          <p:nvPr/>
        </p:nvSpPr>
        <p:spPr>
          <a:xfrm>
            <a:off x="7909560" y="455371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A84C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α, γ</a:t>
            </a:r>
            <a:endParaRPr lang="en-US" sz="2000" dirty="0"/>
          </a:p>
        </p:txBody>
      </p:sp>
      <p:sp>
        <p:nvSpPr>
          <p:cNvPr id="36" name="had-izoh"/>
          <p:cNvSpPr txBox="1"/>
          <p:nvPr/>
        </p:nvSpPr>
        <p:spPr>
          <a:xfrm>
            <a:off x="8641080" y="457200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kapital va raqamli kapitalning ulushi (elastikligi)</a:t>
            </a:r>
            <a:endParaRPr lang="en-US" sz="1300" dirty="0"/>
          </a:p>
        </p:txBody>
      </p:sp>
      <p:sp>
        <p:nvSpPr>
          <p:cNvPr id="37" name="had"/>
          <p:cNvSpPr txBox="1"/>
          <p:nvPr/>
        </p:nvSpPr>
        <p:spPr>
          <a:xfrm>
            <a:off x="7909560" y="521208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A84C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endParaRPr lang="en-US" sz="2000" dirty="0"/>
          </a:p>
        </p:txBody>
      </p:sp>
      <p:sp>
        <p:nvSpPr>
          <p:cNvPr id="38" name="had-izoh"/>
          <p:cNvSpPr txBox="1"/>
          <p:nvPr/>
        </p:nvSpPr>
        <p:spPr>
          <a:xfrm>
            <a:off x="8641080" y="523036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band xodimlar (sifati — 3 va 4-kanal)</a:t>
            </a:r>
            <a:endParaRPr lang="en-US" sz="1300" dirty="0"/>
          </a:p>
        </p:txBody>
      </p:sp>
      <p:sp>
        <p:nvSpPr>
          <p:cNvPr id="39" name="manba"/>
          <p:cNvSpPr txBox="1"/>
          <p:nvPr/>
        </p:nvSpPr>
        <p:spPr>
          <a:xfrm>
            <a:off x="548640" y="6446520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Asos: Solow o‘sish hisobi; Jorgenson va Stiroh (2000) AKT kapitali bilan kengaytirgan [11]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shrut"/>
          <p:cNvSpPr/>
          <p:nvPr/>
        </p:nvSpPr>
        <p:spPr>
          <a:xfrm>
            <a:off x="8366760" y="566928"/>
            <a:ext cx="3291840" cy="0"/>
          </a:xfrm>
          <a:prstGeom prst="line">
            <a:avLst/>
          </a:prstGeom>
          <a:noFill/>
          <a:ln w="31750">
            <a:solidFill>
              <a:srgbClr val="D5DAE1"/>
            </a:solidFill>
            <a:prstDash val="solid"/>
          </a:ln>
        </p:spPr>
      </p:sp>
      <p:sp>
        <p:nvSpPr>
          <p:cNvPr id="3" name="marshrut-otilgan"/>
          <p:cNvSpPr/>
          <p:nvPr/>
        </p:nvSpPr>
        <p:spPr>
          <a:xfrm>
            <a:off x="8366760" y="566928"/>
            <a:ext cx="658368" cy="0"/>
          </a:xfrm>
          <a:prstGeom prst="line">
            <a:avLst/>
          </a:prstGeom>
          <a:noFill/>
          <a:ln w="31750">
            <a:solidFill>
              <a:srgbClr val="0A84C1"/>
            </a:solidFill>
            <a:prstDash val="solid"/>
          </a:ln>
        </p:spPr>
      </p:sp>
      <p:sp>
        <p:nvSpPr>
          <p:cNvPr id="4" name="bekat"/>
          <p:cNvSpPr/>
          <p:nvPr/>
        </p:nvSpPr>
        <p:spPr>
          <a:xfrm>
            <a:off x="8307324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5" name="bekat-nomi"/>
          <p:cNvSpPr txBox="1"/>
          <p:nvPr/>
        </p:nvSpPr>
        <p:spPr>
          <a:xfrm>
            <a:off x="801928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Nazariya</a:t>
            </a:r>
            <a:endParaRPr lang="en-US" sz="900" dirty="0"/>
          </a:p>
        </p:txBody>
      </p:sp>
      <p:sp>
        <p:nvSpPr>
          <p:cNvPr id="6" name="bekat"/>
          <p:cNvSpPr/>
          <p:nvPr/>
        </p:nvSpPr>
        <p:spPr>
          <a:xfrm>
            <a:off x="8933688" y="475488"/>
            <a:ext cx="182880" cy="182880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7" name="bekat-nomi"/>
          <p:cNvSpPr txBox="1"/>
          <p:nvPr/>
        </p:nvSpPr>
        <p:spPr>
          <a:xfrm>
            <a:off x="8677656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Formula</a:t>
            </a:r>
            <a:endParaRPr lang="en-US" sz="900" dirty="0"/>
          </a:p>
        </p:txBody>
      </p:sp>
      <p:sp>
        <p:nvSpPr>
          <p:cNvPr id="8" name="bekat"/>
          <p:cNvSpPr/>
          <p:nvPr/>
        </p:nvSpPr>
        <p:spPr>
          <a:xfrm>
            <a:off x="9624060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9" name="bekat-nomi"/>
          <p:cNvSpPr txBox="1"/>
          <p:nvPr/>
        </p:nvSpPr>
        <p:spPr>
          <a:xfrm>
            <a:off x="9336024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Statistika</a:t>
            </a:r>
            <a:endParaRPr lang="en-US" sz="900" dirty="0"/>
          </a:p>
        </p:txBody>
      </p:sp>
      <p:sp>
        <p:nvSpPr>
          <p:cNvPr id="10" name="bekat"/>
          <p:cNvSpPr/>
          <p:nvPr/>
        </p:nvSpPr>
        <p:spPr>
          <a:xfrm>
            <a:off x="10282428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1" name="bekat-nomi"/>
          <p:cNvSpPr txBox="1"/>
          <p:nvPr/>
        </p:nvSpPr>
        <p:spPr>
          <a:xfrm>
            <a:off x="9994392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Grafik</a:t>
            </a:r>
            <a:endParaRPr lang="en-US" sz="900" dirty="0"/>
          </a:p>
        </p:txBody>
      </p:sp>
      <p:sp>
        <p:nvSpPr>
          <p:cNvPr id="12" name="bekat"/>
          <p:cNvSpPr/>
          <p:nvPr/>
        </p:nvSpPr>
        <p:spPr>
          <a:xfrm>
            <a:off x="10940796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3" name="bekat-nomi"/>
          <p:cNvSpPr txBox="1"/>
          <p:nvPr/>
        </p:nvSpPr>
        <p:spPr>
          <a:xfrm>
            <a:off x="10652760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Tahlil</a:t>
            </a:r>
            <a:endParaRPr lang="en-US" sz="900" dirty="0"/>
          </a:p>
        </p:txBody>
      </p:sp>
      <p:sp>
        <p:nvSpPr>
          <p:cNvPr id="14" name="bekat"/>
          <p:cNvSpPr/>
          <p:nvPr/>
        </p:nvSpPr>
        <p:spPr>
          <a:xfrm>
            <a:off x="11599164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5" name="bekat-nomi"/>
          <p:cNvSpPr txBox="1"/>
          <p:nvPr/>
        </p:nvSpPr>
        <p:spPr>
          <a:xfrm>
            <a:off x="1131112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Xulosa</a:t>
            </a:r>
            <a:endParaRPr lang="en-US" sz="900" dirty="0"/>
          </a:p>
        </p:txBody>
      </p:sp>
      <p:sp>
        <p:nvSpPr>
          <p:cNvPr id="16" name="sahifa"/>
          <p:cNvSpPr txBox="1"/>
          <p:nvPr/>
        </p:nvSpPr>
        <p:spPr>
          <a:xfrm>
            <a:off x="9692640" y="64465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13-mavzu  ·  6 / 15</a:t>
            </a:r>
            <a:endParaRPr lang="en-US" sz="100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384048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Formula: bog‘liqlikni regressiya bilan o‘lchaymiz</a:t>
            </a:r>
            <a:endParaRPr lang="en-US" sz="2800" dirty="0"/>
          </a:p>
        </p:txBody>
      </p:sp>
      <p:sp>
        <p:nvSpPr>
          <p:cNvPr id="18" name="model-fon"/>
          <p:cNvSpPr/>
          <p:nvPr/>
        </p:nvSpPr>
        <p:spPr>
          <a:xfrm>
            <a:off x="548640" y="1508760"/>
            <a:ext cx="54406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9" name="model-sarlavha"/>
          <p:cNvSpPr txBox="1"/>
          <p:nvPr/>
        </p:nvSpPr>
        <p:spPr>
          <a:xfrm>
            <a:off x="777240" y="164592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A) Vaqt qatori: O‘zbekiston, 2010–2024</a:t>
            </a:r>
            <a:endParaRPr lang="en-US" sz="1500" dirty="0"/>
          </a:p>
        </p:txBody>
      </p:sp>
      <p:sp>
        <p:nvSpPr>
          <p:cNvPr id="20" name="model-formula"/>
          <p:cNvSpPr txBox="1"/>
          <p:nvPr/>
        </p:nvSpPr>
        <p:spPr>
          <a:xfrm>
            <a:off x="777240" y="20574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ln y</a:t>
            </a:r>
            <a:pPr indent="0" marL="0">
              <a:buNone/>
            </a:pPr>
            <a:r>
              <a:rPr lang="en-US" sz="2100" baseline="-400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β</a:t>
            </a:r>
            <a:pPr indent="0" marL="0">
              <a:buNone/>
            </a:pPr>
            <a:r>
              <a:rPr lang="en-US" sz="2100" baseline="-400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</a:t>
            </a:r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+ β</a:t>
            </a:r>
            <a:pPr indent="0" marL="0">
              <a:buNone/>
            </a:pPr>
            <a:r>
              <a:rPr lang="en-US" sz="2100" baseline="-400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</a:t>
            </a:r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·ln Internet</a:t>
            </a:r>
            <a:pPr indent="0" marL="0">
              <a:buNone/>
            </a:pPr>
            <a:r>
              <a:rPr lang="en-US" sz="2100" baseline="-400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+ ε</a:t>
            </a:r>
            <a:pPr indent="0" marL="0">
              <a:buNone/>
            </a:pPr>
            <a:r>
              <a:rPr lang="en-US" sz="2100" baseline="-400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endParaRPr lang="en-US" sz="2100" dirty="0"/>
          </a:p>
        </p:txBody>
      </p:sp>
      <p:sp>
        <p:nvSpPr>
          <p:cNvPr id="21" name="model-izoh"/>
          <p:cNvSpPr txBox="1"/>
          <p:nvPr/>
        </p:nvSpPr>
        <p:spPr>
          <a:xfrm>
            <a:off x="777240" y="2743200"/>
            <a:ext cx="4983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β₁ — elastiklik: internetdan foydalanuvchilar 1% ko‘paysa, unumdorlik β₁% o‘zgaradi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n = 15 yil; xuddi shu model keng polosali obunalar bilan ham baholanadi</a:t>
            </a:r>
            <a:endParaRPr lang="en-US" sz="1300" dirty="0"/>
          </a:p>
        </p:txBody>
      </p:sp>
      <p:sp>
        <p:nvSpPr>
          <p:cNvPr id="22" name="model-fon"/>
          <p:cNvSpPr/>
          <p:nvPr/>
        </p:nvSpPr>
        <p:spPr>
          <a:xfrm>
            <a:off x="6172200" y="1508760"/>
            <a:ext cx="5468112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3" name="model-sarlavha"/>
          <p:cNvSpPr txBox="1"/>
          <p:nvPr/>
        </p:nvSpPr>
        <p:spPr>
          <a:xfrm>
            <a:off x="6400800" y="1645920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B) Kesim: 39 mamlakat, 2023</a:t>
            </a:r>
            <a:endParaRPr lang="en-US" sz="1500" dirty="0"/>
          </a:p>
        </p:txBody>
      </p:sp>
      <p:sp>
        <p:nvSpPr>
          <p:cNvPr id="24" name="model-formula"/>
          <p:cNvSpPr txBox="1"/>
          <p:nvPr/>
        </p:nvSpPr>
        <p:spPr>
          <a:xfrm>
            <a:off x="6400800" y="2057400"/>
            <a:ext cx="5010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ln y</a:t>
            </a:r>
            <a:pPr indent="0" marL="0">
              <a:buNone/>
            </a:pPr>
            <a:r>
              <a:rPr lang="en-US" sz="2100" baseline="-400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β</a:t>
            </a:r>
            <a:pPr indent="0" marL="0">
              <a:buNone/>
            </a:pPr>
            <a:r>
              <a:rPr lang="en-US" sz="2100" baseline="-400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</a:t>
            </a:r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+ β</a:t>
            </a:r>
            <a:pPr indent="0" marL="0">
              <a:buNone/>
            </a:pPr>
            <a:r>
              <a:rPr lang="en-US" sz="2100" baseline="-400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</a:t>
            </a:r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·Internet</a:t>
            </a:r>
            <a:pPr indent="0" marL="0">
              <a:buNone/>
            </a:pPr>
            <a:r>
              <a:rPr lang="en-US" sz="2100" baseline="-400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+ ε</a:t>
            </a:r>
            <a:pPr indent="0" marL="0">
              <a:buNone/>
            </a:pPr>
            <a:r>
              <a:rPr lang="en-US" sz="2100" baseline="-400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endParaRPr lang="en-US" sz="2100" dirty="0"/>
          </a:p>
        </p:txBody>
      </p:sp>
      <p:sp>
        <p:nvSpPr>
          <p:cNvPr id="25" name="model-izoh"/>
          <p:cNvSpPr txBox="1"/>
          <p:nvPr/>
        </p:nvSpPr>
        <p:spPr>
          <a:xfrm>
            <a:off x="6400800" y="2743200"/>
            <a:ext cx="5010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Internet +10 f.p. bo‘lsa, unumdorlik 100·(e^(10β₁) − 1) % ga farq qiladi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Model chizig‘i har mamlakat uchun «kutilgan» unumdorlikni beradi</a:t>
            </a:r>
            <a:endParaRPr lang="en-US" sz="1300" dirty="0"/>
          </a:p>
        </p:txBody>
      </p:sp>
      <p:sp>
        <p:nvSpPr>
          <p:cNvPr id="26" name="ekk-fon"/>
          <p:cNvSpPr/>
          <p:nvPr/>
        </p:nvSpPr>
        <p:spPr>
          <a:xfrm>
            <a:off x="548640" y="475488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E8EEF5"/>
          </a:solidFill>
          <a:ln/>
        </p:spPr>
      </p:sp>
      <p:sp>
        <p:nvSpPr>
          <p:cNvPr id="27" name="ekk"/>
          <p:cNvSpPr txBox="1"/>
          <p:nvPr/>
        </p:nvSpPr>
        <p:spPr>
          <a:xfrm>
            <a:off x="777240" y="4846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Eng kichik kvadratlar usuli (EKKU):  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β₁ = Σ(x − x̄)(y − ȳ) / Σ(x − x̄)²</a:t>
            </a:r>
            <a:endParaRPr lang="en-US" sz="1400" dirty="0"/>
          </a:p>
        </p:txBody>
      </p:sp>
      <p:sp>
        <p:nvSpPr>
          <p:cNvPr id="28" name="ogohlantirish"/>
          <p:cNvSpPr txBox="1"/>
          <p:nvPr/>
        </p:nvSpPr>
        <p:spPr>
          <a:xfrm>
            <a:off x="777240" y="532180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</a:rPr>
              <a:t>Ogohlantirish: regressiya bog‘liqlikni o‘lchaydi, sababni emas. Boy mamlakatlar internetga ko‘proq sarflaydi (endogenlik). Czernich va b. buni eski telefon/kabel tarmoqlari orqali (instrumental o‘zgaruvchi) hal qilgan [5].</a:t>
            </a:r>
            <a:endParaRPr lang="en-US" sz="1300" dirty="0"/>
          </a:p>
        </p:txBody>
      </p:sp>
      <p:sp>
        <p:nvSpPr>
          <p:cNvPr id="29" name="manba"/>
          <p:cNvSpPr txBox="1"/>
          <p:nvPr/>
        </p:nvSpPr>
        <p:spPr>
          <a:xfrm>
            <a:off x="548640" y="6446520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Hisob-kitob: talaba, Jahon banki WDI ma’lumotlari asosida [1]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shrut"/>
          <p:cNvSpPr/>
          <p:nvPr/>
        </p:nvSpPr>
        <p:spPr>
          <a:xfrm>
            <a:off x="8366760" y="566928"/>
            <a:ext cx="3291840" cy="0"/>
          </a:xfrm>
          <a:prstGeom prst="line">
            <a:avLst/>
          </a:prstGeom>
          <a:noFill/>
          <a:ln w="31750">
            <a:solidFill>
              <a:srgbClr val="D5DAE1"/>
            </a:solidFill>
            <a:prstDash val="solid"/>
          </a:ln>
        </p:spPr>
      </p:sp>
      <p:sp>
        <p:nvSpPr>
          <p:cNvPr id="3" name="marshrut-otilgan"/>
          <p:cNvSpPr/>
          <p:nvPr/>
        </p:nvSpPr>
        <p:spPr>
          <a:xfrm>
            <a:off x="8366760" y="566928"/>
            <a:ext cx="1316736" cy="0"/>
          </a:xfrm>
          <a:prstGeom prst="line">
            <a:avLst/>
          </a:prstGeom>
          <a:noFill/>
          <a:ln w="31750">
            <a:solidFill>
              <a:srgbClr val="0A84C1"/>
            </a:solidFill>
            <a:prstDash val="solid"/>
          </a:ln>
        </p:spPr>
      </p:sp>
      <p:sp>
        <p:nvSpPr>
          <p:cNvPr id="4" name="bekat"/>
          <p:cNvSpPr/>
          <p:nvPr/>
        </p:nvSpPr>
        <p:spPr>
          <a:xfrm>
            <a:off x="8307324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5" name="bekat-nomi"/>
          <p:cNvSpPr txBox="1"/>
          <p:nvPr/>
        </p:nvSpPr>
        <p:spPr>
          <a:xfrm>
            <a:off x="801928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Nazariya</a:t>
            </a:r>
            <a:endParaRPr lang="en-US" sz="900" dirty="0"/>
          </a:p>
        </p:txBody>
      </p:sp>
      <p:sp>
        <p:nvSpPr>
          <p:cNvPr id="6" name="bekat"/>
          <p:cNvSpPr/>
          <p:nvPr/>
        </p:nvSpPr>
        <p:spPr>
          <a:xfrm>
            <a:off x="8965692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7" name="bekat-nomi"/>
          <p:cNvSpPr txBox="1"/>
          <p:nvPr/>
        </p:nvSpPr>
        <p:spPr>
          <a:xfrm>
            <a:off x="8677656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Formula</a:t>
            </a:r>
            <a:endParaRPr lang="en-US" sz="900" dirty="0"/>
          </a:p>
        </p:txBody>
      </p:sp>
      <p:sp>
        <p:nvSpPr>
          <p:cNvPr id="8" name="bekat"/>
          <p:cNvSpPr/>
          <p:nvPr/>
        </p:nvSpPr>
        <p:spPr>
          <a:xfrm>
            <a:off x="9592056" y="475488"/>
            <a:ext cx="182880" cy="182880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9" name="bekat-nomi"/>
          <p:cNvSpPr txBox="1"/>
          <p:nvPr/>
        </p:nvSpPr>
        <p:spPr>
          <a:xfrm>
            <a:off x="9336024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Statistika</a:t>
            </a:r>
            <a:endParaRPr lang="en-US" sz="900" dirty="0"/>
          </a:p>
        </p:txBody>
      </p:sp>
      <p:sp>
        <p:nvSpPr>
          <p:cNvPr id="10" name="bekat"/>
          <p:cNvSpPr/>
          <p:nvPr/>
        </p:nvSpPr>
        <p:spPr>
          <a:xfrm>
            <a:off x="10282428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1" name="bekat-nomi"/>
          <p:cNvSpPr txBox="1"/>
          <p:nvPr/>
        </p:nvSpPr>
        <p:spPr>
          <a:xfrm>
            <a:off x="9994392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Grafik</a:t>
            </a:r>
            <a:endParaRPr lang="en-US" sz="900" dirty="0"/>
          </a:p>
        </p:txBody>
      </p:sp>
      <p:sp>
        <p:nvSpPr>
          <p:cNvPr id="12" name="bekat"/>
          <p:cNvSpPr/>
          <p:nvPr/>
        </p:nvSpPr>
        <p:spPr>
          <a:xfrm>
            <a:off x="10940796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3" name="bekat-nomi"/>
          <p:cNvSpPr txBox="1"/>
          <p:nvPr/>
        </p:nvSpPr>
        <p:spPr>
          <a:xfrm>
            <a:off x="10652760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Tahlil</a:t>
            </a:r>
            <a:endParaRPr lang="en-US" sz="900" dirty="0"/>
          </a:p>
        </p:txBody>
      </p:sp>
      <p:sp>
        <p:nvSpPr>
          <p:cNvPr id="14" name="bekat"/>
          <p:cNvSpPr/>
          <p:nvPr/>
        </p:nvSpPr>
        <p:spPr>
          <a:xfrm>
            <a:off x="11599164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5" name="bekat-nomi"/>
          <p:cNvSpPr txBox="1"/>
          <p:nvPr/>
        </p:nvSpPr>
        <p:spPr>
          <a:xfrm>
            <a:off x="1131112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Xulosa</a:t>
            </a:r>
            <a:endParaRPr lang="en-US" sz="900" dirty="0"/>
          </a:p>
        </p:txBody>
      </p:sp>
      <p:sp>
        <p:nvSpPr>
          <p:cNvPr id="16" name="sahifa"/>
          <p:cNvSpPr txBox="1"/>
          <p:nvPr/>
        </p:nvSpPr>
        <p:spPr>
          <a:xfrm>
            <a:off x="9692640" y="64465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13-mavzu  ·  7 / 15</a:t>
            </a:r>
            <a:endParaRPr lang="en-US" sz="100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384048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Statistik tahlil: O‘zbekistonda ulanish tez, unumdorlik barqaror o‘sdi</a:t>
            </a:r>
            <a:endParaRPr lang="en-US" sz="2800" dirty="0"/>
          </a:p>
        </p:txBody>
      </p:sp>
      <p:sp>
        <p:nvSpPr>
          <p:cNvPr id="18" name="katta-raqam"/>
          <p:cNvSpPr txBox="1"/>
          <p:nvPr/>
        </p:nvSpPr>
        <p:spPr>
          <a:xfrm>
            <a:off x="548640" y="1481328"/>
            <a:ext cx="3474720" cy="4729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15,9% → 89,5%</a:t>
            </a:r>
            <a:endParaRPr lang="en-US" sz="3000" dirty="0"/>
          </a:p>
        </p:txBody>
      </p:sp>
      <p:sp>
        <p:nvSpPr>
          <p:cNvPr id="19" name="katta-raqam-izoh"/>
          <p:cNvSpPr txBox="1"/>
          <p:nvPr/>
        </p:nvSpPr>
        <p:spPr>
          <a:xfrm>
            <a:off x="548640" y="199087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internetdan foydalanuvchilar, aholiga nisbatan</a:t>
            </a:r>
            <a:endParaRPr lang="en-US" sz="1200" dirty="0"/>
          </a:p>
        </p:txBody>
      </p:sp>
      <p:sp>
        <p:nvSpPr>
          <p:cNvPr id="20" name="katta-raqam"/>
          <p:cNvSpPr txBox="1"/>
          <p:nvPr/>
        </p:nvSpPr>
        <p:spPr>
          <a:xfrm>
            <a:off x="4343400" y="1481328"/>
            <a:ext cx="3291840" cy="4729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×83</a:t>
            </a:r>
            <a:endParaRPr lang="en-US" sz="3000" dirty="0"/>
          </a:p>
        </p:txBody>
      </p:sp>
      <p:sp>
        <p:nvSpPr>
          <p:cNvPr id="21" name="katta-raqam-izoh"/>
          <p:cNvSpPr txBox="1"/>
          <p:nvPr/>
        </p:nvSpPr>
        <p:spPr>
          <a:xfrm>
            <a:off x="4343400" y="199087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qat’iy keng polosali obuna: 0,42 → 34,74 ta / 100 kishi</a:t>
            </a:r>
            <a:endParaRPr lang="en-US" sz="1200" dirty="0"/>
          </a:p>
        </p:txBody>
      </p:sp>
      <p:sp>
        <p:nvSpPr>
          <p:cNvPr id="22" name="katta-raqam"/>
          <p:cNvSpPr txBox="1"/>
          <p:nvPr/>
        </p:nvSpPr>
        <p:spPr>
          <a:xfrm>
            <a:off x="8001000" y="1481328"/>
            <a:ext cx="3639312" cy="4729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+86%</a:t>
            </a:r>
            <a:endParaRPr lang="en-US" sz="3000" dirty="0"/>
          </a:p>
        </p:txBody>
      </p:sp>
      <p:sp>
        <p:nvSpPr>
          <p:cNvPr id="23" name="katta-raqam-izoh"/>
          <p:cNvSpPr txBox="1"/>
          <p:nvPr/>
        </p:nvSpPr>
        <p:spPr>
          <a:xfrm>
            <a:off x="8001000" y="199087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unumdorlik: 15 561 → 28 948 $ (yiliga 4,53%)</a:t>
            </a:r>
            <a:endParaRPr lang="en-US" sz="1200" dirty="0"/>
          </a:p>
        </p:txBody>
      </p:sp>
      <p:graphicFrame>
        <p:nvGraphicFramePr>
          <p:cNvPr id="8" name="jadva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11091672" cy="914400"/>
        </p:xfrm>
        <a:graphic>
          <a:graphicData uri="http://schemas.openxmlformats.org/drawingml/2006/table">
            <a:tbl>
              <a:tblPr/>
              <a:tblGrid>
                <a:gridCol w="3703320"/>
                <a:gridCol w="923544"/>
                <a:gridCol w="923544"/>
                <a:gridCol w="923544"/>
                <a:gridCol w="923544"/>
                <a:gridCol w="923544"/>
                <a:gridCol w="923544"/>
                <a:gridCol w="923544"/>
                <a:gridCol w="923544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Ko‘rsatkich (O‘zbekiston)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2010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2012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2014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2016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2018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2020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2022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2024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B5563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Internetdan foydalanuvchilar, %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15,9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23,6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35,5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46,8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55,2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71,1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83,9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89,5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B5563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Qat’iy keng polosali obuna / 100 kishi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0,42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0,75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2,71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8,78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12,74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15,81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25,80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34,74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B5563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Unumdorlik, $ / xodim (2021 PPP)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15 561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17 128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19 208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21 361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23 020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24 754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26 371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28 948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B5563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Unumdorlik o‘sishi, oldingi ustunga nisbatan %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—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+10,1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+12,1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+11,2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+7,8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+7,5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+6,5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+9,8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izoh-fon"/>
          <p:cNvSpPr/>
          <p:nvPr/>
        </p:nvSpPr>
        <p:spPr>
          <a:xfrm>
            <a:off x="548640" y="475488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6" name="izoh-nuqta"/>
          <p:cNvSpPr/>
          <p:nvPr/>
        </p:nvSpPr>
        <p:spPr>
          <a:xfrm>
            <a:off x="731520" y="4956048"/>
            <a:ext cx="146304" cy="146304"/>
          </a:xfrm>
          <a:prstGeom prst="ellipse">
            <a:avLst/>
          </a:prstGeom>
          <a:solidFill>
            <a:srgbClr val="0A84C1"/>
          </a:solidFill>
          <a:ln/>
        </p:spPr>
      </p:sp>
      <p:sp>
        <p:nvSpPr>
          <p:cNvPr id="27" name="izoh-sarlavha"/>
          <p:cNvSpPr txBox="1"/>
          <p:nvPr/>
        </p:nvSpPr>
        <p:spPr>
          <a:xfrm>
            <a:off x="969264" y="4864608"/>
            <a:ext cx="10543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Statistik xulosa</a:t>
            </a:r>
            <a:endParaRPr lang="en-US" sz="1400" dirty="0"/>
          </a:p>
        </p:txBody>
      </p:sp>
      <p:sp>
        <p:nvSpPr>
          <p:cNvPr id="28" name="izoh-matn"/>
          <p:cNvSpPr txBox="1"/>
          <p:nvPr/>
        </p:nvSpPr>
        <p:spPr>
          <a:xfrm>
            <a:off x="731520" y="5230368"/>
            <a:ext cx="107259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14 yilda internet qamrovi 73,6 f.p. oshdi, keng polosali obunalar soni dunyo o‘rtachasidan (19,31) ham o‘tib ketdi. Unumdorlik esa sakrashsiz, yiliga ~4,5% dan o‘sdi: ulanish tez, foydaning yig‘ilishi esa sekin.</a:t>
            </a:r>
            <a:endParaRPr lang="en-US" sz="1300" dirty="0"/>
          </a:p>
        </p:txBody>
      </p:sp>
      <p:sp>
        <p:nvSpPr>
          <p:cNvPr id="29" name="manba"/>
          <p:cNvSpPr txBox="1"/>
          <p:nvPr/>
        </p:nvSpPr>
        <p:spPr>
          <a:xfrm>
            <a:off x="548640" y="6446520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Manba: Jahon banki WDI — IT.NET.USER.ZS, IT.NET.BBND.P2 (ITU), SL.GDP.PCAP.EM.KD [1]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Graphic spid="8" grpId="0">
        <p:bldAsOne/>
      </p:bldGraphic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shrut"/>
          <p:cNvSpPr/>
          <p:nvPr/>
        </p:nvSpPr>
        <p:spPr>
          <a:xfrm>
            <a:off x="8366760" y="566928"/>
            <a:ext cx="3291840" cy="0"/>
          </a:xfrm>
          <a:prstGeom prst="line">
            <a:avLst/>
          </a:prstGeom>
          <a:noFill/>
          <a:ln w="31750">
            <a:solidFill>
              <a:srgbClr val="D5DAE1"/>
            </a:solidFill>
            <a:prstDash val="solid"/>
          </a:ln>
        </p:spPr>
      </p:sp>
      <p:sp>
        <p:nvSpPr>
          <p:cNvPr id="3" name="marshrut-otilgan"/>
          <p:cNvSpPr/>
          <p:nvPr/>
        </p:nvSpPr>
        <p:spPr>
          <a:xfrm>
            <a:off x="8366760" y="566928"/>
            <a:ext cx="1975104" cy="0"/>
          </a:xfrm>
          <a:prstGeom prst="line">
            <a:avLst/>
          </a:prstGeom>
          <a:noFill/>
          <a:ln w="31750">
            <a:solidFill>
              <a:srgbClr val="0A84C1"/>
            </a:solidFill>
            <a:prstDash val="solid"/>
          </a:ln>
        </p:spPr>
      </p:sp>
      <p:sp>
        <p:nvSpPr>
          <p:cNvPr id="4" name="bekat"/>
          <p:cNvSpPr/>
          <p:nvPr/>
        </p:nvSpPr>
        <p:spPr>
          <a:xfrm>
            <a:off x="8307324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5" name="bekat-nomi"/>
          <p:cNvSpPr txBox="1"/>
          <p:nvPr/>
        </p:nvSpPr>
        <p:spPr>
          <a:xfrm>
            <a:off x="801928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Nazariya</a:t>
            </a:r>
            <a:endParaRPr lang="en-US" sz="900" dirty="0"/>
          </a:p>
        </p:txBody>
      </p:sp>
      <p:sp>
        <p:nvSpPr>
          <p:cNvPr id="6" name="bekat"/>
          <p:cNvSpPr/>
          <p:nvPr/>
        </p:nvSpPr>
        <p:spPr>
          <a:xfrm>
            <a:off x="8965692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7" name="bekat-nomi"/>
          <p:cNvSpPr txBox="1"/>
          <p:nvPr/>
        </p:nvSpPr>
        <p:spPr>
          <a:xfrm>
            <a:off x="8677656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Formula</a:t>
            </a:r>
            <a:endParaRPr lang="en-US" sz="900" dirty="0"/>
          </a:p>
        </p:txBody>
      </p:sp>
      <p:sp>
        <p:nvSpPr>
          <p:cNvPr id="8" name="bekat"/>
          <p:cNvSpPr/>
          <p:nvPr/>
        </p:nvSpPr>
        <p:spPr>
          <a:xfrm>
            <a:off x="9624060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9" name="bekat-nomi"/>
          <p:cNvSpPr txBox="1"/>
          <p:nvPr/>
        </p:nvSpPr>
        <p:spPr>
          <a:xfrm>
            <a:off x="9336024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Statistika</a:t>
            </a:r>
            <a:endParaRPr lang="en-US" sz="900" dirty="0"/>
          </a:p>
        </p:txBody>
      </p:sp>
      <p:sp>
        <p:nvSpPr>
          <p:cNvPr id="10" name="bekat"/>
          <p:cNvSpPr/>
          <p:nvPr/>
        </p:nvSpPr>
        <p:spPr>
          <a:xfrm>
            <a:off x="10250424" y="475488"/>
            <a:ext cx="182880" cy="182880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11" name="bekat-nomi"/>
          <p:cNvSpPr txBox="1"/>
          <p:nvPr/>
        </p:nvSpPr>
        <p:spPr>
          <a:xfrm>
            <a:off x="9994392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Grafik</a:t>
            </a:r>
            <a:endParaRPr lang="en-US" sz="900" dirty="0"/>
          </a:p>
        </p:txBody>
      </p:sp>
      <p:sp>
        <p:nvSpPr>
          <p:cNvPr id="12" name="bekat"/>
          <p:cNvSpPr/>
          <p:nvPr/>
        </p:nvSpPr>
        <p:spPr>
          <a:xfrm>
            <a:off x="10940796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3" name="bekat-nomi"/>
          <p:cNvSpPr txBox="1"/>
          <p:nvPr/>
        </p:nvSpPr>
        <p:spPr>
          <a:xfrm>
            <a:off x="10652760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Tahlil</a:t>
            </a:r>
            <a:endParaRPr lang="en-US" sz="900" dirty="0"/>
          </a:p>
        </p:txBody>
      </p:sp>
      <p:sp>
        <p:nvSpPr>
          <p:cNvPr id="14" name="bekat"/>
          <p:cNvSpPr/>
          <p:nvPr/>
        </p:nvSpPr>
        <p:spPr>
          <a:xfrm>
            <a:off x="11599164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5" name="bekat-nomi"/>
          <p:cNvSpPr txBox="1"/>
          <p:nvPr/>
        </p:nvSpPr>
        <p:spPr>
          <a:xfrm>
            <a:off x="1131112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Xulosa</a:t>
            </a:r>
            <a:endParaRPr lang="en-US" sz="900" dirty="0"/>
          </a:p>
        </p:txBody>
      </p:sp>
      <p:sp>
        <p:nvSpPr>
          <p:cNvPr id="16" name="sahifa"/>
          <p:cNvSpPr txBox="1"/>
          <p:nvPr/>
        </p:nvSpPr>
        <p:spPr>
          <a:xfrm>
            <a:off x="9692640" y="64465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13-mavzu  ·  8 / 15</a:t>
            </a:r>
            <a:endParaRPr lang="en-US" sz="100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384048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Grafik tahlil: ulanish 2018–2019 da sakradi, unumdorlik esa bir tekis o‘sdi</a:t>
            </a:r>
            <a:endParaRPr lang="en-US" sz="2800" dirty="0"/>
          </a:p>
        </p:txBody>
      </p:sp>
      <p:sp>
        <p:nvSpPr>
          <p:cNvPr id="18" name="grafik-a-sarlavha"/>
          <p:cNvSpPr txBox="1"/>
          <p:nvPr/>
        </p:nvSpPr>
        <p:spPr>
          <a:xfrm>
            <a:off x="548640" y="1463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A. Raqamli infratuzilma, O‘zbekiston</a:t>
            </a:r>
            <a:endParaRPr lang="en-US" sz="1400" dirty="0"/>
          </a:p>
        </p:txBody>
      </p:sp>
      <p:graphicFrame>
        <p:nvGraphicFramePr>
          <p:cNvPr id="19" name="grafik-a" descr=""/>
          <p:cNvGraphicFramePr/>
          <p:nvPr/>
        </p:nvGraphicFramePr>
        <p:xfrm>
          <a:off x="548640" y="1783080"/>
          <a:ext cx="54406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grafik-b-sarlavha"/>
          <p:cNvSpPr txBox="1"/>
          <p:nvPr/>
        </p:nvSpPr>
        <p:spPr>
          <a:xfrm>
            <a:off x="6199632" y="1463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B. Mehnat unumdorligi, $ / xodim (2021 PPP)</a:t>
            </a:r>
            <a:endParaRPr lang="en-US" sz="1400" dirty="0"/>
          </a:p>
        </p:txBody>
      </p:sp>
      <p:graphicFrame>
        <p:nvGraphicFramePr>
          <p:cNvPr id="21" name="grafik-b" descr=""/>
          <p:cNvGraphicFramePr/>
          <p:nvPr/>
        </p:nvGraphicFramePr>
        <p:xfrm>
          <a:off x="6199632" y="1783080"/>
          <a:ext cx="54406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izoh-fon"/>
          <p:cNvSpPr/>
          <p:nvPr/>
        </p:nvSpPr>
        <p:spPr>
          <a:xfrm>
            <a:off x="548640" y="502920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3" name="izoh-nuqta"/>
          <p:cNvSpPr/>
          <p:nvPr/>
        </p:nvSpPr>
        <p:spPr>
          <a:xfrm>
            <a:off x="731520" y="5230368"/>
            <a:ext cx="146304" cy="146304"/>
          </a:xfrm>
          <a:prstGeom prst="ellipse">
            <a:avLst/>
          </a:prstGeom>
          <a:solidFill>
            <a:srgbClr val="0A84C1"/>
          </a:solidFill>
          <a:ln/>
        </p:spPr>
      </p:sp>
      <p:sp>
        <p:nvSpPr>
          <p:cNvPr id="24" name="izoh-sarlavha"/>
          <p:cNvSpPr txBox="1"/>
          <p:nvPr/>
        </p:nvSpPr>
        <p:spPr>
          <a:xfrm>
            <a:off x="969264" y="5138928"/>
            <a:ext cx="10543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Grafikni o‘qish</a:t>
            </a:r>
            <a:endParaRPr lang="en-US" sz="1400" dirty="0"/>
          </a:p>
        </p:txBody>
      </p:sp>
      <p:sp>
        <p:nvSpPr>
          <p:cNvPr id="25" name="izoh-matn"/>
          <p:cNvSpPr txBox="1"/>
          <p:nvPr/>
        </p:nvSpPr>
        <p:spPr>
          <a:xfrm>
            <a:off x="731520" y="5504688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A: internet 2018→2019 da bir yilda +15,2 f.p. sakradi, keng polosali obuna 2024 da dunyo o‘rtachasidan 1,8 barobar ko‘p. B: unumdorlik grafigida sakrash yo‘q — u dunyo o‘rtachasining 58% ida qolmoqda.</a:t>
            </a:r>
            <a:endParaRPr lang="en-US" sz="1300" dirty="0"/>
          </a:p>
        </p:txBody>
      </p:sp>
      <p:sp>
        <p:nvSpPr>
          <p:cNvPr id="26" name="manba"/>
          <p:cNvSpPr txBox="1"/>
          <p:nvPr/>
        </p:nvSpPr>
        <p:spPr>
          <a:xfrm>
            <a:off x="548640" y="6446520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Manba: Jahon banki WDI [1]; grafiklar data.json asosida chizilgan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Graphic spid="19" grpId="0">
        <p:bldAsOne/>
      </p:bldGraphic>
      <p:bldP spid="20" grpId="0" animBg="1"/>
      <p:bldGraphic spid="21" grpId="0">
        <p:bldAsOne/>
      </p:bldGraphic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shrut"/>
          <p:cNvSpPr/>
          <p:nvPr/>
        </p:nvSpPr>
        <p:spPr>
          <a:xfrm>
            <a:off x="8366760" y="566928"/>
            <a:ext cx="3291840" cy="0"/>
          </a:xfrm>
          <a:prstGeom prst="line">
            <a:avLst/>
          </a:prstGeom>
          <a:noFill/>
          <a:ln w="31750">
            <a:solidFill>
              <a:srgbClr val="D5DAE1"/>
            </a:solidFill>
            <a:prstDash val="solid"/>
          </a:ln>
        </p:spPr>
      </p:sp>
      <p:sp>
        <p:nvSpPr>
          <p:cNvPr id="3" name="marshrut-otilgan"/>
          <p:cNvSpPr/>
          <p:nvPr/>
        </p:nvSpPr>
        <p:spPr>
          <a:xfrm>
            <a:off x="8366760" y="566928"/>
            <a:ext cx="1316736" cy="0"/>
          </a:xfrm>
          <a:prstGeom prst="line">
            <a:avLst/>
          </a:prstGeom>
          <a:noFill/>
          <a:ln w="31750">
            <a:solidFill>
              <a:srgbClr val="0A84C1"/>
            </a:solidFill>
            <a:prstDash val="solid"/>
          </a:ln>
        </p:spPr>
      </p:sp>
      <p:sp>
        <p:nvSpPr>
          <p:cNvPr id="4" name="bekat"/>
          <p:cNvSpPr/>
          <p:nvPr/>
        </p:nvSpPr>
        <p:spPr>
          <a:xfrm>
            <a:off x="8307324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5" name="bekat-nomi"/>
          <p:cNvSpPr txBox="1"/>
          <p:nvPr/>
        </p:nvSpPr>
        <p:spPr>
          <a:xfrm>
            <a:off x="801928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Nazariya</a:t>
            </a:r>
            <a:endParaRPr lang="en-US" sz="900" dirty="0"/>
          </a:p>
        </p:txBody>
      </p:sp>
      <p:sp>
        <p:nvSpPr>
          <p:cNvPr id="6" name="bekat"/>
          <p:cNvSpPr/>
          <p:nvPr/>
        </p:nvSpPr>
        <p:spPr>
          <a:xfrm>
            <a:off x="8965692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7" name="bekat-nomi"/>
          <p:cNvSpPr txBox="1"/>
          <p:nvPr/>
        </p:nvSpPr>
        <p:spPr>
          <a:xfrm>
            <a:off x="8677656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Formula</a:t>
            </a:r>
            <a:endParaRPr lang="en-US" sz="900" dirty="0"/>
          </a:p>
        </p:txBody>
      </p:sp>
      <p:sp>
        <p:nvSpPr>
          <p:cNvPr id="8" name="bekat"/>
          <p:cNvSpPr/>
          <p:nvPr/>
        </p:nvSpPr>
        <p:spPr>
          <a:xfrm>
            <a:off x="9592056" y="475488"/>
            <a:ext cx="182880" cy="182880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9" name="bekat-nomi"/>
          <p:cNvSpPr txBox="1"/>
          <p:nvPr/>
        </p:nvSpPr>
        <p:spPr>
          <a:xfrm>
            <a:off x="9336024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Statistika</a:t>
            </a:r>
            <a:endParaRPr lang="en-US" sz="900" dirty="0"/>
          </a:p>
        </p:txBody>
      </p:sp>
      <p:sp>
        <p:nvSpPr>
          <p:cNvPr id="10" name="bekat"/>
          <p:cNvSpPr/>
          <p:nvPr/>
        </p:nvSpPr>
        <p:spPr>
          <a:xfrm>
            <a:off x="10282428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1" name="bekat-nomi"/>
          <p:cNvSpPr txBox="1"/>
          <p:nvPr/>
        </p:nvSpPr>
        <p:spPr>
          <a:xfrm>
            <a:off x="9994392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Grafik</a:t>
            </a:r>
            <a:endParaRPr lang="en-US" sz="900" dirty="0"/>
          </a:p>
        </p:txBody>
      </p:sp>
      <p:sp>
        <p:nvSpPr>
          <p:cNvPr id="12" name="bekat"/>
          <p:cNvSpPr/>
          <p:nvPr/>
        </p:nvSpPr>
        <p:spPr>
          <a:xfrm>
            <a:off x="10940796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3" name="bekat-nomi"/>
          <p:cNvSpPr txBox="1"/>
          <p:nvPr/>
        </p:nvSpPr>
        <p:spPr>
          <a:xfrm>
            <a:off x="10652760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Tahlil</a:t>
            </a:r>
            <a:endParaRPr lang="en-US" sz="900" dirty="0"/>
          </a:p>
        </p:txBody>
      </p:sp>
      <p:sp>
        <p:nvSpPr>
          <p:cNvPr id="14" name="bekat"/>
          <p:cNvSpPr/>
          <p:nvPr/>
        </p:nvSpPr>
        <p:spPr>
          <a:xfrm>
            <a:off x="11599164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5" name="bekat-nomi"/>
          <p:cNvSpPr txBox="1"/>
          <p:nvPr/>
        </p:nvSpPr>
        <p:spPr>
          <a:xfrm>
            <a:off x="1131112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Xulosa</a:t>
            </a:r>
            <a:endParaRPr lang="en-US" sz="900" dirty="0"/>
          </a:p>
        </p:txBody>
      </p:sp>
      <p:sp>
        <p:nvSpPr>
          <p:cNvPr id="16" name="sahifa"/>
          <p:cNvSpPr txBox="1"/>
          <p:nvPr/>
        </p:nvSpPr>
        <p:spPr>
          <a:xfrm>
            <a:off x="9692640" y="64465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13-mavzu  ·  9 / 15</a:t>
            </a:r>
            <a:endParaRPr lang="en-US" sz="100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384048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Statistik tahlil: internet qamrovi deyarli teng, unumdorlik esa 3 barobar farq qiladi</a:t>
            </a:r>
            <a:endParaRPr lang="en-US" sz="2800" dirty="0"/>
          </a:p>
        </p:txBody>
      </p:sp>
      <p:graphicFrame>
        <p:nvGraphicFramePr>
          <p:cNvPr id="18" name="grafik" descr=""/>
          <p:cNvGraphicFramePr/>
          <p:nvPr/>
        </p:nvGraphicFramePr>
        <p:xfrm>
          <a:off x="548640" y="155448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birlik"/>
          <p:cNvSpPr txBox="1"/>
          <p:nvPr/>
        </p:nvSpPr>
        <p:spPr>
          <a:xfrm>
            <a:off x="548640" y="12801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Unumdorlik, $ / xodim, 2024</a:t>
            </a:r>
            <a:endParaRPr lang="en-US" sz="1200" dirty="0"/>
          </a:p>
        </p:txBody>
      </p:sp>
      <p:graphicFrame>
        <p:nvGraphicFramePr>
          <p:cNvPr id="10" name="jadva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554480"/>
          <a:ext cx="478231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51560"/>
                <a:gridCol w="1216152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2024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Internet, %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Unumdorlik / UZB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O‘sish, yiliga %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Koreya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97,9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×3,39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1,38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Turkiya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87,3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×3,22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2,90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Qozog‘iston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93,4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×2,62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2,61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Dunyo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71,2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×1,71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1,92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2410C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O‘zbekiston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89,5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×1,00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4,53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Qirg‘iziston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92,0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×0,66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3,66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36576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izoh-fon"/>
          <p:cNvSpPr/>
          <p:nvPr/>
        </p:nvSpPr>
        <p:spPr>
          <a:xfrm>
            <a:off x="6858000" y="4434840"/>
            <a:ext cx="478231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2" name="izoh-nuqta"/>
          <p:cNvSpPr/>
          <p:nvPr/>
        </p:nvSpPr>
        <p:spPr>
          <a:xfrm>
            <a:off x="7040880" y="4636008"/>
            <a:ext cx="146304" cy="146304"/>
          </a:xfrm>
          <a:prstGeom prst="ellipse">
            <a:avLst/>
          </a:prstGeom>
          <a:solidFill>
            <a:srgbClr val="0A84C1"/>
          </a:solidFill>
          <a:ln/>
        </p:spPr>
      </p:sp>
      <p:sp>
        <p:nvSpPr>
          <p:cNvPr id="23" name="izoh-sarlavha"/>
          <p:cNvSpPr txBox="1"/>
          <p:nvPr/>
        </p:nvSpPr>
        <p:spPr>
          <a:xfrm>
            <a:off x="7278624" y="4544568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Statistik xulosa</a:t>
            </a:r>
            <a:endParaRPr lang="en-US" sz="1400" dirty="0"/>
          </a:p>
        </p:txBody>
      </p:sp>
      <p:sp>
        <p:nvSpPr>
          <p:cNvPr id="24" name="izoh-matn"/>
          <p:cNvSpPr txBox="1"/>
          <p:nvPr/>
        </p:nvSpPr>
        <p:spPr>
          <a:xfrm>
            <a:off x="7040880" y="4910328"/>
            <a:ext cx="441655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Koreya va Turkiyada internet qamrovi bizdan 1–8 f.p. farq qiladi, unumdorlik esa 3,2–3,4 barobar yuqori. O‘zbekiston esa eng tez o‘sayotgan mamlakat: yiliga 4,53%, Koreyada — 1,38%.</a:t>
            </a:r>
            <a:endParaRPr lang="en-US" sz="1300" dirty="0"/>
          </a:p>
        </p:txBody>
      </p:sp>
      <p:sp>
        <p:nvSpPr>
          <p:cNvPr id="25" name="manba"/>
          <p:cNvSpPr txBox="1"/>
          <p:nvPr/>
        </p:nvSpPr>
        <p:spPr>
          <a:xfrm>
            <a:off x="548640" y="6446520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Manba: Jahon banki WDI [1]; «O‘sish» — 2010–2024 o‘rtacha yillik (CAGR), talaba hisobi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8" grpId="0">
        <p:bldAsOne/>
      </p:bldGraphic>
      <p:bldP spid="19" grpId="0" animBg="1"/>
      <p:bldGraphic spid="10" grpId="0">
        <p:bldAsOne/>
      </p:bldGraphic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shrut"/>
          <p:cNvSpPr/>
          <p:nvPr/>
        </p:nvSpPr>
        <p:spPr>
          <a:xfrm>
            <a:off x="8366760" y="566928"/>
            <a:ext cx="3291840" cy="0"/>
          </a:xfrm>
          <a:prstGeom prst="line">
            <a:avLst/>
          </a:prstGeom>
          <a:noFill/>
          <a:ln w="31750">
            <a:solidFill>
              <a:srgbClr val="D5DAE1"/>
            </a:solidFill>
            <a:prstDash val="solid"/>
          </a:ln>
        </p:spPr>
      </p:sp>
      <p:sp>
        <p:nvSpPr>
          <p:cNvPr id="3" name="marshrut-otilgan"/>
          <p:cNvSpPr/>
          <p:nvPr/>
        </p:nvSpPr>
        <p:spPr>
          <a:xfrm>
            <a:off x="8366760" y="566928"/>
            <a:ext cx="1975104" cy="0"/>
          </a:xfrm>
          <a:prstGeom prst="line">
            <a:avLst/>
          </a:prstGeom>
          <a:noFill/>
          <a:ln w="31750">
            <a:solidFill>
              <a:srgbClr val="0A84C1"/>
            </a:solidFill>
            <a:prstDash val="solid"/>
          </a:ln>
        </p:spPr>
      </p:sp>
      <p:sp>
        <p:nvSpPr>
          <p:cNvPr id="4" name="bekat"/>
          <p:cNvSpPr/>
          <p:nvPr/>
        </p:nvSpPr>
        <p:spPr>
          <a:xfrm>
            <a:off x="8307324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5" name="bekat-nomi"/>
          <p:cNvSpPr txBox="1"/>
          <p:nvPr/>
        </p:nvSpPr>
        <p:spPr>
          <a:xfrm>
            <a:off x="801928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Nazariya</a:t>
            </a:r>
            <a:endParaRPr lang="en-US" sz="900" dirty="0"/>
          </a:p>
        </p:txBody>
      </p:sp>
      <p:sp>
        <p:nvSpPr>
          <p:cNvPr id="6" name="bekat"/>
          <p:cNvSpPr/>
          <p:nvPr/>
        </p:nvSpPr>
        <p:spPr>
          <a:xfrm>
            <a:off x="8965692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7" name="bekat-nomi"/>
          <p:cNvSpPr txBox="1"/>
          <p:nvPr/>
        </p:nvSpPr>
        <p:spPr>
          <a:xfrm>
            <a:off x="8677656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Formula</a:t>
            </a:r>
            <a:endParaRPr lang="en-US" sz="900" dirty="0"/>
          </a:p>
        </p:txBody>
      </p:sp>
      <p:sp>
        <p:nvSpPr>
          <p:cNvPr id="8" name="bekat"/>
          <p:cNvSpPr/>
          <p:nvPr/>
        </p:nvSpPr>
        <p:spPr>
          <a:xfrm>
            <a:off x="9624060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9" name="bekat-nomi"/>
          <p:cNvSpPr txBox="1"/>
          <p:nvPr/>
        </p:nvSpPr>
        <p:spPr>
          <a:xfrm>
            <a:off x="9336024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Statistika</a:t>
            </a:r>
            <a:endParaRPr lang="en-US" sz="900" dirty="0"/>
          </a:p>
        </p:txBody>
      </p:sp>
      <p:sp>
        <p:nvSpPr>
          <p:cNvPr id="10" name="bekat"/>
          <p:cNvSpPr/>
          <p:nvPr/>
        </p:nvSpPr>
        <p:spPr>
          <a:xfrm>
            <a:off x="10250424" y="475488"/>
            <a:ext cx="182880" cy="182880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11" name="bekat-nomi"/>
          <p:cNvSpPr txBox="1"/>
          <p:nvPr/>
        </p:nvSpPr>
        <p:spPr>
          <a:xfrm>
            <a:off x="9994392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Grafik</a:t>
            </a:r>
            <a:endParaRPr lang="en-US" sz="900" dirty="0"/>
          </a:p>
        </p:txBody>
      </p:sp>
      <p:sp>
        <p:nvSpPr>
          <p:cNvPr id="12" name="bekat"/>
          <p:cNvSpPr/>
          <p:nvPr/>
        </p:nvSpPr>
        <p:spPr>
          <a:xfrm>
            <a:off x="10940796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3" name="bekat-nomi"/>
          <p:cNvSpPr txBox="1"/>
          <p:nvPr/>
        </p:nvSpPr>
        <p:spPr>
          <a:xfrm>
            <a:off x="10652760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Tahlil</a:t>
            </a:r>
            <a:endParaRPr lang="en-US" sz="900" dirty="0"/>
          </a:p>
        </p:txBody>
      </p:sp>
      <p:sp>
        <p:nvSpPr>
          <p:cNvPr id="14" name="bekat"/>
          <p:cNvSpPr/>
          <p:nvPr/>
        </p:nvSpPr>
        <p:spPr>
          <a:xfrm>
            <a:off x="11599164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5" name="bekat-nomi"/>
          <p:cNvSpPr txBox="1"/>
          <p:nvPr/>
        </p:nvSpPr>
        <p:spPr>
          <a:xfrm>
            <a:off x="1131112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Xulosa</a:t>
            </a:r>
            <a:endParaRPr lang="en-US" sz="900" dirty="0"/>
          </a:p>
        </p:txBody>
      </p:sp>
      <p:sp>
        <p:nvSpPr>
          <p:cNvPr id="16" name="sahifa"/>
          <p:cNvSpPr txBox="1"/>
          <p:nvPr/>
        </p:nvSpPr>
        <p:spPr>
          <a:xfrm>
            <a:off x="9692640" y="64465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13-mavzu  ·  10 / 15</a:t>
            </a:r>
            <a:endParaRPr lang="en-US" sz="100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384048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Grafik tahlil: 39 mamlakat ichida O‘zbekiston model chizig‘idan ancha past</a:t>
            </a:r>
            <a:endParaRPr lang="en-US" sz="2800" dirty="0"/>
          </a:p>
        </p:txBody>
      </p:sp>
      <p:graphicFrame>
        <p:nvGraphicFramePr>
          <p:cNvPr id="18" name="tarqoq" descr=""/>
          <p:cNvGraphicFramePr/>
          <p:nvPr/>
        </p:nvGraphicFramePr>
        <p:xfrm>
          <a:off x="548640" y="1600200"/>
          <a:ext cx="72237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mamlakat"/>
          <p:cNvSpPr txBox="1"/>
          <p:nvPr/>
        </p:nvSpPr>
        <p:spPr>
          <a:xfrm>
            <a:off x="5608360" y="3815031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O‘zbekiston</a:t>
            </a:r>
            <a:endParaRPr lang="en-US" sz="1000" dirty="0"/>
          </a:p>
        </p:txBody>
      </p:sp>
      <p:sp>
        <p:nvSpPr>
          <p:cNvPr id="20" name="mamlakat"/>
          <p:cNvSpPr txBox="1"/>
          <p:nvPr/>
        </p:nvSpPr>
        <p:spPr>
          <a:xfrm>
            <a:off x="5794205" y="421364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Qirg‘iziston</a:t>
            </a:r>
            <a:endParaRPr lang="en-US" sz="1000" dirty="0"/>
          </a:p>
        </p:txBody>
      </p:sp>
      <p:sp>
        <p:nvSpPr>
          <p:cNvPr id="21" name="mamlakat"/>
          <p:cNvSpPr txBox="1"/>
          <p:nvPr/>
        </p:nvSpPr>
        <p:spPr>
          <a:xfrm>
            <a:off x="5875495" y="296216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Qozog‘iston</a:t>
            </a:r>
            <a:endParaRPr lang="en-US" sz="1000" dirty="0"/>
          </a:p>
        </p:txBody>
      </p:sp>
      <p:sp>
        <p:nvSpPr>
          <p:cNvPr id="22" name="mamlakat"/>
          <p:cNvSpPr txBox="1"/>
          <p:nvPr/>
        </p:nvSpPr>
        <p:spPr>
          <a:xfrm>
            <a:off x="7487325" y="2701579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Koreya</a:t>
            </a:r>
            <a:endParaRPr lang="en-US" sz="1000" dirty="0"/>
          </a:p>
        </p:txBody>
      </p:sp>
      <p:sp>
        <p:nvSpPr>
          <p:cNvPr id="23" name="mamlakat"/>
          <p:cNvSpPr txBox="1"/>
          <p:nvPr/>
        </p:nvSpPr>
        <p:spPr>
          <a:xfrm>
            <a:off x="6606162" y="2007651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AQSh</a:t>
            </a:r>
            <a:endParaRPr lang="en-US" sz="1000" dirty="0"/>
          </a:p>
        </p:txBody>
      </p:sp>
      <p:sp>
        <p:nvSpPr>
          <p:cNvPr id="24" name="mamlakat"/>
          <p:cNvSpPr txBox="1"/>
          <p:nvPr/>
        </p:nvSpPr>
        <p:spPr>
          <a:xfrm>
            <a:off x="2148433" y="5118691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Efiopiya</a:t>
            </a:r>
            <a:endParaRPr lang="en-US" sz="1000" dirty="0"/>
          </a:p>
        </p:txBody>
      </p:sp>
      <p:sp>
        <p:nvSpPr>
          <p:cNvPr id="25" name="y-birlik"/>
          <p:cNvSpPr txBox="1"/>
          <p:nvPr/>
        </p:nvSpPr>
        <p:spPr>
          <a:xfrm>
            <a:off x="548640" y="1325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Unumdorlik, $ / xodim (log shkala)</a:t>
            </a:r>
            <a:endParaRPr lang="en-US" sz="1200" dirty="0"/>
          </a:p>
        </p:txBody>
      </p:sp>
      <p:sp>
        <p:nvSpPr>
          <p:cNvPr id="26" name="x-birlik"/>
          <p:cNvSpPr txBox="1"/>
          <p:nvPr/>
        </p:nvSpPr>
        <p:spPr>
          <a:xfrm>
            <a:off x="2743200" y="58704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Internetdan foydalanuvchilar, % aholi, 2023</a:t>
            </a:r>
            <a:endParaRPr lang="en-US" sz="1200" dirty="0"/>
          </a:p>
        </p:txBody>
      </p:sp>
      <p:sp>
        <p:nvSpPr>
          <p:cNvPr id="27" name="katta-raqam"/>
          <p:cNvSpPr txBox="1"/>
          <p:nvPr/>
        </p:nvSpPr>
        <p:spPr>
          <a:xfrm>
            <a:off x="8092440" y="1554480"/>
            <a:ext cx="3547872" cy="50449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+37%</a:t>
            </a:r>
            <a:endParaRPr lang="en-US" sz="3200" dirty="0"/>
          </a:p>
        </p:txBody>
      </p:sp>
      <p:sp>
        <p:nvSpPr>
          <p:cNvPr id="28" name="katta-raqam-izoh"/>
          <p:cNvSpPr txBox="1"/>
          <p:nvPr/>
        </p:nvSpPr>
        <p:spPr>
          <a:xfrm>
            <a:off x="8092440" y="2095553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unumdorlik farqi: internet +10 f.p. bo‘lganda (model)</a:t>
            </a:r>
            <a:endParaRPr lang="en-US" sz="1200" dirty="0"/>
          </a:p>
        </p:txBody>
      </p:sp>
      <p:sp>
        <p:nvSpPr>
          <p:cNvPr id="29" name="katta-raqam"/>
          <p:cNvSpPr txBox="1"/>
          <p:nvPr/>
        </p:nvSpPr>
        <p:spPr>
          <a:xfrm>
            <a:off x="8092440" y="2651760"/>
            <a:ext cx="3547872" cy="4099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R² = 0,65</a:t>
            </a:r>
            <a:endParaRPr lang="en-US" sz="2600" dirty="0"/>
          </a:p>
        </p:txBody>
      </p:sp>
      <p:sp>
        <p:nvSpPr>
          <p:cNvPr id="30" name="katta-raqam-izoh"/>
          <p:cNvSpPr txBox="1"/>
          <p:nvPr/>
        </p:nvSpPr>
        <p:spPr>
          <a:xfrm>
            <a:off x="8092440" y="3098239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39 mamlakat; t = 8,4</a:t>
            </a:r>
            <a:endParaRPr lang="en-US" sz="1200" dirty="0"/>
          </a:p>
        </p:txBody>
      </p:sp>
      <p:sp>
        <p:nvSpPr>
          <p:cNvPr id="31" name="izoh-fon"/>
          <p:cNvSpPr/>
          <p:nvPr/>
        </p:nvSpPr>
        <p:spPr>
          <a:xfrm>
            <a:off x="8092440" y="3657600"/>
            <a:ext cx="354787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32" name="izoh-nuqta"/>
          <p:cNvSpPr/>
          <p:nvPr/>
        </p:nvSpPr>
        <p:spPr>
          <a:xfrm>
            <a:off x="8275320" y="3858768"/>
            <a:ext cx="146304" cy="146304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3" name="izoh-sarlavha"/>
          <p:cNvSpPr txBox="1"/>
          <p:nvPr/>
        </p:nvSpPr>
        <p:spPr>
          <a:xfrm>
            <a:off x="8513064" y="3767328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Grafikni o‘qish</a:t>
            </a:r>
            <a:endParaRPr lang="en-US" sz="1400" dirty="0"/>
          </a:p>
        </p:txBody>
      </p:sp>
      <p:sp>
        <p:nvSpPr>
          <p:cNvPr id="34" name="izoh-matn"/>
          <p:cNvSpPr txBox="1"/>
          <p:nvPr/>
        </p:nvSpPr>
        <p:spPr>
          <a:xfrm>
            <a:off x="8275320" y="4133088"/>
            <a:ext cx="318211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</a:rPr>
              <a:t>Har nuqta — bitta mamlakat. Ko‘k chiziq — model. O‘zbekiston (to‘q sariq) chiziqdan ancha pastda: 89,0% internet bilan model 63 583 $ kutadi, haqiqatda — 27 562 $.</a:t>
            </a:r>
            <a:endParaRPr lang="en-US" sz="1200" dirty="0"/>
          </a:p>
        </p:txBody>
      </p:sp>
      <p:sp>
        <p:nvSpPr>
          <p:cNvPr id="35" name="manba"/>
          <p:cNvSpPr txBox="1"/>
          <p:nvPr/>
        </p:nvSpPr>
        <p:spPr>
          <a:xfrm>
            <a:off x="548640" y="6446520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Manba: Jahon banki WDI, 2023 [1]; regressiya — talaba hisobi (EKKU, ln y = β₀ + β₁·Internet)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8" grpId="0">
        <p:bldAsOne/>
      </p:bldGraphic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shrut"/>
          <p:cNvSpPr/>
          <p:nvPr/>
        </p:nvSpPr>
        <p:spPr>
          <a:xfrm>
            <a:off x="8366760" y="566928"/>
            <a:ext cx="3291840" cy="0"/>
          </a:xfrm>
          <a:prstGeom prst="line">
            <a:avLst/>
          </a:prstGeom>
          <a:noFill/>
          <a:ln w="31750">
            <a:solidFill>
              <a:srgbClr val="D5DAE1"/>
            </a:solidFill>
            <a:prstDash val="solid"/>
          </a:ln>
        </p:spPr>
      </p:sp>
      <p:sp>
        <p:nvSpPr>
          <p:cNvPr id="3" name="marshrut-otilgan"/>
          <p:cNvSpPr/>
          <p:nvPr/>
        </p:nvSpPr>
        <p:spPr>
          <a:xfrm>
            <a:off x="8366760" y="566928"/>
            <a:ext cx="2633472" cy="0"/>
          </a:xfrm>
          <a:prstGeom prst="line">
            <a:avLst/>
          </a:prstGeom>
          <a:noFill/>
          <a:ln w="31750">
            <a:solidFill>
              <a:srgbClr val="0A84C1"/>
            </a:solidFill>
            <a:prstDash val="solid"/>
          </a:ln>
        </p:spPr>
      </p:sp>
      <p:sp>
        <p:nvSpPr>
          <p:cNvPr id="4" name="bekat"/>
          <p:cNvSpPr/>
          <p:nvPr/>
        </p:nvSpPr>
        <p:spPr>
          <a:xfrm>
            <a:off x="8307324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5" name="bekat-nomi"/>
          <p:cNvSpPr txBox="1"/>
          <p:nvPr/>
        </p:nvSpPr>
        <p:spPr>
          <a:xfrm>
            <a:off x="801928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Nazariya</a:t>
            </a:r>
            <a:endParaRPr lang="en-US" sz="900" dirty="0"/>
          </a:p>
        </p:txBody>
      </p:sp>
      <p:sp>
        <p:nvSpPr>
          <p:cNvPr id="6" name="bekat"/>
          <p:cNvSpPr/>
          <p:nvPr/>
        </p:nvSpPr>
        <p:spPr>
          <a:xfrm>
            <a:off x="8965692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7" name="bekat-nomi"/>
          <p:cNvSpPr txBox="1"/>
          <p:nvPr/>
        </p:nvSpPr>
        <p:spPr>
          <a:xfrm>
            <a:off x="8677656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Formula</a:t>
            </a:r>
            <a:endParaRPr lang="en-US" sz="900" dirty="0"/>
          </a:p>
        </p:txBody>
      </p:sp>
      <p:sp>
        <p:nvSpPr>
          <p:cNvPr id="8" name="bekat"/>
          <p:cNvSpPr/>
          <p:nvPr/>
        </p:nvSpPr>
        <p:spPr>
          <a:xfrm>
            <a:off x="9624060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9" name="bekat-nomi"/>
          <p:cNvSpPr txBox="1"/>
          <p:nvPr/>
        </p:nvSpPr>
        <p:spPr>
          <a:xfrm>
            <a:off x="9336024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Statistika</a:t>
            </a:r>
            <a:endParaRPr lang="en-US" sz="900" dirty="0"/>
          </a:p>
        </p:txBody>
      </p:sp>
      <p:sp>
        <p:nvSpPr>
          <p:cNvPr id="10" name="bekat"/>
          <p:cNvSpPr/>
          <p:nvPr/>
        </p:nvSpPr>
        <p:spPr>
          <a:xfrm>
            <a:off x="10282428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11" name="bekat-nomi"/>
          <p:cNvSpPr txBox="1"/>
          <p:nvPr/>
        </p:nvSpPr>
        <p:spPr>
          <a:xfrm>
            <a:off x="9994392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Grafik</a:t>
            </a:r>
            <a:endParaRPr lang="en-US" sz="900" dirty="0"/>
          </a:p>
        </p:txBody>
      </p:sp>
      <p:sp>
        <p:nvSpPr>
          <p:cNvPr id="12" name="bekat"/>
          <p:cNvSpPr/>
          <p:nvPr/>
        </p:nvSpPr>
        <p:spPr>
          <a:xfrm>
            <a:off x="10908792" y="475488"/>
            <a:ext cx="182880" cy="182880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13" name="bekat-nomi"/>
          <p:cNvSpPr txBox="1"/>
          <p:nvPr/>
        </p:nvSpPr>
        <p:spPr>
          <a:xfrm>
            <a:off x="10652760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Tahlil</a:t>
            </a:r>
            <a:endParaRPr lang="en-US" sz="900" dirty="0"/>
          </a:p>
        </p:txBody>
      </p:sp>
      <p:sp>
        <p:nvSpPr>
          <p:cNvPr id="14" name="bekat"/>
          <p:cNvSpPr/>
          <p:nvPr/>
        </p:nvSpPr>
        <p:spPr>
          <a:xfrm>
            <a:off x="11599164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5" name="bekat-nomi"/>
          <p:cNvSpPr txBox="1"/>
          <p:nvPr/>
        </p:nvSpPr>
        <p:spPr>
          <a:xfrm>
            <a:off x="1131112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Xulosa</a:t>
            </a:r>
            <a:endParaRPr lang="en-US" sz="900" dirty="0"/>
          </a:p>
        </p:txBody>
      </p:sp>
      <p:sp>
        <p:nvSpPr>
          <p:cNvPr id="16" name="sahifa"/>
          <p:cNvSpPr txBox="1"/>
          <p:nvPr/>
        </p:nvSpPr>
        <p:spPr>
          <a:xfrm>
            <a:off x="9692640" y="64465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13-mavzu  ·  11 / 15</a:t>
            </a:r>
            <a:endParaRPr lang="en-US" sz="100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384048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Talaba tahlili: bog‘liqlik kuchli, ammo O‘zbekiston kutilgandan 57% past</a:t>
            </a:r>
            <a:endParaRPr lang="en-US" sz="2800" dirty="0"/>
          </a:p>
        </p:txBody>
      </p:sp>
      <p:graphicFrame>
        <p:nvGraphicFramePr>
          <p:cNvPr id="12" name="natijala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5836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77240"/>
                <a:gridCol w="777240"/>
                <a:gridCol w="73152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Model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45720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β₁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45720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R²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45720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t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45720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n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45720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A. O‘zbekiston: ln y ~ ln Internet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45720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0,34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45720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0,98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45720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25,2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45720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15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45720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A′. O‘zbekiston: ln y ~ ln Keng polosali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45720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0,13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45720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0,96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45720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17,4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45720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15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45720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B. 39 mamlakat: ln y ~ Internet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45720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0,032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45720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0,65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45720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8,4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45720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39</a:t>
                      </a:r>
                      <a:endParaRPr lang="en-US" sz="13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3152" marR="73152" marT="45720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alqin"/>
          <p:cNvSpPr txBox="1"/>
          <p:nvPr/>
        </p:nvSpPr>
        <p:spPr>
          <a:xfrm>
            <a:off x="548640" y="333756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A: internetdan foydalanuvchilar 1% ko‘paysa, unumdorlik ~0,34% yuqori (korrelyatsiya 0,99).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B: mamlakatlar o‘rtasida +10 f.p. internet ≈ +37% unumdorlik.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Ehtiyot: A modelida ikkala qator ham yil sayin o‘sadi — umumiy trend bog‘liqlikni kuchaytirib ko‘rsatadi; bu sabab-oqibat isboti emas.</a:t>
            </a:r>
            <a:endParaRPr lang="en-US" sz="1400" dirty="0"/>
          </a:p>
        </p:txBody>
      </p:sp>
      <p:sp>
        <p:nvSpPr>
          <p:cNvPr id="20" name="bosliq-sarlavha"/>
          <p:cNvSpPr txBox="1"/>
          <p:nvPr/>
        </p:nvSpPr>
        <p:spPr>
          <a:xfrm>
            <a:off x="7589520" y="155448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O‘zbekiston, 2023: $ / xodim</a:t>
            </a:r>
            <a:endParaRPr lang="en-US" sz="1400" dirty="0"/>
          </a:p>
        </p:txBody>
      </p:sp>
      <p:graphicFrame>
        <p:nvGraphicFramePr>
          <p:cNvPr id="21" name="bosliq-grafik" descr=""/>
          <p:cNvGraphicFramePr/>
          <p:nvPr/>
        </p:nvGraphicFramePr>
        <p:xfrm>
          <a:off x="7589520" y="1874520"/>
          <a:ext cx="40507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katta-raqam"/>
          <p:cNvSpPr txBox="1"/>
          <p:nvPr/>
        </p:nvSpPr>
        <p:spPr>
          <a:xfrm>
            <a:off x="7589520" y="4709160"/>
            <a:ext cx="4050792" cy="50449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−57%</a:t>
            </a:r>
            <a:endParaRPr lang="en-US" sz="3200" dirty="0"/>
          </a:p>
        </p:txBody>
      </p:sp>
      <p:sp>
        <p:nvSpPr>
          <p:cNvPr id="23" name="katta-raqam-izoh"/>
          <p:cNvSpPr txBox="1"/>
          <p:nvPr/>
        </p:nvSpPr>
        <p:spPr>
          <a:xfrm>
            <a:off x="7589520" y="5250233"/>
            <a:ext cx="4050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haqiqiy unumdorlik model kutganidan past</a:t>
            </a:r>
            <a:endParaRPr lang="en-US" sz="1200" dirty="0"/>
          </a:p>
        </p:txBody>
      </p:sp>
      <p:sp>
        <p:nvSpPr>
          <p:cNvPr id="24" name="manba"/>
          <p:cNvSpPr txBox="1"/>
          <p:nvPr/>
        </p:nvSpPr>
        <p:spPr>
          <a:xfrm>
            <a:off x="548640" y="6446520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Hisob-kitob: talaba; ma’lumot — Jahon banki WDI [1]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  <p:bldP spid="19" grpId="0" animBg="1"/>
      <p:bldP spid="20" grpId="0" animBg="1"/>
      <p:bldGraphic spid="21" grpId="0">
        <p:bldAsOne/>
      </p:bldGraphic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shrut"/>
          <p:cNvSpPr/>
          <p:nvPr/>
        </p:nvSpPr>
        <p:spPr>
          <a:xfrm>
            <a:off x="8366760" y="566928"/>
            <a:ext cx="3291840" cy="0"/>
          </a:xfrm>
          <a:prstGeom prst="line">
            <a:avLst/>
          </a:prstGeom>
          <a:noFill/>
          <a:ln w="31750">
            <a:solidFill>
              <a:srgbClr val="D5DAE1"/>
            </a:solidFill>
            <a:prstDash val="solid"/>
          </a:ln>
        </p:spPr>
      </p:sp>
      <p:sp>
        <p:nvSpPr>
          <p:cNvPr id="3" name="marshrut-otilgan"/>
          <p:cNvSpPr/>
          <p:nvPr/>
        </p:nvSpPr>
        <p:spPr>
          <a:xfrm>
            <a:off x="8366760" y="566928"/>
            <a:ext cx="2633472" cy="0"/>
          </a:xfrm>
          <a:prstGeom prst="line">
            <a:avLst/>
          </a:prstGeom>
          <a:noFill/>
          <a:ln w="31750">
            <a:solidFill>
              <a:srgbClr val="0A84C1"/>
            </a:solidFill>
            <a:prstDash val="solid"/>
          </a:ln>
        </p:spPr>
      </p:sp>
      <p:sp>
        <p:nvSpPr>
          <p:cNvPr id="4" name="bekat"/>
          <p:cNvSpPr/>
          <p:nvPr/>
        </p:nvSpPr>
        <p:spPr>
          <a:xfrm>
            <a:off x="8307324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5" name="bekat-nomi"/>
          <p:cNvSpPr txBox="1"/>
          <p:nvPr/>
        </p:nvSpPr>
        <p:spPr>
          <a:xfrm>
            <a:off x="801928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Nazariya</a:t>
            </a:r>
            <a:endParaRPr lang="en-US" sz="900" dirty="0"/>
          </a:p>
        </p:txBody>
      </p:sp>
      <p:sp>
        <p:nvSpPr>
          <p:cNvPr id="6" name="bekat"/>
          <p:cNvSpPr/>
          <p:nvPr/>
        </p:nvSpPr>
        <p:spPr>
          <a:xfrm>
            <a:off x="8965692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7" name="bekat-nomi"/>
          <p:cNvSpPr txBox="1"/>
          <p:nvPr/>
        </p:nvSpPr>
        <p:spPr>
          <a:xfrm>
            <a:off x="8677656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Formula</a:t>
            </a:r>
            <a:endParaRPr lang="en-US" sz="900" dirty="0"/>
          </a:p>
        </p:txBody>
      </p:sp>
      <p:sp>
        <p:nvSpPr>
          <p:cNvPr id="8" name="bekat"/>
          <p:cNvSpPr/>
          <p:nvPr/>
        </p:nvSpPr>
        <p:spPr>
          <a:xfrm>
            <a:off x="9624060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9" name="bekat-nomi"/>
          <p:cNvSpPr txBox="1"/>
          <p:nvPr/>
        </p:nvSpPr>
        <p:spPr>
          <a:xfrm>
            <a:off x="9336024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Statistika</a:t>
            </a:r>
            <a:endParaRPr lang="en-US" sz="900" dirty="0"/>
          </a:p>
        </p:txBody>
      </p:sp>
      <p:sp>
        <p:nvSpPr>
          <p:cNvPr id="10" name="bekat"/>
          <p:cNvSpPr/>
          <p:nvPr/>
        </p:nvSpPr>
        <p:spPr>
          <a:xfrm>
            <a:off x="10282428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11" name="bekat-nomi"/>
          <p:cNvSpPr txBox="1"/>
          <p:nvPr/>
        </p:nvSpPr>
        <p:spPr>
          <a:xfrm>
            <a:off x="9994392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Grafik</a:t>
            </a:r>
            <a:endParaRPr lang="en-US" sz="900" dirty="0"/>
          </a:p>
        </p:txBody>
      </p:sp>
      <p:sp>
        <p:nvSpPr>
          <p:cNvPr id="12" name="bekat"/>
          <p:cNvSpPr/>
          <p:nvPr/>
        </p:nvSpPr>
        <p:spPr>
          <a:xfrm>
            <a:off x="10908792" y="475488"/>
            <a:ext cx="182880" cy="182880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13" name="bekat-nomi"/>
          <p:cNvSpPr txBox="1"/>
          <p:nvPr/>
        </p:nvSpPr>
        <p:spPr>
          <a:xfrm>
            <a:off x="10652760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Tahlil</a:t>
            </a:r>
            <a:endParaRPr lang="en-US" sz="900" dirty="0"/>
          </a:p>
        </p:txBody>
      </p:sp>
      <p:sp>
        <p:nvSpPr>
          <p:cNvPr id="14" name="bekat"/>
          <p:cNvSpPr/>
          <p:nvPr/>
        </p:nvSpPr>
        <p:spPr>
          <a:xfrm>
            <a:off x="11599164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5" name="bekat-nomi"/>
          <p:cNvSpPr txBox="1"/>
          <p:nvPr/>
        </p:nvSpPr>
        <p:spPr>
          <a:xfrm>
            <a:off x="1131112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Xulosa</a:t>
            </a:r>
            <a:endParaRPr lang="en-US" sz="900" dirty="0"/>
          </a:p>
        </p:txBody>
      </p:sp>
      <p:sp>
        <p:nvSpPr>
          <p:cNvPr id="16" name="sahifa"/>
          <p:cNvSpPr txBox="1"/>
          <p:nvPr/>
        </p:nvSpPr>
        <p:spPr>
          <a:xfrm>
            <a:off x="9692640" y="64465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13-mavzu  ·  12 / 15</a:t>
            </a:r>
            <a:endParaRPr lang="en-US" sz="100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384048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Talaba tahlili: muammo — ulanishda emas, foydalanish samarasida</a:t>
            </a:r>
            <a:endParaRPr lang="en-US" sz="2800" dirty="0"/>
          </a:p>
        </p:txBody>
      </p:sp>
      <p:sp>
        <p:nvSpPr>
          <p:cNvPr id="18" name="katta-raqam"/>
          <p:cNvSpPr txBox="1"/>
          <p:nvPr/>
        </p:nvSpPr>
        <p:spPr>
          <a:xfrm>
            <a:off x="548640" y="1481328"/>
            <a:ext cx="3474720" cy="4729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34,7 va 19,3</a:t>
            </a:r>
            <a:endParaRPr lang="en-US" sz="3000" dirty="0"/>
          </a:p>
        </p:txBody>
      </p:sp>
      <p:sp>
        <p:nvSpPr>
          <p:cNvPr id="19" name="katta-raqam-izoh"/>
          <p:cNvSpPr txBox="1"/>
          <p:nvPr/>
        </p:nvSpPr>
        <p:spPr>
          <a:xfrm>
            <a:off x="548640" y="199087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keng polosali obuna / 100 kishi: O‘zbekiston va dunyo, 2024</a:t>
            </a:r>
            <a:endParaRPr lang="en-US" sz="1200" dirty="0"/>
          </a:p>
        </p:txBody>
      </p:sp>
      <p:sp>
        <p:nvSpPr>
          <p:cNvPr id="20" name="katta-raqam"/>
          <p:cNvSpPr txBox="1"/>
          <p:nvPr/>
        </p:nvSpPr>
        <p:spPr>
          <a:xfrm>
            <a:off x="4343400" y="1481328"/>
            <a:ext cx="3291840" cy="4729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58%</a:t>
            </a:r>
            <a:endParaRPr lang="en-US" sz="3000" dirty="0"/>
          </a:p>
        </p:txBody>
      </p:sp>
      <p:sp>
        <p:nvSpPr>
          <p:cNvPr id="21" name="katta-raqam-izoh"/>
          <p:cNvSpPr txBox="1"/>
          <p:nvPr/>
        </p:nvSpPr>
        <p:spPr>
          <a:xfrm>
            <a:off x="4343400" y="199087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O‘zbekiston unumdorligi dunyo o‘rtachasiga nisbatan, 2024</a:t>
            </a:r>
            <a:endParaRPr lang="en-US" sz="1200" dirty="0"/>
          </a:p>
        </p:txBody>
      </p:sp>
      <p:sp>
        <p:nvSpPr>
          <p:cNvPr id="22" name="katta-raqam"/>
          <p:cNvSpPr txBox="1"/>
          <p:nvPr/>
        </p:nvSpPr>
        <p:spPr>
          <a:xfrm>
            <a:off x="8001000" y="1481328"/>
            <a:ext cx="3639312" cy="4729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5803D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140 → 344 mln $</a:t>
            </a:r>
            <a:endParaRPr lang="en-US" sz="3000" dirty="0"/>
          </a:p>
        </p:txBody>
      </p:sp>
      <p:sp>
        <p:nvSpPr>
          <p:cNvPr id="23" name="katta-raqam-izoh"/>
          <p:cNvSpPr txBox="1"/>
          <p:nvPr/>
        </p:nvSpPr>
        <p:spPr>
          <a:xfrm>
            <a:off x="8001000" y="199087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IT Park rezidentlari eksporti, 2022 → 2023 (×2,4) [10]</a:t>
            </a:r>
            <a:endParaRPr lang="en-US" sz="1200" dirty="0"/>
          </a:p>
        </p:txBody>
      </p:sp>
      <p:sp>
        <p:nvSpPr>
          <p:cNvPr id="24" name="faraz-fon"/>
          <p:cNvSpPr/>
          <p:nvPr/>
        </p:nvSpPr>
        <p:spPr>
          <a:xfrm>
            <a:off x="548640" y="27432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5" name="faraz-raqam"/>
          <p:cNvSpPr txBox="1"/>
          <p:nvPr/>
        </p:nvSpPr>
        <p:spPr>
          <a:xfrm>
            <a:off x="749808" y="28529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Faraz 1</a:t>
            </a:r>
            <a:endParaRPr lang="en-US" sz="1100" dirty="0"/>
          </a:p>
        </p:txBody>
      </p:sp>
      <p:sp>
        <p:nvSpPr>
          <p:cNvPr id="26" name="faraz-sarlavha"/>
          <p:cNvSpPr txBox="1"/>
          <p:nvPr/>
        </p:nvSpPr>
        <p:spPr>
          <a:xfrm>
            <a:off x="749808" y="3108960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J-egri chiziq</a:t>
            </a:r>
            <a:endParaRPr lang="en-US" sz="1600" dirty="0"/>
          </a:p>
        </p:txBody>
      </p:sp>
      <p:sp>
        <p:nvSpPr>
          <p:cNvPr id="27" name="faraz-matn"/>
          <p:cNvSpPr txBox="1"/>
          <p:nvPr/>
        </p:nvSpPr>
        <p:spPr>
          <a:xfrm>
            <a:off x="749808" y="3493008"/>
            <a:ext cx="31638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Ulanishning asosiy qismi 2018–2024 yillarga to‘g‘ri keladi. Brynjolfsson va b. ko‘rsatganidek, raqamli investitsiya foydasi yillar o‘tib ko‘rinadi [9].</a:t>
            </a:r>
            <a:endParaRPr lang="en-US" sz="1300" dirty="0"/>
          </a:p>
        </p:txBody>
      </p:sp>
      <p:sp>
        <p:nvSpPr>
          <p:cNvPr id="28" name="faraz-fon"/>
          <p:cNvSpPr/>
          <p:nvPr/>
        </p:nvSpPr>
        <p:spPr>
          <a:xfrm>
            <a:off x="4297680" y="27432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9" name="faraz-raqam"/>
          <p:cNvSpPr txBox="1"/>
          <p:nvPr/>
        </p:nvSpPr>
        <p:spPr>
          <a:xfrm>
            <a:off x="4498848" y="28529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Faraz 2</a:t>
            </a:r>
            <a:endParaRPr lang="en-US" sz="1100" dirty="0"/>
          </a:p>
        </p:txBody>
      </p:sp>
      <p:sp>
        <p:nvSpPr>
          <p:cNvPr id="30" name="faraz-sarlavha"/>
          <p:cNvSpPr txBox="1"/>
          <p:nvPr/>
        </p:nvSpPr>
        <p:spPr>
          <a:xfrm>
            <a:off x="4498848" y="3108960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Ko‘nikma yetishmasligi</a:t>
            </a:r>
            <a:endParaRPr lang="en-US" sz="1600" dirty="0"/>
          </a:p>
        </p:txBody>
      </p:sp>
      <p:sp>
        <p:nvSpPr>
          <p:cNvPr id="31" name="faraz-matn"/>
          <p:cNvSpPr txBox="1"/>
          <p:nvPr/>
        </p:nvSpPr>
        <p:spPr>
          <a:xfrm>
            <a:off x="4498848" y="3493008"/>
            <a:ext cx="31638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Internet malakali xodim unumdorligini oshiradi [7]. Raqamli ko‘nikma tarqalmaguncha ulanish smartfondagi iste’mol bilan cheklanadi.</a:t>
            </a:r>
            <a:endParaRPr lang="en-US" sz="1300" dirty="0"/>
          </a:p>
        </p:txBody>
      </p:sp>
      <p:sp>
        <p:nvSpPr>
          <p:cNvPr id="32" name="faraz-fon"/>
          <p:cNvSpPr/>
          <p:nvPr/>
        </p:nvSpPr>
        <p:spPr>
          <a:xfrm>
            <a:off x="8046720" y="27432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33" name="faraz-raqam"/>
          <p:cNvSpPr txBox="1"/>
          <p:nvPr/>
        </p:nvSpPr>
        <p:spPr>
          <a:xfrm>
            <a:off x="8247888" y="28529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Faraz 3</a:t>
            </a:r>
            <a:endParaRPr lang="en-US" sz="1100" dirty="0"/>
          </a:p>
        </p:txBody>
      </p:sp>
      <p:sp>
        <p:nvSpPr>
          <p:cNvPr id="34" name="faraz-sarlavha"/>
          <p:cNvSpPr txBox="1"/>
          <p:nvPr/>
        </p:nvSpPr>
        <p:spPr>
          <a:xfrm>
            <a:off x="8247888" y="3108960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Raqamli sektor hali kichik</a:t>
            </a:r>
            <a:endParaRPr lang="en-US" sz="1600" dirty="0"/>
          </a:p>
        </p:txBody>
      </p:sp>
      <p:sp>
        <p:nvSpPr>
          <p:cNvPr id="35" name="faraz-matn"/>
          <p:cNvSpPr txBox="1"/>
          <p:nvPr/>
        </p:nvSpPr>
        <p:spPr>
          <a:xfrm>
            <a:off x="8247888" y="3493008"/>
            <a:ext cx="31638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IT xizmatlari eksporti tez o‘smoqda, lekin u iqtisodiyotning kichik qismi. Firmalarning raqamlashuvi — hal qiluvchi bo‘g‘in.</a:t>
            </a:r>
            <a:endParaRPr lang="en-US" sz="1300" dirty="0"/>
          </a:p>
        </p:txBody>
      </p:sp>
      <p:sp>
        <p:nvSpPr>
          <p:cNvPr id="36" name="anglatadi"/>
          <p:cNvSpPr txBox="1"/>
          <p:nvPr/>
        </p:nvSpPr>
        <p:spPr>
          <a:xfrm>
            <a:off x="548640" y="5440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 nimani anglatadi?  Keyingi bosqichda «qancha odam ulangan?» emas, «ulanish bilan qancha qiymat yaratilmoqda?» degan savol muhim.</a:t>
            </a:r>
            <a:endParaRPr lang="en-US" sz="1500" dirty="0"/>
          </a:p>
        </p:txBody>
      </p:sp>
      <p:sp>
        <p:nvSpPr>
          <p:cNvPr id="37" name="manba"/>
          <p:cNvSpPr txBox="1"/>
          <p:nvPr/>
        </p:nvSpPr>
        <p:spPr>
          <a:xfrm>
            <a:off x="548640" y="6446520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Manba: Jahon banki WDI [1]; IT Park (2024) [10]; farazlar — talaba talqini, [7], [9] asosida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shrut"/>
          <p:cNvSpPr/>
          <p:nvPr/>
        </p:nvSpPr>
        <p:spPr>
          <a:xfrm>
            <a:off x="8366760" y="566928"/>
            <a:ext cx="3291840" cy="0"/>
          </a:xfrm>
          <a:prstGeom prst="line">
            <a:avLst/>
          </a:prstGeom>
          <a:noFill/>
          <a:ln w="31750">
            <a:solidFill>
              <a:srgbClr val="D5DAE1"/>
            </a:solidFill>
            <a:prstDash val="solid"/>
          </a:ln>
        </p:spPr>
      </p:sp>
      <p:sp>
        <p:nvSpPr>
          <p:cNvPr id="3" name="marshrut-otilgan"/>
          <p:cNvSpPr/>
          <p:nvPr/>
        </p:nvSpPr>
        <p:spPr>
          <a:xfrm>
            <a:off x="8366760" y="566928"/>
            <a:ext cx="3291840" cy="0"/>
          </a:xfrm>
          <a:prstGeom prst="line">
            <a:avLst/>
          </a:prstGeom>
          <a:noFill/>
          <a:ln w="31750">
            <a:solidFill>
              <a:srgbClr val="0A84C1"/>
            </a:solidFill>
            <a:prstDash val="solid"/>
          </a:ln>
        </p:spPr>
      </p:sp>
      <p:sp>
        <p:nvSpPr>
          <p:cNvPr id="4" name="bekat"/>
          <p:cNvSpPr/>
          <p:nvPr/>
        </p:nvSpPr>
        <p:spPr>
          <a:xfrm>
            <a:off x="8307324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5" name="bekat-nomi"/>
          <p:cNvSpPr txBox="1"/>
          <p:nvPr/>
        </p:nvSpPr>
        <p:spPr>
          <a:xfrm>
            <a:off x="801928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Nazariya</a:t>
            </a:r>
            <a:endParaRPr lang="en-US" sz="900" dirty="0"/>
          </a:p>
        </p:txBody>
      </p:sp>
      <p:sp>
        <p:nvSpPr>
          <p:cNvPr id="6" name="bekat"/>
          <p:cNvSpPr/>
          <p:nvPr/>
        </p:nvSpPr>
        <p:spPr>
          <a:xfrm>
            <a:off x="8965692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7" name="bekat-nomi"/>
          <p:cNvSpPr txBox="1"/>
          <p:nvPr/>
        </p:nvSpPr>
        <p:spPr>
          <a:xfrm>
            <a:off x="8677656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Formula</a:t>
            </a:r>
            <a:endParaRPr lang="en-US" sz="900" dirty="0"/>
          </a:p>
        </p:txBody>
      </p:sp>
      <p:sp>
        <p:nvSpPr>
          <p:cNvPr id="8" name="bekat"/>
          <p:cNvSpPr/>
          <p:nvPr/>
        </p:nvSpPr>
        <p:spPr>
          <a:xfrm>
            <a:off x="9624060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9" name="bekat-nomi"/>
          <p:cNvSpPr txBox="1"/>
          <p:nvPr/>
        </p:nvSpPr>
        <p:spPr>
          <a:xfrm>
            <a:off x="9336024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Statistika</a:t>
            </a:r>
            <a:endParaRPr lang="en-US" sz="900" dirty="0"/>
          </a:p>
        </p:txBody>
      </p:sp>
      <p:sp>
        <p:nvSpPr>
          <p:cNvPr id="10" name="bekat"/>
          <p:cNvSpPr/>
          <p:nvPr/>
        </p:nvSpPr>
        <p:spPr>
          <a:xfrm>
            <a:off x="10282428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11" name="bekat-nomi"/>
          <p:cNvSpPr txBox="1"/>
          <p:nvPr/>
        </p:nvSpPr>
        <p:spPr>
          <a:xfrm>
            <a:off x="9994392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Grafik</a:t>
            </a:r>
            <a:endParaRPr lang="en-US" sz="900" dirty="0"/>
          </a:p>
        </p:txBody>
      </p:sp>
      <p:sp>
        <p:nvSpPr>
          <p:cNvPr id="12" name="bekat"/>
          <p:cNvSpPr/>
          <p:nvPr/>
        </p:nvSpPr>
        <p:spPr>
          <a:xfrm>
            <a:off x="10940796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13" name="bekat-nomi"/>
          <p:cNvSpPr txBox="1"/>
          <p:nvPr/>
        </p:nvSpPr>
        <p:spPr>
          <a:xfrm>
            <a:off x="10652760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Tahlil</a:t>
            </a:r>
            <a:endParaRPr lang="en-US" sz="900" dirty="0"/>
          </a:p>
        </p:txBody>
      </p:sp>
      <p:sp>
        <p:nvSpPr>
          <p:cNvPr id="14" name="bekat"/>
          <p:cNvSpPr/>
          <p:nvPr/>
        </p:nvSpPr>
        <p:spPr>
          <a:xfrm>
            <a:off x="11567160" y="475488"/>
            <a:ext cx="182880" cy="182880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15" name="bekat-nomi"/>
          <p:cNvSpPr txBox="1"/>
          <p:nvPr/>
        </p:nvSpPr>
        <p:spPr>
          <a:xfrm>
            <a:off x="1131112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Xulosa</a:t>
            </a:r>
            <a:endParaRPr lang="en-US" sz="900" dirty="0"/>
          </a:p>
        </p:txBody>
      </p:sp>
      <p:sp>
        <p:nvSpPr>
          <p:cNvPr id="16" name="sahifa"/>
          <p:cNvSpPr txBox="1"/>
          <p:nvPr/>
        </p:nvSpPr>
        <p:spPr>
          <a:xfrm>
            <a:off x="9692640" y="64465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13-mavzu  ·  13 / 15</a:t>
            </a:r>
            <a:endParaRPr lang="en-US" sz="100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384048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Talaba xulosasi: infratuzilma — poydevor, lekin o‘zi natija emas</a:t>
            </a:r>
            <a:endParaRPr lang="en-US" sz="2800" dirty="0"/>
          </a:p>
        </p:txBody>
      </p:sp>
      <p:sp>
        <p:nvSpPr>
          <p:cNvPr id="18" name="xulosa-raqam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A84C1"/>
          </a:solidFill>
          <a:ln/>
        </p:spPr>
      </p:sp>
      <p:sp>
        <p:nvSpPr>
          <p:cNvPr id="19" name="xulosa-raqam-matn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xulosa"/>
          <p:cNvSpPr txBox="1"/>
          <p:nvPr/>
        </p:nvSpPr>
        <p:spPr>
          <a:xfrm>
            <a:off x="1234440" y="1554480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Mexanizm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Internet unumdorlikka bevosita emas, besh kanal orqali ta’sir qiladi: xarajatlar, raqamli kapital, ko‘nikma, mehnat bozori va innovatsiya.</a:t>
            </a:r>
            <a:endParaRPr lang="en-US" sz="1700" dirty="0"/>
          </a:p>
        </p:txBody>
      </p:sp>
      <p:sp>
        <p:nvSpPr>
          <p:cNvPr id="21" name="xulosa-raqam"/>
          <p:cNvSpPr/>
          <p:nvPr/>
        </p:nvSpPr>
        <p:spPr>
          <a:xfrm>
            <a:off x="548640" y="2679192"/>
            <a:ext cx="457200" cy="457200"/>
          </a:xfrm>
          <a:prstGeom prst="ellipse">
            <a:avLst/>
          </a:prstGeom>
          <a:solidFill>
            <a:srgbClr val="0A84C1"/>
          </a:solidFill>
          <a:ln/>
        </p:spPr>
      </p:sp>
      <p:sp>
        <p:nvSpPr>
          <p:cNvPr id="22" name="xulosa-raqam-matn"/>
          <p:cNvSpPr txBox="1"/>
          <p:nvPr/>
        </p:nvSpPr>
        <p:spPr>
          <a:xfrm>
            <a:off x="54864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xulosa"/>
          <p:cNvSpPr txBox="1"/>
          <p:nvPr/>
        </p:nvSpPr>
        <p:spPr>
          <a:xfrm>
            <a:off x="1234440" y="2633472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Formula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O‘sish hisobida raqamli kapital alohida had (γ·g_d). O‘zbekiston ma’lumotida elastiklik ≈ 0,34, 39 mamlakatda +10 f.p. ≈ +37%.</a:t>
            </a:r>
            <a:endParaRPr lang="en-US" sz="1700" dirty="0"/>
          </a:p>
        </p:txBody>
      </p:sp>
      <p:sp>
        <p:nvSpPr>
          <p:cNvPr id="24" name="xulosa-raqam"/>
          <p:cNvSpPr/>
          <p:nvPr/>
        </p:nvSpPr>
        <p:spPr>
          <a:xfrm>
            <a:off x="548640" y="3758184"/>
            <a:ext cx="457200" cy="457200"/>
          </a:xfrm>
          <a:prstGeom prst="ellipse">
            <a:avLst/>
          </a:prstGeom>
          <a:solidFill>
            <a:srgbClr val="0A84C1"/>
          </a:solidFill>
          <a:ln/>
        </p:spPr>
      </p:sp>
      <p:sp>
        <p:nvSpPr>
          <p:cNvPr id="25" name="xulosa-raqam-matn"/>
          <p:cNvSpPr txBox="1"/>
          <p:nvPr/>
        </p:nvSpPr>
        <p:spPr>
          <a:xfrm>
            <a:off x="54864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xulosa"/>
          <p:cNvSpPr txBox="1"/>
          <p:nvPr/>
        </p:nvSpPr>
        <p:spPr>
          <a:xfrm>
            <a:off x="1234440" y="3712464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O‘zbekiston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Ulanish bo‘yicha natija yaxshi: 89,5% internet, keng polosali obunalar dunyo o‘rtachasidan yuqori.</a:t>
            </a:r>
            <a:endParaRPr lang="en-US" sz="1700" dirty="0"/>
          </a:p>
        </p:txBody>
      </p:sp>
      <p:sp>
        <p:nvSpPr>
          <p:cNvPr id="27" name="xulosa-raqam"/>
          <p:cNvSpPr/>
          <p:nvPr/>
        </p:nvSpPr>
        <p:spPr>
          <a:xfrm>
            <a:off x="548640" y="4837176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8" name="xulosa-raqam-matn"/>
          <p:cNvSpPr txBox="1"/>
          <p:nvPr/>
        </p:nvSpPr>
        <p:spPr>
          <a:xfrm>
            <a:off x="54864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xulosa"/>
          <p:cNvSpPr txBox="1"/>
          <p:nvPr/>
        </p:nvSpPr>
        <p:spPr>
          <a:xfrm>
            <a:off x="1234440" y="4791456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Bo‘shliq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Unumdorlik model kutganidan 57% past: raqamli dividend hali to‘liq olinmagan — sabab ko‘nikma, vaqt va firmalarning raqamlashuvi.</a:t>
            </a:r>
            <a:endParaRPr lang="en-US" sz="1700" dirty="0"/>
          </a:p>
        </p:txBody>
      </p:sp>
      <p:sp>
        <p:nvSpPr>
          <p:cNvPr id="30" name="asosiy-fon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F1B33"/>
          </a:solidFill>
          <a:ln/>
        </p:spPr>
      </p:sp>
      <p:sp>
        <p:nvSpPr>
          <p:cNvPr id="31" name="asosiy"/>
          <p:cNvSpPr txBox="1"/>
          <p:nvPr/>
        </p:nvSpPr>
        <p:spPr>
          <a:xfrm>
            <a:off x="777240" y="58521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Asosiy fikr: infratuzilma qurildi — endi undan foydalanish samarasini oshirish kerak.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shrut"/>
          <p:cNvSpPr/>
          <p:nvPr/>
        </p:nvSpPr>
        <p:spPr>
          <a:xfrm>
            <a:off x="8366760" y="566928"/>
            <a:ext cx="3291840" cy="0"/>
          </a:xfrm>
          <a:prstGeom prst="line">
            <a:avLst/>
          </a:prstGeom>
          <a:noFill/>
          <a:ln w="31750">
            <a:solidFill>
              <a:srgbClr val="D5DAE1"/>
            </a:solidFill>
            <a:prstDash val="solid"/>
          </a:ln>
        </p:spPr>
      </p:sp>
      <p:sp>
        <p:nvSpPr>
          <p:cNvPr id="3" name="marshrut-otilgan"/>
          <p:cNvSpPr/>
          <p:nvPr/>
        </p:nvSpPr>
        <p:spPr>
          <a:xfrm>
            <a:off x="8366760" y="566928"/>
            <a:ext cx="3291840" cy="0"/>
          </a:xfrm>
          <a:prstGeom prst="line">
            <a:avLst/>
          </a:prstGeom>
          <a:noFill/>
          <a:ln w="31750">
            <a:solidFill>
              <a:srgbClr val="0A84C1"/>
            </a:solidFill>
            <a:prstDash val="solid"/>
          </a:ln>
        </p:spPr>
      </p:sp>
      <p:sp>
        <p:nvSpPr>
          <p:cNvPr id="4" name="bekat"/>
          <p:cNvSpPr/>
          <p:nvPr/>
        </p:nvSpPr>
        <p:spPr>
          <a:xfrm>
            <a:off x="8307324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5" name="bekat-nomi"/>
          <p:cNvSpPr txBox="1"/>
          <p:nvPr/>
        </p:nvSpPr>
        <p:spPr>
          <a:xfrm>
            <a:off x="801928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Nazariya</a:t>
            </a:r>
            <a:endParaRPr lang="en-US" sz="900" dirty="0"/>
          </a:p>
        </p:txBody>
      </p:sp>
      <p:sp>
        <p:nvSpPr>
          <p:cNvPr id="6" name="bekat"/>
          <p:cNvSpPr/>
          <p:nvPr/>
        </p:nvSpPr>
        <p:spPr>
          <a:xfrm>
            <a:off x="8965692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7" name="bekat-nomi"/>
          <p:cNvSpPr txBox="1"/>
          <p:nvPr/>
        </p:nvSpPr>
        <p:spPr>
          <a:xfrm>
            <a:off x="8677656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Formula</a:t>
            </a:r>
            <a:endParaRPr lang="en-US" sz="900" dirty="0"/>
          </a:p>
        </p:txBody>
      </p:sp>
      <p:sp>
        <p:nvSpPr>
          <p:cNvPr id="8" name="bekat"/>
          <p:cNvSpPr/>
          <p:nvPr/>
        </p:nvSpPr>
        <p:spPr>
          <a:xfrm>
            <a:off x="9624060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9" name="bekat-nomi"/>
          <p:cNvSpPr txBox="1"/>
          <p:nvPr/>
        </p:nvSpPr>
        <p:spPr>
          <a:xfrm>
            <a:off x="9336024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Statistika</a:t>
            </a:r>
            <a:endParaRPr lang="en-US" sz="900" dirty="0"/>
          </a:p>
        </p:txBody>
      </p:sp>
      <p:sp>
        <p:nvSpPr>
          <p:cNvPr id="10" name="bekat"/>
          <p:cNvSpPr/>
          <p:nvPr/>
        </p:nvSpPr>
        <p:spPr>
          <a:xfrm>
            <a:off x="10282428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11" name="bekat-nomi"/>
          <p:cNvSpPr txBox="1"/>
          <p:nvPr/>
        </p:nvSpPr>
        <p:spPr>
          <a:xfrm>
            <a:off x="9994392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Grafik</a:t>
            </a:r>
            <a:endParaRPr lang="en-US" sz="900" dirty="0"/>
          </a:p>
        </p:txBody>
      </p:sp>
      <p:sp>
        <p:nvSpPr>
          <p:cNvPr id="12" name="bekat"/>
          <p:cNvSpPr/>
          <p:nvPr/>
        </p:nvSpPr>
        <p:spPr>
          <a:xfrm>
            <a:off x="10940796" y="507492"/>
            <a:ext cx="118872" cy="118872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13" name="bekat-nomi"/>
          <p:cNvSpPr txBox="1"/>
          <p:nvPr/>
        </p:nvSpPr>
        <p:spPr>
          <a:xfrm>
            <a:off x="10652760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Tahlil</a:t>
            </a:r>
            <a:endParaRPr lang="en-US" sz="900" dirty="0"/>
          </a:p>
        </p:txBody>
      </p:sp>
      <p:sp>
        <p:nvSpPr>
          <p:cNvPr id="14" name="bekat"/>
          <p:cNvSpPr/>
          <p:nvPr/>
        </p:nvSpPr>
        <p:spPr>
          <a:xfrm>
            <a:off x="11567160" y="475488"/>
            <a:ext cx="182880" cy="182880"/>
          </a:xfrm>
          <a:prstGeom prst="ellipse">
            <a:avLst/>
          </a:prstGeom>
          <a:solidFill>
            <a:srgbClr val="0A84C1"/>
          </a:solidFill>
          <a:ln w="19050">
            <a:solidFill>
              <a:srgbClr val="0A84C1"/>
            </a:solidFill>
            <a:prstDash val="solid"/>
          </a:ln>
        </p:spPr>
      </p:sp>
      <p:sp>
        <p:nvSpPr>
          <p:cNvPr id="15" name="bekat-nomi"/>
          <p:cNvSpPr txBox="1"/>
          <p:nvPr/>
        </p:nvSpPr>
        <p:spPr>
          <a:xfrm>
            <a:off x="1131112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Xulosa</a:t>
            </a:r>
            <a:endParaRPr lang="en-US" sz="900" dirty="0"/>
          </a:p>
        </p:txBody>
      </p:sp>
      <p:sp>
        <p:nvSpPr>
          <p:cNvPr id="16" name="sahifa"/>
          <p:cNvSpPr txBox="1"/>
          <p:nvPr/>
        </p:nvSpPr>
        <p:spPr>
          <a:xfrm>
            <a:off x="9692640" y="64465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13-mavzu  ·  14 / 15</a:t>
            </a:r>
            <a:endParaRPr lang="en-US" sz="100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384048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Takliflar: ulanishdan unumdorlikka o‘tish uchun uchta qadam</a:t>
            </a:r>
            <a:endParaRPr lang="en-US" sz="2800" dirty="0"/>
          </a:p>
        </p:txBody>
      </p:sp>
      <p:sp>
        <p:nvSpPr>
          <p:cNvPr id="18" name="taklif-fon"/>
          <p:cNvSpPr/>
          <p:nvPr/>
        </p:nvSpPr>
        <p:spPr>
          <a:xfrm>
            <a:off x="548640" y="1554480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9" name="taklif-raqam"/>
          <p:cNvSpPr/>
          <p:nvPr/>
        </p:nvSpPr>
        <p:spPr>
          <a:xfrm>
            <a:off x="749808" y="1719072"/>
            <a:ext cx="402336" cy="402336"/>
          </a:xfrm>
          <a:prstGeom prst="ellipse">
            <a:avLst/>
          </a:prstGeom>
          <a:solidFill>
            <a:srgbClr val="0A84C1"/>
          </a:solidFill>
          <a:ln/>
        </p:spPr>
      </p:sp>
      <p:sp>
        <p:nvSpPr>
          <p:cNvPr id="20" name="taklif-raqam-matn"/>
          <p:cNvSpPr txBox="1"/>
          <p:nvPr/>
        </p:nvSpPr>
        <p:spPr>
          <a:xfrm>
            <a:off x="749808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aklif-sarlavha"/>
          <p:cNvSpPr txBox="1"/>
          <p:nvPr/>
        </p:nvSpPr>
        <p:spPr>
          <a:xfrm>
            <a:off x="1261872" y="166420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Ish joyida raqamli ko‘nikma</a:t>
            </a:r>
            <a:endParaRPr lang="en-US" sz="1500" dirty="0"/>
          </a:p>
        </p:txBody>
      </p:sp>
      <p:sp>
        <p:nvSpPr>
          <p:cNvPr id="22" name="taklif"/>
          <p:cNvSpPr txBox="1"/>
          <p:nvPr/>
        </p:nvSpPr>
        <p:spPr>
          <a:xfrm>
            <a:off x="749808" y="2377440"/>
            <a:ext cx="3163824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Muammo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F172A"/>
                </a:solidFill>
              </a:rPr>
              <a:t>Internet malakali xodimga foyda beradi, malakasizga — yo‘q [7].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Taklif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F172A"/>
                </a:solidFill>
              </a:rPr>
              <a:t>Korxona xodimlari uchun sertifikatlangan qisqa kurslar (buxgalteriya, CRM, ma’lumot tahlili); xarajatning bir qismini davlat qoplashi.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Kutiladigan natija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3-kanal (L sifati) kuchayadi.</a:t>
            </a:r>
            <a:endParaRPr lang="en-US" sz="1200" dirty="0"/>
          </a:p>
        </p:txBody>
      </p:sp>
      <p:sp>
        <p:nvSpPr>
          <p:cNvPr id="23" name="taklif-fon"/>
          <p:cNvSpPr/>
          <p:nvPr/>
        </p:nvSpPr>
        <p:spPr>
          <a:xfrm>
            <a:off x="4297680" y="1554480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4" name="taklif-raqam"/>
          <p:cNvSpPr/>
          <p:nvPr/>
        </p:nvSpPr>
        <p:spPr>
          <a:xfrm>
            <a:off x="4498848" y="1719072"/>
            <a:ext cx="402336" cy="402336"/>
          </a:xfrm>
          <a:prstGeom prst="ellipse">
            <a:avLst/>
          </a:prstGeom>
          <a:solidFill>
            <a:srgbClr val="0A84C1"/>
          </a:solidFill>
          <a:ln/>
        </p:spPr>
      </p:sp>
      <p:sp>
        <p:nvSpPr>
          <p:cNvPr id="25" name="taklif-raqam-matn"/>
          <p:cNvSpPr txBox="1"/>
          <p:nvPr/>
        </p:nvSpPr>
        <p:spPr>
          <a:xfrm>
            <a:off x="4498848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aklif-sarlavha"/>
          <p:cNvSpPr txBox="1"/>
          <p:nvPr/>
        </p:nvSpPr>
        <p:spPr>
          <a:xfrm>
            <a:off x="5010912" y="166420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Kichik biznesni raqamlashtirish</a:t>
            </a:r>
            <a:endParaRPr lang="en-US" sz="1500" dirty="0"/>
          </a:p>
        </p:txBody>
      </p:sp>
      <p:sp>
        <p:nvSpPr>
          <p:cNvPr id="27" name="taklif"/>
          <p:cNvSpPr txBox="1"/>
          <p:nvPr/>
        </p:nvSpPr>
        <p:spPr>
          <a:xfrm>
            <a:off x="4498848" y="2377440"/>
            <a:ext cx="3163824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Muammo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F172A"/>
                </a:solidFill>
              </a:rPr>
              <a:t>Ulanish bor, lekin firmalar bulutli xizmat, e-tijorat va elektron to‘lovdan kam foydalanadi (2-kanal).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Taklif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F172A"/>
                </a:solidFill>
              </a:rPr>
              <a:t>Bulutli dasturlar va onlayn savdo uchun vaucher/soliq imtiyozi; IT Park rezidentlarini mahalliy KOB buyurtmalariga bog‘lash.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Kutiladigan natija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Raqamli kapital (d) firmaga yetib boradi.</a:t>
            </a:r>
            <a:endParaRPr lang="en-US" sz="1200" dirty="0"/>
          </a:p>
        </p:txBody>
      </p:sp>
      <p:sp>
        <p:nvSpPr>
          <p:cNvPr id="28" name="taklif-fon"/>
          <p:cNvSpPr/>
          <p:nvPr/>
        </p:nvSpPr>
        <p:spPr>
          <a:xfrm>
            <a:off x="8046720" y="1554480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9" name="taklif-raqam"/>
          <p:cNvSpPr/>
          <p:nvPr/>
        </p:nvSpPr>
        <p:spPr>
          <a:xfrm>
            <a:off x="8247888" y="1719072"/>
            <a:ext cx="402336" cy="402336"/>
          </a:xfrm>
          <a:prstGeom prst="ellipse">
            <a:avLst/>
          </a:prstGeom>
          <a:solidFill>
            <a:srgbClr val="0A84C1"/>
          </a:solidFill>
          <a:ln/>
        </p:spPr>
      </p:sp>
      <p:sp>
        <p:nvSpPr>
          <p:cNvPr id="30" name="taklif-raqam-matn"/>
          <p:cNvSpPr txBox="1"/>
          <p:nvPr/>
        </p:nvSpPr>
        <p:spPr>
          <a:xfrm>
            <a:off x="8247888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aklif-sarlavha"/>
          <p:cNvSpPr txBox="1"/>
          <p:nvPr/>
        </p:nvSpPr>
        <p:spPr>
          <a:xfrm>
            <a:off x="8759952" y="166420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Sifatni o‘lchash</a:t>
            </a:r>
            <a:endParaRPr lang="en-US" sz="1500" dirty="0"/>
          </a:p>
        </p:txBody>
      </p:sp>
      <p:sp>
        <p:nvSpPr>
          <p:cNvPr id="32" name="taklif"/>
          <p:cNvSpPr txBox="1"/>
          <p:nvPr/>
        </p:nvSpPr>
        <p:spPr>
          <a:xfrm>
            <a:off x="8247888" y="2377440"/>
            <a:ext cx="3163824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Muammo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F172A"/>
                </a:solidFill>
              </a:rPr>
              <a:t>Statistika «nechta odam ulangan»ni o‘lchaydi, «qanday foydalanilmoqda»ni emas.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Taklif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F172A"/>
                </a:solidFill>
              </a:rPr>
              <a:t>Firmalarda AKTdan foydalanish bo‘yicha yillik so‘rov va tezlik/ishonchlilik standarti — «Raqamli O‘zbekiston — 2030» monitoringiga qo‘shish [3].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Kutiladigan natija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Siyosat natijani o‘lchab boshqariladi.</a:t>
            </a:r>
            <a:endParaRPr lang="en-US" sz="1200" dirty="0"/>
          </a:p>
        </p:txBody>
      </p:sp>
      <p:sp>
        <p:nvSpPr>
          <p:cNvPr id="33" name="manba"/>
          <p:cNvSpPr txBox="1"/>
          <p:nvPr/>
        </p:nvSpPr>
        <p:spPr>
          <a:xfrm>
            <a:off x="548640" y="6446520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Manbalar: [3], [7], [10]; takliflar — talaba xulosasi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shrut"/>
          <p:cNvSpPr/>
          <p:nvPr/>
        </p:nvSpPr>
        <p:spPr>
          <a:xfrm>
            <a:off x="8366760" y="566928"/>
            <a:ext cx="3291840" cy="0"/>
          </a:xfrm>
          <a:prstGeom prst="line">
            <a:avLst/>
          </a:prstGeom>
          <a:noFill/>
          <a:ln w="31750">
            <a:solidFill>
              <a:srgbClr val="D5DAE1"/>
            </a:solidFill>
            <a:prstDash val="solid"/>
          </a:ln>
        </p:spPr>
      </p:sp>
      <p:sp>
        <p:nvSpPr>
          <p:cNvPr id="3" name="bekat"/>
          <p:cNvSpPr/>
          <p:nvPr/>
        </p:nvSpPr>
        <p:spPr>
          <a:xfrm>
            <a:off x="8307324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4" name="bekat-nomi"/>
          <p:cNvSpPr txBox="1"/>
          <p:nvPr/>
        </p:nvSpPr>
        <p:spPr>
          <a:xfrm>
            <a:off x="801928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Nazariya</a:t>
            </a:r>
            <a:endParaRPr lang="en-US" sz="900" dirty="0"/>
          </a:p>
        </p:txBody>
      </p:sp>
      <p:sp>
        <p:nvSpPr>
          <p:cNvPr id="5" name="bekat"/>
          <p:cNvSpPr/>
          <p:nvPr/>
        </p:nvSpPr>
        <p:spPr>
          <a:xfrm>
            <a:off x="8965692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6" name="bekat-nomi"/>
          <p:cNvSpPr txBox="1"/>
          <p:nvPr/>
        </p:nvSpPr>
        <p:spPr>
          <a:xfrm>
            <a:off x="8677656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Formula</a:t>
            </a:r>
            <a:endParaRPr lang="en-US" sz="900" dirty="0"/>
          </a:p>
        </p:txBody>
      </p:sp>
      <p:sp>
        <p:nvSpPr>
          <p:cNvPr id="7" name="bekat"/>
          <p:cNvSpPr/>
          <p:nvPr/>
        </p:nvSpPr>
        <p:spPr>
          <a:xfrm>
            <a:off x="9624060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8" name="bekat-nomi"/>
          <p:cNvSpPr txBox="1"/>
          <p:nvPr/>
        </p:nvSpPr>
        <p:spPr>
          <a:xfrm>
            <a:off x="9336024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Statistika</a:t>
            </a:r>
            <a:endParaRPr lang="en-US" sz="900" dirty="0"/>
          </a:p>
        </p:txBody>
      </p:sp>
      <p:sp>
        <p:nvSpPr>
          <p:cNvPr id="9" name="bekat"/>
          <p:cNvSpPr/>
          <p:nvPr/>
        </p:nvSpPr>
        <p:spPr>
          <a:xfrm>
            <a:off x="10282428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0" name="bekat-nomi"/>
          <p:cNvSpPr txBox="1"/>
          <p:nvPr/>
        </p:nvSpPr>
        <p:spPr>
          <a:xfrm>
            <a:off x="9994392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Grafik</a:t>
            </a:r>
            <a:endParaRPr lang="en-US" sz="900" dirty="0"/>
          </a:p>
        </p:txBody>
      </p:sp>
      <p:sp>
        <p:nvSpPr>
          <p:cNvPr id="11" name="bekat"/>
          <p:cNvSpPr/>
          <p:nvPr/>
        </p:nvSpPr>
        <p:spPr>
          <a:xfrm>
            <a:off x="10940796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2" name="bekat-nomi"/>
          <p:cNvSpPr txBox="1"/>
          <p:nvPr/>
        </p:nvSpPr>
        <p:spPr>
          <a:xfrm>
            <a:off x="10652760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Tahlil</a:t>
            </a:r>
            <a:endParaRPr lang="en-US" sz="900" dirty="0"/>
          </a:p>
        </p:txBody>
      </p:sp>
      <p:sp>
        <p:nvSpPr>
          <p:cNvPr id="13" name="bekat"/>
          <p:cNvSpPr/>
          <p:nvPr/>
        </p:nvSpPr>
        <p:spPr>
          <a:xfrm>
            <a:off x="11599164" y="5074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4B2"/>
            </a:solidFill>
            <a:prstDash val="solid"/>
          </a:ln>
        </p:spPr>
      </p:sp>
      <p:sp>
        <p:nvSpPr>
          <p:cNvPr id="14" name="bekat-nomi"/>
          <p:cNvSpPr txBox="1"/>
          <p:nvPr/>
        </p:nvSpPr>
        <p:spPr>
          <a:xfrm>
            <a:off x="11311128" y="6949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Xulosa</a:t>
            </a:r>
            <a:endParaRPr lang="en-US" sz="900" dirty="0"/>
          </a:p>
        </p:txBody>
      </p:sp>
      <p:sp>
        <p:nvSpPr>
          <p:cNvPr id="15" name="sahifa"/>
          <p:cNvSpPr txBox="1"/>
          <p:nvPr/>
        </p:nvSpPr>
        <p:spPr>
          <a:xfrm>
            <a:off x="9692640" y="644652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13-mavzu  ·  15 / 15</a:t>
            </a:r>
            <a:endParaRPr lang="en-US" sz="10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548640" y="384048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Manbalar</a:t>
            </a:r>
            <a:endParaRPr lang="en-US" sz="2800" dirty="0"/>
          </a:p>
        </p:txBody>
      </p:sp>
      <p:sp>
        <p:nvSpPr>
          <p:cNvPr id="17" name="manbalar"/>
          <p:cNvSpPr txBox="1"/>
          <p:nvPr/>
        </p:nvSpPr>
        <p:spPr>
          <a:xfrm>
            <a:off x="548640" y="1417320"/>
            <a:ext cx="11091672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[1]  World Bank. World Development Indicators: IT.NET.USER.ZS, IT.NET.BBND.P2 (ITU ma’lumoti), SL.GDP.PCAP.EM.KD (XMT ma’lumoti); yangilangan 08.10.2026. https://data.worldbank.org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[2]  International Telecommunication Union (ITU). Statistics: Individuals using the Internet; Fixed broadband subscriptions. https://www.itu.int/en/ITU-D/Statistics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[3]  O‘zbekiston Respublikasi Prezidentining PF-6079-son Farmoni, 05.10.2020. «Raqamli O‘zbekiston — 2030» strategiyasi. https://lex.uz/docs/7008256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[4]  Solow R. (1987). We’d Better Watch Out. New York Times Book Review, 12 July 1987, p. 36.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[5]  Czernich N., Falck O., Kretschmer T., Woessmann L. (2011). Broadband Infrastructure and Economic Growth. The Economic Journal, 121(552), 505–532.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[6]  ITU (2019). Economic contribution of broadband, digitization and ICT regulation (R. Katz, F. Callorda); Econometric modelling for the Asia-Pacific region. https://www.itu.int/en/ITU-D/Regulatory-Market/Pages/Economic-Contribution.aspx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[7]  Akerman A., Gaarder I., Mogstad M. (2015). The Skill Complementarity of Broadband Internet. Quarterly Journal of Economics, 130(4), 1781–1824.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[8]  Hjort J., Poulsen J. (2019). The Arrival of Fast Internet and Employment in Africa. American Economic Review, 109(3), 1032–1079.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[9]  Brynjolfsson E., Rock D., Syverson C. (2021). The Productivity J-Curve: How Intangibles Complement General Purpose Technologies. AEJ: Macroeconomics, 13(1), 333–372.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[10]  IT Park Uzbekistan (2024). Results of 2023: transformation and plans for 2024. https://www.it-park.uz/en/itpark/news/results-of-2023-transformation-and-plans-for-2024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[11]  Jorgenson D., Stiroh K. (2000). Raising the Speed Limit: U.S. Economic Growth in the Information Age. Brookings Papers on Economic Activity, 2000(1), 125–235.</a:t>
            </a:r>
            <a:endParaRPr lang="en-US" sz="1200" dirty="0"/>
          </a:p>
        </p:txBody>
      </p:sp>
      <p:sp>
        <p:nvSpPr>
          <p:cNvPr id="18" name="rahmat"/>
          <p:cNvSpPr txBox="1"/>
          <p:nvPr/>
        </p:nvSpPr>
        <p:spPr>
          <a:xfrm>
            <a:off x="54864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84C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Rahmat! Savollaringizga tayyorman.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theme/theme1.xml><?xml version="1.0" encoding="utf-8"?>
<a:theme xmlns:a="http://schemas.openxmlformats.org/drawingml/2006/main" name="Optik tola">
  <a:themeElements>
    <a:clrScheme name="Optik tola">
      <a:dk1>
        <a:srgbClr val="0F172A"/>
      </a:dk1>
      <a:lt1>
        <a:srgbClr val="FFFFFF"/>
      </a:lt1>
      <a:dk2>
        <a:srgbClr val="4B5563"/>
      </a:dk2>
      <a:lt2>
        <a:srgbClr val="F5F7FA"/>
      </a:lt2>
      <a:accent1>
        <a:srgbClr val="0A84C1"/>
      </a:accent1>
      <a:accent2>
        <a:srgbClr val="E8590C"/>
      </a:accent2>
      <a:accent3>
        <a:srgbClr val="15803D"/>
      </a:accent3>
      <a:accent4>
        <a:srgbClr val="0F1B33"/>
      </a:accent4>
      <a:accent5>
        <a:srgbClr val="7DD3FC"/>
      </a:accent5>
      <a:accent6>
        <a:srgbClr val="C62828"/>
      </a:accent6>
      <a:hlink>
        <a:srgbClr val="0A84C1"/>
      </a:hlink>
      <a:folHlink>
        <a:srgbClr val="4B5563"/>
      </a:folHlink>
    </a:clrScheme>
    <a:fontScheme name="Optik tola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Raqamli infratuzilma va mehnat unumdorligi</dc:title>
  <dc:subject>13-mavzu: Raqamli infratuzilmaning mehnat unumdorligiga ta’sir mexanizmi</dc:subject>
  <dc:creator>Qo‘ziboyev Aslbek</dc:creator>
  <cp:lastModifiedBy>Qo‘ziboyev Aslbek</cp:lastModifiedBy>
  <cp:revision>1</cp:revision>
  <dcterms:created xsi:type="dcterms:W3CDTF">2026-10-26T08:18:39Z</dcterms:created>
  <dcterms:modified xsi:type="dcterms:W3CDTF">2026-10-26T08:18:39Z</dcterms:modified>
</cp:coreProperties>
</file>