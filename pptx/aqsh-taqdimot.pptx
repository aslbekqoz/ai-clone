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10.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rish" id="{ec9e6de4-67ec-83e8-6dd7-e29181c644d9}">
          <p14:sldIdLst>
            <p14:sldId id="256"/>
            <p14:sldId id="257"/>
            <p14:sldId id="258"/>
          </p14:sldIdLst>
        </p14:section>
        <p14:section name="Sanoat" id="{d0dbc0a1-580e-d648-cbcd-ce665fffc02b}">
          <p14:sldIdLst>
            <p14:sldId id="259"/>
            <p14:sldId id="260"/>
          </p14:sldIdLst>
        </p14:section>
        <p14:section name="Xizmatlar" id="{2ab4f09d-c04c-6d6d-e0d9-e9a5574de129}">
          <p14:sldIdLst>
            <p14:sldId id="261"/>
            <p14:sldId id="262"/>
          </p14:sldIdLst>
        </p14:section>
        <p14:section name="Qishloq xo‘jaligi" id="{12d3d560-11aa-dbbf-86a5-81e55c38384c}">
          <p14:sldIdLst>
            <p14:sldId id="263"/>
            <p14:sldId id="264"/>
          </p14:sldIdLst>
        </p14:section>
        <p14:section name="Qurilish" id="{ef3dc683-76df-e5ce-026f-c8bc20780a31}">
          <p14:sldIdLst>
            <p14:sldId id="265"/>
            <p14:sldId id="266"/>
          </p14:sldIdLst>
        </p14:section>
        <p14:section name="Taqqoslash va xulosa" id="{d5dd032e-37eb-c020-ec33-d4b44e298a8d}">
          <p14:sldIdLst>
            <p14:sldId id="267"/>
            <p14:sldId id="268"/>
            <p14:sldId id="269"/>
            <p14:sldId id="270"/>
          </p14:sldIdLst>
        </p14:section>
        <p14:section name="Manbalar" id="{56cd9882-9603-aeca-45b3-7726e27ac48e}">
          <p14:sldIdLst>
            <p14:sldId id="271"/>
            <p14:sldId id="272"/>
          </p14:sldIdLst>
        </p14:section>
        <p14:section name="Ilova" id="{ee293422-9f52-f376-dccc-da57849be814}">
          <p14:sldIdLst>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Xizmatlar</c:v>
                </c:pt>
              </c:strCache>
            </c:strRef>
          </c:tx>
          <c:spPr>
            <a:solidFill>
              <a:srgbClr val="F59F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2000</c:v>
                  </c:pt>
                </c:lvl>
              </c:multiLvlStrCache>
            </c:multiLvlStrRef>
          </c:cat>
          <c:val>
            <c:numRef>
              <c:f>Sheet1!$B$2:$B$2</c:f>
              <c:numCache>
                <c:formatCode>General</c:formatCode>
                <c:ptCount val="1"/>
                <c:pt idx="0">
                  <c:v>76.58</c:v>
                </c:pt>
              </c:numCache>
            </c:numRef>
          </c:val>
        </c:ser>
        <c:ser>
          <c:idx val="1"/>
          <c:order val="1"/>
          <c:tx>
            <c:strRef>
              <c:f>Sheet1!$C$1</c:f>
              <c:strCache>
                <c:ptCount val="1"/>
                <c:pt idx="0">
                  <c:v>Sanoat</c:v>
                </c:pt>
              </c:strCache>
            </c:strRef>
          </c:tx>
          <c:spPr>
            <a:solidFill>
              <a:srgbClr val="1C3F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2000</c:v>
                  </c:pt>
                </c:lvl>
              </c:multiLvlStrCache>
            </c:multiLvlStrRef>
          </c:cat>
          <c:val>
            <c:numRef>
              <c:f>Sheet1!$C$2:$C$2</c:f>
              <c:numCache>
                <c:formatCode>General</c:formatCode>
                <c:ptCount val="1"/>
                <c:pt idx="0">
                  <c:v>17.95</c:v>
                </c:pt>
              </c:numCache>
            </c:numRef>
          </c:val>
        </c:ser>
        <c:ser>
          <c:idx val="2"/>
          <c:order val="2"/>
          <c:tx>
            <c:strRef>
              <c:f>Sheet1!$D$1</c:f>
              <c:strCache>
                <c:ptCount val="1"/>
                <c:pt idx="0">
                  <c:v>Qurilish</c:v>
                </c:pt>
              </c:strCache>
            </c:strRef>
          </c:tx>
          <c:spPr>
            <a:solidFill>
              <a:srgbClr val="9C36B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2000</c:v>
                  </c:pt>
                </c:lvl>
              </c:multiLvlStrCache>
            </c:multiLvlStrRef>
          </c:cat>
          <c:val>
            <c:numRef>
              <c:f>Sheet1!$D$2:$D$2</c:f>
              <c:numCache>
                <c:formatCode>General</c:formatCode>
                <c:ptCount val="1"/>
                <c:pt idx="0">
                  <c:v>4.5</c:v>
                </c:pt>
              </c:numCache>
            </c:numRef>
          </c:val>
        </c:ser>
        <c:ser>
          <c:idx val="3"/>
          <c:order val="3"/>
          <c:tx>
            <c:strRef>
              <c:f>Sheet1!$E$1</c:f>
              <c:strCache>
                <c:ptCount val="1"/>
                <c:pt idx="0">
                  <c:v>Qishloq xo‘jaligi</c:v>
                </c:pt>
              </c:strCache>
            </c:strRef>
          </c:tx>
          <c:spPr>
            <a:solidFill>
              <a:srgbClr val="2F9E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2000</c:v>
                  </c:pt>
                </c:lvl>
              </c:multiLvlStrCache>
            </c:multiLvlStrRef>
          </c:cat>
          <c:val>
            <c:numRef>
              <c:f>Sheet1!$E$2:$E$2</c:f>
              <c:numCache>
                <c:formatCode>General</c:formatCode>
                <c:ptCount val="1"/>
                <c:pt idx="0">
                  <c:v>0.96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Xizmatlar</c:v>
                </c:pt>
              </c:strCache>
            </c:strRef>
          </c:tx>
          <c:spPr>
            <a:solidFill>
              <a:srgbClr val="F59F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2025</c:v>
                  </c:pt>
                </c:lvl>
              </c:multiLvlStrCache>
            </c:multiLvlStrRef>
          </c:cat>
          <c:val>
            <c:numRef>
              <c:f>Sheet1!$B$2:$B$2</c:f>
              <c:numCache>
                <c:formatCode>General</c:formatCode>
                <c:ptCount val="1"/>
                <c:pt idx="0">
                  <c:v>82.4</c:v>
                </c:pt>
              </c:numCache>
            </c:numRef>
          </c:val>
        </c:ser>
        <c:ser>
          <c:idx val="1"/>
          <c:order val="1"/>
          <c:tx>
            <c:strRef>
              <c:f>Sheet1!$C$1</c:f>
              <c:strCache>
                <c:ptCount val="1"/>
                <c:pt idx="0">
                  <c:v>Sanoat</c:v>
                </c:pt>
              </c:strCache>
            </c:strRef>
          </c:tx>
          <c:spPr>
            <a:solidFill>
              <a:srgbClr val="1C3F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2025</c:v>
                  </c:pt>
                </c:lvl>
              </c:multiLvlStrCache>
            </c:multiLvlStrRef>
          </c:cat>
          <c:val>
            <c:numRef>
              <c:f>Sheet1!$C$2:$C$2</c:f>
              <c:numCache>
                <c:formatCode>General</c:formatCode>
                <c:ptCount val="1"/>
                <c:pt idx="0">
                  <c:v>12.43</c:v>
                </c:pt>
              </c:numCache>
            </c:numRef>
          </c:val>
        </c:ser>
        <c:ser>
          <c:idx val="2"/>
          <c:order val="2"/>
          <c:tx>
            <c:strRef>
              <c:f>Sheet1!$D$1</c:f>
              <c:strCache>
                <c:ptCount val="1"/>
                <c:pt idx="0">
                  <c:v>Qurilish</c:v>
                </c:pt>
              </c:strCache>
            </c:strRef>
          </c:tx>
          <c:spPr>
            <a:solidFill>
              <a:srgbClr val="9C36B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2025</c:v>
                  </c:pt>
                </c:lvl>
              </c:multiLvlStrCache>
            </c:multiLvlStrRef>
          </c:cat>
          <c:val>
            <c:numRef>
              <c:f>Sheet1!$D$2:$D$2</c:f>
              <c:numCache>
                <c:formatCode>General</c:formatCode>
                <c:ptCount val="1"/>
                <c:pt idx="0">
                  <c:v>4.34</c:v>
                </c:pt>
              </c:numCache>
            </c:numRef>
          </c:val>
        </c:ser>
        <c:ser>
          <c:idx val="3"/>
          <c:order val="3"/>
          <c:tx>
            <c:strRef>
              <c:f>Sheet1!$E$1</c:f>
              <c:strCache>
                <c:ptCount val="1"/>
                <c:pt idx="0">
                  <c:v>Qishloq xo‘jaligi</c:v>
                </c:pt>
              </c:strCache>
            </c:strRef>
          </c:tx>
          <c:spPr>
            <a:solidFill>
              <a:srgbClr val="2F9E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2025</c:v>
                  </c:pt>
                </c:lvl>
              </c:multiLvlStrCache>
            </c:multiLvlStrRef>
          </c:cat>
          <c:val>
            <c:numRef>
              <c:f>Sheet1!$E$2:$E$2</c:f>
              <c:numCache>
                <c:formatCode>General</c:formatCode>
                <c:ptCount val="1"/>
                <c:pt idx="0">
                  <c:v>0.83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4"/>
          <c:w val="0.87"/>
          <c:h val="0.83"/>
        </c:manualLayout>
      </c:layout>
      <c:barChart>
        <c:barDir val="col"/>
        <c:grouping val="clustered"/>
        <c:varyColors val="0"/>
        <c:ser>
          <c:idx val="0"/>
          <c:order val="0"/>
          <c:tx>
            <c:strRef>
              <c:f>Sheet1!$B$1</c:f>
              <c:strCache>
                <c:ptCount val="1"/>
                <c:pt idx="0">
                  <c:v>Sanoat QQ</c:v>
                </c:pt>
              </c:strCache>
            </c:strRef>
          </c:tx>
          <c:spPr>
            <a:solidFill>
              <a:srgbClr val="1C3F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1C3F94"/>
              </a:solidFill>
              <a:effectLst/>
            </c:spPr>
          </c:dPt>
          <c:dPt>
            <c:idx val="1"/>
            <c:invertIfNegative val="0"/>
            <c:bubble3D val="0"/>
            <c:spPr>
              <a:solidFill>
                <a:srgbClr val="1C3F94"/>
              </a:solidFill>
              <a:effectLst/>
            </c:spPr>
          </c:dPt>
          <c:dPt>
            <c:idx val="2"/>
            <c:invertIfNegative val="0"/>
            <c:bubble3D val="0"/>
            <c:spPr>
              <a:solidFill>
                <a:srgbClr val="1C3F94"/>
              </a:solidFill>
              <a:effectLst/>
            </c:spPr>
          </c:dPt>
          <c:dPt>
            <c:idx val="3"/>
            <c:invertIfNegative val="0"/>
            <c:bubble3D val="0"/>
            <c:spPr>
              <a:solidFill>
                <a:srgbClr val="1C3F94"/>
              </a:solidFill>
              <a:effectLst/>
            </c:spPr>
          </c:dPt>
          <c:dPt>
            <c:idx val="4"/>
            <c:invertIfNegative val="0"/>
            <c:bubble3D val="0"/>
            <c:spPr>
              <a:solidFill>
                <a:srgbClr val="1C3F94"/>
              </a:solidFill>
              <a:effectLst/>
            </c:spPr>
          </c:dPt>
          <c:dPt>
            <c:idx val="5"/>
            <c:invertIfNegative val="0"/>
            <c:bubble3D val="0"/>
            <c:spPr>
              <a:solidFill>
                <a:srgbClr val="1C3F94"/>
              </a:solidFill>
              <a:effectLst/>
            </c:spPr>
          </c:dPt>
          <c:dPt>
            <c:idx val="6"/>
            <c:invertIfNegative val="0"/>
            <c:bubble3D val="0"/>
            <c:spPr>
              <a:solidFill>
                <a:srgbClr val="1C3F94"/>
              </a:solidFill>
              <a:effectLst/>
            </c:spPr>
          </c:dPt>
          <c:dPt>
            <c:idx val="7"/>
            <c:invertIfNegative val="0"/>
            <c:bubble3D val="0"/>
            <c:spPr>
              <a:solidFill>
                <a:srgbClr val="1C3F94"/>
              </a:solidFill>
              <a:effectLst/>
            </c:spPr>
          </c:dPt>
          <c:dPt>
            <c:idx val="8"/>
            <c:invertIfNegative val="0"/>
            <c:bubble3D val="0"/>
            <c:spPr>
              <a:solidFill>
                <a:srgbClr val="1C3F94"/>
              </a:solidFill>
              <a:effectLst/>
            </c:spPr>
          </c:dPt>
          <c:dPt>
            <c:idx val="9"/>
            <c:invertIfNegative val="0"/>
            <c:bubble3D val="0"/>
            <c:spPr>
              <a:solidFill>
                <a:srgbClr val="7F9BD6"/>
              </a:solidFill>
              <a:effectLst/>
            </c:spPr>
          </c:dPt>
          <c:dPt>
            <c:idx val="10"/>
            <c:invertIfNegative val="0"/>
            <c:bubble3D val="0"/>
            <c:spPr>
              <a:solidFill>
                <a:srgbClr val="1C3F94"/>
              </a:solidFill>
              <a:effectLst/>
            </c:spPr>
          </c:dPt>
          <c:dPt>
            <c:idx val="11"/>
            <c:invertIfNegative val="0"/>
            <c:bubble3D val="0"/>
            <c:spPr>
              <a:solidFill>
                <a:srgbClr val="1C3F94"/>
              </a:solidFill>
              <a:effectLst/>
            </c:spPr>
          </c:dPt>
          <c:dPt>
            <c:idx val="12"/>
            <c:invertIfNegative val="0"/>
            <c:bubble3D val="0"/>
            <c:spPr>
              <a:solidFill>
                <a:srgbClr val="1C3F94"/>
              </a:solidFill>
              <a:effectLst/>
            </c:spPr>
          </c:dPt>
          <c:dPt>
            <c:idx val="13"/>
            <c:invertIfNegative val="0"/>
            <c:bubble3D val="0"/>
            <c:spPr>
              <a:solidFill>
                <a:srgbClr val="1C3F94"/>
              </a:solidFill>
              <a:effectLst/>
            </c:spPr>
          </c:dPt>
          <c:dPt>
            <c:idx val="14"/>
            <c:invertIfNegative val="0"/>
            <c:bubble3D val="0"/>
            <c:spPr>
              <a:solidFill>
                <a:srgbClr val="1C3F94"/>
              </a:solidFill>
              <a:effectLst/>
            </c:spPr>
          </c:dPt>
          <c:dPt>
            <c:idx val="15"/>
            <c:invertIfNegative val="0"/>
            <c:bubble3D val="0"/>
            <c:spPr>
              <a:solidFill>
                <a:srgbClr val="1C3F94"/>
              </a:solidFill>
              <a:effectLst/>
            </c:spPr>
          </c:dPt>
          <c:dPt>
            <c:idx val="16"/>
            <c:invertIfNegative val="0"/>
            <c:bubble3D val="0"/>
            <c:spPr>
              <a:solidFill>
                <a:srgbClr val="1C3F94"/>
              </a:solidFill>
              <a:effectLst/>
            </c:spPr>
          </c:dPt>
          <c:dPt>
            <c:idx val="17"/>
            <c:invertIfNegative val="0"/>
            <c:bubble3D val="0"/>
            <c:spPr>
              <a:solidFill>
                <a:srgbClr val="1C3F94"/>
              </a:solidFill>
              <a:effectLst/>
            </c:spPr>
          </c:dPt>
          <c:dPt>
            <c:idx val="18"/>
            <c:invertIfNegative val="0"/>
            <c:bubble3D val="0"/>
            <c:spPr>
              <a:solidFill>
                <a:srgbClr val="1C3F94"/>
              </a:solidFill>
              <a:effectLst/>
            </c:spPr>
          </c:dPt>
          <c:dPt>
            <c:idx val="19"/>
            <c:invertIfNegative val="0"/>
            <c:bubble3D val="0"/>
            <c:spPr>
              <a:solidFill>
                <a:srgbClr val="1C3F94"/>
              </a:solidFill>
              <a:effectLst/>
            </c:spPr>
          </c:dPt>
          <c:dPt>
            <c:idx val="20"/>
            <c:invertIfNegative val="0"/>
            <c:bubble3D val="0"/>
            <c:spPr>
              <a:solidFill>
                <a:srgbClr val="7F9BD6"/>
              </a:solidFill>
              <a:effectLst/>
            </c:spPr>
          </c:dPt>
          <c:dPt>
            <c:idx val="21"/>
            <c:invertIfNegative val="0"/>
            <c:bubble3D val="0"/>
            <c:spPr>
              <a:solidFill>
                <a:srgbClr val="1C3F94"/>
              </a:solidFill>
              <a:effectLst/>
            </c:spPr>
          </c:dPt>
          <c:dPt>
            <c:idx val="22"/>
            <c:invertIfNegative val="0"/>
            <c:bubble3D val="0"/>
            <c:spPr>
              <a:solidFill>
                <a:srgbClr val="1C3F94"/>
              </a:solidFill>
              <a:effectLst/>
            </c:spPr>
          </c:dPt>
          <c:dPt>
            <c:idx val="23"/>
            <c:invertIfNegative val="0"/>
            <c:bubble3D val="0"/>
            <c:spPr>
              <a:solidFill>
                <a:srgbClr val="1C3F94"/>
              </a:solidFill>
              <a:effectLst/>
            </c:spPr>
          </c:dPt>
          <c:dPt>
            <c:idx val="24"/>
            <c:invertIfNegative val="0"/>
            <c:bubble3D val="0"/>
            <c:spPr>
              <a:solidFill>
                <a:srgbClr val="1C3F94"/>
              </a:solidFill>
              <a:effectLst/>
            </c:spPr>
          </c:dPt>
          <c:dPt>
            <c:idx val="25"/>
            <c:invertIfNegative val="0"/>
            <c:bubble3D val="0"/>
            <c:spPr>
              <a:solidFill>
                <a:srgbClr val="1C3F94"/>
              </a:solidFill>
              <a:effectLst/>
            </c:spPr>
          </c:dPt>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1840.413</c:v>
                </c:pt>
                <c:pt idx="1">
                  <c:v>1778.704</c:v>
                </c:pt>
                <c:pt idx="2">
                  <c:v>1758.283</c:v>
                </c:pt>
                <c:pt idx="3">
                  <c:v>1846.917</c:v>
                </c:pt>
                <c:pt idx="4">
                  <c:v>1973.346</c:v>
                </c:pt>
                <c:pt idx="5">
                  <c:v>2115.84</c:v>
                </c:pt>
                <c:pt idx="6">
                  <c:v>2293.316</c:v>
                </c:pt>
                <c:pt idx="7">
                  <c:v>2391.759</c:v>
                </c:pt>
                <c:pt idx="8">
                  <c:v>2433.753</c:v>
                </c:pt>
                <c:pt idx="9">
                  <c:v>2229.056</c:v>
                </c:pt>
                <c:pt idx="10">
                  <c:v>2373.777</c:v>
                </c:pt>
                <c:pt idx="11">
                  <c:v>2509.14</c:v>
                </c:pt>
                <c:pt idx="12">
                  <c:v>2562.481</c:v>
                </c:pt>
                <c:pt idx="13">
                  <c:v>2646.335</c:v>
                </c:pt>
                <c:pt idx="14">
                  <c:v>2727.08</c:v>
                </c:pt>
                <c:pt idx="15">
                  <c:v>2633.868</c:v>
                </c:pt>
                <c:pt idx="16">
                  <c:v>2550.459</c:v>
                </c:pt>
                <c:pt idx="17">
                  <c:v>2690.731</c:v>
                </c:pt>
                <c:pt idx="18">
                  <c:v>2895.682</c:v>
                </c:pt>
                <c:pt idx="19">
                  <c:v>2894.407</c:v>
                </c:pt>
                <c:pt idx="20">
                  <c:v>2705.407</c:v>
                </c:pt>
                <c:pt idx="21">
                  <c:v>3147.765</c:v>
                </c:pt>
                <c:pt idx="22">
                  <c:v>3575.267</c:v>
                </c:pt>
                <c:pt idx="23">
                  <c:v>3701.393</c:v>
                </c:pt>
                <c:pt idx="24">
                  <c:v>3771.516</c:v>
                </c:pt>
                <c:pt idx="25">
                  <c:v>3836.5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4000"/>
          <c:min val="0"/>
        </c:scaling>
        <c:delete val="0"/>
        <c:axPos val="l"/>
        <c:majorGridlines>
          <c:spPr>
            <a:ln w="9525" cap="flat">
              <a:solidFill>
                <a:srgbClr val="D6D0C2"/>
              </a:solidFill>
              <a:prstDash val="solid"/>
              <a:round/>
            </a:ln>
          </c:spPr>
        </c:majorGridlines>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1000"/>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4"/>
          <c:w val="0.7000000000000001"/>
          <c:h val="0.87"/>
        </c:manualLayout>
      </c:layout>
      <c:areaChart>
        <c:grouping val="stacked"/>
        <c:varyColors val="0"/>
        <c:ser>
          <c:idx val="0"/>
          <c:order val="0"/>
          <c:tx>
            <c:strRef>
              <c:f>Sheet1!$B$1</c:f>
              <c:strCache>
                <c:ptCount val="1"/>
                <c:pt idx="0">
                  <c:v>_asos</c:v>
                </c:pt>
              </c:strCache>
            </c:strRef>
          </c:tx>
          <c:spPr>
            <a:noFill/>
            <a:ln>
              <a:noFill/>
            </a:ln>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100</c:v>
                </c:pt>
                <c:pt idx="1">
                  <c:v>95.54</c:v>
                </c:pt>
                <c:pt idx="2">
                  <c:v>88.937</c:v>
                </c:pt>
                <c:pt idx="3">
                  <c:v>84.566</c:v>
                </c:pt>
                <c:pt idx="4">
                  <c:v>83.563</c:v>
                </c:pt>
                <c:pt idx="5">
                  <c:v>83.303</c:v>
                </c:pt>
                <c:pt idx="6">
                  <c:v>83.281</c:v>
                </c:pt>
                <c:pt idx="7">
                  <c:v>81.918</c:v>
                </c:pt>
                <c:pt idx="8">
                  <c:v>79.724</c:v>
                </c:pt>
                <c:pt idx="9">
                  <c:v>70.351</c:v>
                </c:pt>
                <c:pt idx="10">
                  <c:v>68.755</c:v>
                </c:pt>
                <c:pt idx="11">
                  <c:v>70.367</c:v>
                </c:pt>
                <c:pt idx="12">
                  <c:v>71.885</c:v>
                </c:pt>
                <c:pt idx="13">
                  <c:v>72.456</c:v>
                </c:pt>
                <c:pt idx="14">
                  <c:v>73.63</c:v>
                </c:pt>
                <c:pt idx="15">
                  <c:v>74.024</c:v>
                </c:pt>
                <c:pt idx="16">
                  <c:v>73.06</c:v>
                </c:pt>
                <c:pt idx="17">
                  <c:v>73.913</c:v>
                </c:pt>
                <c:pt idx="18">
                  <c:v>75.325</c:v>
                </c:pt>
                <c:pt idx="19">
                  <c:v>76.079</c:v>
                </c:pt>
                <c:pt idx="20">
                  <c:v>71.503</c:v>
                </c:pt>
                <c:pt idx="21">
                  <c:v>72.628</c:v>
                </c:pt>
                <c:pt idx="22">
                  <c:v>75.137</c:v>
                </c:pt>
                <c:pt idx="23">
                  <c:v>75.835</c:v>
                </c:pt>
                <c:pt idx="24">
                  <c:v>75.431</c:v>
                </c:pt>
                <c:pt idx="25">
                  <c:v>74.528</c:v>
                </c:pt>
              </c:numCache>
            </c:numRef>
          </c:val>
        </c:ser>
        <c:ser>
          <c:idx val="1"/>
          <c:order val="1"/>
          <c:tx>
            <c:strRef>
              <c:f>Sheet1!$C$1</c:f>
              <c:strCache>
                <c:ptCount val="1"/>
                <c:pt idx="0">
                  <c:v>Qaychi</c:v>
                </c:pt>
              </c:strCache>
            </c:strRef>
          </c:tx>
          <c:spPr>
            <a:solidFill>
              <a:srgbClr val="1C3F94">
                <a:alpha val="12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Sheet1!$C$2:$C$27</c:f>
              <c:numCache>
                <c:formatCode>General</c:formatCode>
                <c:ptCount val="26"/>
                <c:pt idx="0">
                  <c:v>0</c:v>
                </c:pt>
                <c:pt idx="1">
                  <c:v>0.823</c:v>
                </c:pt>
                <c:pt idx="2">
                  <c:v>8.691</c:v>
                </c:pt>
                <c:pt idx="3">
                  <c:v>17.054</c:v>
                </c:pt>
                <c:pt idx="4">
                  <c:v>24.625</c:v>
                </c:pt>
                <c:pt idx="5">
                  <c:v>27.058</c:v>
                </c:pt>
                <c:pt idx="6">
                  <c:v>34.487</c:v>
                </c:pt>
                <c:pt idx="7">
                  <c:v>41.111</c:v>
                </c:pt>
                <c:pt idx="8">
                  <c:v>41.427</c:v>
                </c:pt>
                <c:pt idx="9">
                  <c:v>44.079</c:v>
                </c:pt>
                <c:pt idx="10">
                  <c:v>50.675</c:v>
                </c:pt>
                <c:pt idx="11">
                  <c:v>50.858</c:v>
                </c:pt>
                <c:pt idx="12">
                  <c:v>51.534</c:v>
                </c:pt>
                <c:pt idx="13">
                  <c:v>54.661</c:v>
                </c:pt>
                <c:pt idx="14">
                  <c:v>55.788</c:v>
                </c:pt>
                <c:pt idx="15">
                  <c:v>57.462</c:v>
                </c:pt>
                <c:pt idx="16">
                  <c:v>57.418</c:v>
                </c:pt>
                <c:pt idx="17">
                  <c:v>59.866</c:v>
                </c:pt>
                <c:pt idx="18">
                  <c:v>63.844</c:v>
                </c:pt>
                <c:pt idx="19">
                  <c:v>65.619</c:v>
                </c:pt>
                <c:pt idx="20">
                  <c:v>66.649</c:v>
                </c:pt>
                <c:pt idx="21">
                  <c:v>72.807</c:v>
                </c:pt>
                <c:pt idx="22">
                  <c:v>67.942</c:v>
                </c:pt>
                <c:pt idx="23">
                  <c:v>75.786</c:v>
                </c:pt>
                <c:pt idx="24">
                  <c:v>81.4</c:v>
                </c:pt>
                <c:pt idx="25">
                  <c:v>85.249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lineChart>
        <c:varyColors val="0"/>
        <c:ser>
          <c:idx val="2"/>
          <c:order val="2"/>
          <c:tx>
            <c:strRef>
              <c:f>Sheet1!$D$1</c:f>
              <c:strCache>
                <c:ptCount val="1"/>
                <c:pt idx="0">
                  <c:v>Real hajm</c:v>
                </c:pt>
              </c:strCache>
            </c:strRef>
          </c:tx>
          <c:spPr>
            <a:solidFill>
              <a:srgbClr val="1C3F94"/>
            </a:solidFill>
            <a:ln w="38100" cap="flat">
              <a:solidFill>
                <a:srgbClr val="1C3F9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C3F94"/>
              </a:solidFill>
              <a:ln w="9525" cap="flat">
                <a:solidFill>
                  <a:srgbClr val="1C3F94"/>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Sheet1!$D$2:$D$27</c:f>
              <c:numCache>
                <c:formatCode>General</c:formatCode>
                <c:ptCount val="26"/>
                <c:pt idx="0">
                  <c:v>100</c:v>
                </c:pt>
                <c:pt idx="1">
                  <c:v>96.363</c:v>
                </c:pt>
                <c:pt idx="2">
                  <c:v>97.628</c:v>
                </c:pt>
                <c:pt idx="3">
                  <c:v>101.62</c:v>
                </c:pt>
                <c:pt idx="4">
                  <c:v>108.188</c:v>
                </c:pt>
                <c:pt idx="5">
                  <c:v>110.361</c:v>
                </c:pt>
                <c:pt idx="6">
                  <c:v>117.768</c:v>
                </c:pt>
                <c:pt idx="7">
                  <c:v>123.029</c:v>
                </c:pt>
                <c:pt idx="8">
                  <c:v>121.151</c:v>
                </c:pt>
                <c:pt idx="9">
                  <c:v>114.429</c:v>
                </c:pt>
                <c:pt idx="10">
                  <c:v>119.43</c:v>
                </c:pt>
                <c:pt idx="11">
                  <c:v>121.225</c:v>
                </c:pt>
                <c:pt idx="12">
                  <c:v>123.419</c:v>
                </c:pt>
                <c:pt idx="13">
                  <c:v>127.117</c:v>
                </c:pt>
                <c:pt idx="14">
                  <c:v>129.418</c:v>
                </c:pt>
                <c:pt idx="15">
                  <c:v>131.486</c:v>
                </c:pt>
                <c:pt idx="16">
                  <c:v>130.477</c:v>
                </c:pt>
                <c:pt idx="17">
                  <c:v>133.779</c:v>
                </c:pt>
                <c:pt idx="18">
                  <c:v>139.169</c:v>
                </c:pt>
                <c:pt idx="19">
                  <c:v>141.698</c:v>
                </c:pt>
                <c:pt idx="20">
                  <c:v>138.152</c:v>
                </c:pt>
                <c:pt idx="21">
                  <c:v>145.434</c:v>
                </c:pt>
                <c:pt idx="22">
                  <c:v>143.079</c:v>
                </c:pt>
                <c:pt idx="23">
                  <c:v>151.621</c:v>
                </c:pt>
                <c:pt idx="24">
                  <c:v>156.831</c:v>
                </c:pt>
                <c:pt idx="25">
                  <c:v>159.777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3"/>
          <c:order val="3"/>
          <c:tx>
            <c:strRef>
              <c:f>Sheet1!$E$1</c:f>
              <c:strCache>
                <c:ptCount val="1"/>
                <c:pt idx="0">
                  <c:v>Bandlik</c:v>
                </c:pt>
              </c:strCache>
            </c:strRef>
          </c:tx>
          <c:spPr>
            <a:solidFill>
              <a:srgbClr val="C92A2A"/>
            </a:solidFill>
            <a:ln w="38100" cap="flat">
              <a:solidFill>
                <a:srgbClr val="C92A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2A2A"/>
              </a:solidFill>
              <a:ln w="9525" cap="flat">
                <a:solidFill>
                  <a:srgbClr val="C92A2A"/>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Sheet1!$E$2:$E$27</c:f>
              <c:numCache>
                <c:formatCode>General</c:formatCode>
                <c:ptCount val="26"/>
                <c:pt idx="0">
                  <c:v>100</c:v>
                </c:pt>
                <c:pt idx="1">
                  <c:v>95.54</c:v>
                </c:pt>
                <c:pt idx="2">
                  <c:v>88.937</c:v>
                </c:pt>
                <c:pt idx="3">
                  <c:v>84.566</c:v>
                </c:pt>
                <c:pt idx="4">
                  <c:v>83.563</c:v>
                </c:pt>
                <c:pt idx="5">
                  <c:v>83.303</c:v>
                </c:pt>
                <c:pt idx="6">
                  <c:v>83.281</c:v>
                </c:pt>
                <c:pt idx="7">
                  <c:v>81.918</c:v>
                </c:pt>
                <c:pt idx="8">
                  <c:v>79.724</c:v>
                </c:pt>
                <c:pt idx="9">
                  <c:v>70.351</c:v>
                </c:pt>
                <c:pt idx="10">
                  <c:v>68.755</c:v>
                </c:pt>
                <c:pt idx="11">
                  <c:v>70.367</c:v>
                </c:pt>
                <c:pt idx="12">
                  <c:v>71.885</c:v>
                </c:pt>
                <c:pt idx="13">
                  <c:v>72.456</c:v>
                </c:pt>
                <c:pt idx="14">
                  <c:v>73.63</c:v>
                </c:pt>
                <c:pt idx="15">
                  <c:v>74.024</c:v>
                </c:pt>
                <c:pt idx="16">
                  <c:v>73.06</c:v>
                </c:pt>
                <c:pt idx="17">
                  <c:v>73.913</c:v>
                </c:pt>
                <c:pt idx="18">
                  <c:v>75.325</c:v>
                </c:pt>
                <c:pt idx="19">
                  <c:v>76.079</c:v>
                </c:pt>
                <c:pt idx="20">
                  <c:v>71.503</c:v>
                </c:pt>
                <c:pt idx="21">
                  <c:v>72.628</c:v>
                </c:pt>
                <c:pt idx="22">
                  <c:v>75.137</c:v>
                </c:pt>
                <c:pt idx="23">
                  <c:v>75.835</c:v>
                </c:pt>
                <c:pt idx="24">
                  <c:v>75.431</c:v>
                </c:pt>
                <c:pt idx="25">
                  <c:v>74.528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4"/>
          <c:order val="4"/>
          <c:tx>
            <c:strRef>
              <c:f>Sheet1!$F$1</c:f>
              <c:strCache>
                <c:ptCount val="1"/>
                <c:pt idx="0">
                  <c:v>_100</c:v>
                </c:pt>
              </c:strCache>
            </c:strRef>
          </c:tx>
          <c:spPr>
            <a:solidFill>
              <a:srgbClr val="141414"/>
            </a:solidFill>
            <a:ln w="12700" cap="flat">
              <a:solidFill>
                <a:srgbClr val="141414"/>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41414"/>
              </a:solidFill>
              <a:ln w="9525" cap="flat">
                <a:solidFill>
                  <a:srgbClr val="141414"/>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Sheet1!$F$2:$F$27</c:f>
              <c:numCache>
                <c:formatCode>General</c:formatCode>
                <c:ptCount val="26"/>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180"/>
          <c:min val="60"/>
        </c:scaling>
        <c:delete val="0"/>
        <c:axPos val="l"/>
        <c:majorGridlines>
          <c:spPr>
            <a:ln w="9525" cap="flat">
              <a:solidFill>
                <a:srgbClr val="D6D0C2"/>
              </a:solidFill>
              <a:prstDash val="solid"/>
              <a:round/>
            </a:ln>
          </c:spPr>
        </c:majorGridlines>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midCat"/>
        <c:majorUnit val="20"/>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4"/>
          <c:w val="0.7000000000000001"/>
          <c:h val="0.87"/>
        </c:manualLayout>
      </c:layout>
      <c:lineChart>
        <c:varyColors val="0"/>
        <c:ser>
          <c:idx val="0"/>
          <c:order val="0"/>
          <c:tx>
            <c:strRef>
              <c:f>Sheet1!$B$1</c:f>
              <c:strCache>
                <c:ptCount val="1"/>
                <c:pt idx="0">
                  <c:v>Kompyuter va elektronikasiz</c:v>
                </c:pt>
              </c:strCache>
            </c:strRef>
          </c:tx>
          <c:spPr>
            <a:solidFill>
              <a:srgbClr val="7F9BD6"/>
            </a:solidFill>
            <a:ln w="31750" cap="flat">
              <a:solidFill>
                <a:srgbClr val="7F9BD6"/>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9BD6"/>
              </a:solidFill>
              <a:ln w="9525" cap="flat">
                <a:solidFill>
                  <a:srgbClr val="7F9BD6"/>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100</c:v>
                </c:pt>
                <c:pt idx="1">
                  <c:v>96.256</c:v>
                </c:pt>
                <c:pt idx="2">
                  <c:v>95.936</c:v>
                </c:pt>
                <c:pt idx="3">
                  <c:v>99.051</c:v>
                </c:pt>
                <c:pt idx="4">
                  <c:v>104.825</c:v>
                </c:pt>
                <c:pt idx="5">
                  <c:v>106.268</c:v>
                </c:pt>
                <c:pt idx="6">
                  <c:v>110.256</c:v>
                </c:pt>
                <c:pt idx="7">
                  <c:v>113.155</c:v>
                </c:pt>
                <c:pt idx="8">
                  <c:v>108.176</c:v>
                </c:pt>
                <c:pt idx="9">
                  <c:v>96.869</c:v>
                </c:pt>
                <c:pt idx="10">
                  <c:v>101.998</c:v>
                </c:pt>
                <c:pt idx="11">
                  <c:v>102.242</c:v>
                </c:pt>
                <c:pt idx="12">
                  <c:v>101.851</c:v>
                </c:pt>
                <c:pt idx="13">
                  <c:v>105.448</c:v>
                </c:pt>
                <c:pt idx="14">
                  <c:v>106.022</c:v>
                </c:pt>
                <c:pt idx="15">
                  <c:v>106.035</c:v>
                </c:pt>
                <c:pt idx="16">
                  <c:v>104.752</c:v>
                </c:pt>
                <c:pt idx="17">
                  <c:v>107.639</c:v>
                </c:pt>
                <c:pt idx="18">
                  <c:v>112.701</c:v>
                </c:pt>
                <c:pt idx="19">
                  <c:v>112.898</c:v>
                </c:pt>
                <c:pt idx="20">
                  <c:v>107.747</c:v>
                </c:pt>
                <c:pt idx="21">
                  <c:v>116.716</c:v>
                </c:pt>
                <c:pt idx="22">
                  <c:v>115.934</c:v>
                </c:pt>
                <c:pt idx="23">
                  <c:v>116.441</c:v>
                </c:pt>
                <c:pt idx="24">
                  <c:v>121.568</c:v>
                </c:pt>
                <c:pt idx="25">
                  <c:v>122.773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none"/>
        <c:minorTickMark val="none"/>
        <c:tickLblPos val="low"/>
        <c:spPr>
          <a:ln w="19050" cap="flat">
            <a:no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180"/>
          <c:min val="60"/>
        </c:scaling>
        <c:delete val="1"/>
        <c:axPos val="l"/>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20"/>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7"/>
          <c:y val="0.04"/>
          <c:w val="0.6799999999999999"/>
          <c:h val="0.83"/>
        </c:manualLayout>
      </c:layout>
      <c:lineChart>
        <c:varyColors val="0"/>
        <c:ser>
          <c:idx val="0"/>
          <c:order val="0"/>
          <c:tx>
            <c:strRef>
              <c:f>Sheet1!$B$1</c:f>
              <c:strCache>
                <c:ptCount val="1"/>
                <c:pt idx="0">
                  <c:v>YaIMdagi ulush</c:v>
                </c:pt>
              </c:strCache>
            </c:strRef>
          </c:tx>
          <c:spPr>
            <a:solidFill>
              <a:srgbClr val="F59F00"/>
            </a:solidFill>
            <a:ln w="38100" cap="flat">
              <a:solidFill>
                <a:srgbClr val="F59F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59F00"/>
              </a:solidFill>
              <a:ln w="9525" cap="flat">
                <a:solidFill>
                  <a:srgbClr val="F59F00"/>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76.58</c:v>
                </c:pt>
                <c:pt idx="1">
                  <c:v>77.64</c:v>
                </c:pt>
                <c:pt idx="2">
                  <c:v>78.51</c:v>
                </c:pt>
                <c:pt idx="3">
                  <c:v>78.29</c:v>
                </c:pt>
                <c:pt idx="4">
                  <c:v>77.88</c:v>
                </c:pt>
                <c:pt idx="5">
                  <c:v>77.78</c:v>
                </c:pt>
                <c:pt idx="6">
                  <c:v>77.43</c:v>
                </c:pt>
                <c:pt idx="7">
                  <c:v>77.52</c:v>
                </c:pt>
                <c:pt idx="8">
                  <c:v>78.13</c:v>
                </c:pt>
                <c:pt idx="9">
                  <c:v>79.81</c:v>
                </c:pt>
                <c:pt idx="10">
                  <c:v>79.76</c:v>
                </c:pt>
                <c:pt idx="11">
                  <c:v>79.39</c:v>
                </c:pt>
                <c:pt idx="12">
                  <c:v>79.72</c:v>
                </c:pt>
                <c:pt idx="13">
                  <c:v>79.52</c:v>
                </c:pt>
                <c:pt idx="14">
                  <c:v>79.68</c:v>
                </c:pt>
                <c:pt idx="15">
                  <c:v>80.7</c:v>
                </c:pt>
                <c:pt idx="16">
                  <c:v>81.42</c:v>
                </c:pt>
                <c:pt idx="17">
                  <c:v>81.09</c:v>
                </c:pt>
                <c:pt idx="18">
                  <c:v>80.82</c:v>
                </c:pt>
                <c:pt idx="19">
                  <c:v>81.38</c:v>
                </c:pt>
                <c:pt idx="20">
                  <c:v>82.09</c:v>
                </c:pt>
                <c:pt idx="21">
                  <c:v>81.51</c:v>
                </c:pt>
                <c:pt idx="22">
                  <c:v>80.88</c:v>
                </c:pt>
                <c:pt idx="23">
                  <c:v>81.37</c:v>
                </c:pt>
                <c:pt idx="24">
                  <c:v>81.86</c:v>
                </c:pt>
                <c:pt idx="25">
                  <c:v>82.4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Bandlikdagi ulush</c:v>
                </c:pt>
              </c:strCache>
            </c:strRef>
          </c:tx>
          <c:spPr>
            <a:solidFill>
              <a:srgbClr val="B86E00"/>
            </a:solidFill>
            <a:ln w="28575" cap="flat">
              <a:solidFill>
                <a:srgbClr val="B86E00"/>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6E00"/>
              </a:solidFill>
              <a:ln w="9525" cap="flat">
                <a:solidFill>
                  <a:srgbClr val="B86E00"/>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Sheet1!$C$2:$C$27</c:f>
              <c:numCache>
                <c:formatCode>General</c:formatCode>
                <c:ptCount val="26"/>
                <c:pt idx="0">
                  <c:v>79.025</c:v>
                </c:pt>
                <c:pt idx="1">
                  <c:v>79.658</c:v>
                </c:pt>
                <c:pt idx="2">
                  <c:v>80.496</c:v>
                </c:pt>
                <c:pt idx="3">
                  <c:v>81.054</c:v>
                </c:pt>
                <c:pt idx="4">
                  <c:v>81.204</c:v>
                </c:pt>
                <c:pt idx="5">
                  <c:v>81.359</c:v>
                </c:pt>
                <c:pt idx="6">
                  <c:v>81.393</c:v>
                </c:pt>
                <c:pt idx="7">
                  <c:v>81.804</c:v>
                </c:pt>
                <c:pt idx="8">
                  <c:v>82.384</c:v>
                </c:pt>
                <c:pt idx="9">
                  <c:v>83.85</c:v>
                </c:pt>
                <c:pt idx="10">
                  <c:v>84.309</c:v>
                </c:pt>
                <c:pt idx="11">
                  <c:v>84.264</c:v>
                </c:pt>
                <c:pt idx="12">
                  <c:v>84.243</c:v>
                </c:pt>
                <c:pt idx="13">
                  <c:v>84.203</c:v>
                </c:pt>
                <c:pt idx="14">
                  <c:v>84.132</c:v>
                </c:pt>
                <c:pt idx="15">
                  <c:v>84.138</c:v>
                </c:pt>
                <c:pt idx="16">
                  <c:v>84.343</c:v>
                </c:pt>
                <c:pt idx="17">
                  <c:v>84.29</c:v>
                </c:pt>
                <c:pt idx="18">
                  <c:v>84.177</c:v>
                </c:pt>
                <c:pt idx="19">
                  <c:v>84.152</c:v>
                </c:pt>
                <c:pt idx="20">
                  <c:v>84.078</c:v>
                </c:pt>
                <c:pt idx="21">
                  <c:v>84.224</c:v>
                </c:pt>
                <c:pt idx="22">
                  <c:v>84.331</c:v>
                </c:pt>
                <c:pt idx="23">
                  <c:v>84.393</c:v>
                </c:pt>
                <c:pt idx="24">
                  <c:v>84.466</c:v>
                </c:pt>
                <c:pt idx="25">
                  <c:v>84.581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86"/>
          <c:min val="74"/>
        </c:scaling>
        <c:delete val="0"/>
        <c:axPos val="l"/>
        <c:majorGridlines>
          <c:spPr>
            <a:ln w="9525" cap="flat">
              <a:solidFill>
                <a:srgbClr val="D6D0C2"/>
              </a:solidFill>
              <a:prstDash val="solid"/>
              <a:round/>
            </a:ln>
          </c:spPr>
        </c:majorGridlines>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4"/>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7"/>
          <c:y val="0.04"/>
          <c:w val="0.9099999999999999"/>
          <c:h val="0.87"/>
        </c:manualLayout>
      </c:layout>
      <c:barChart>
        <c:barDir val="col"/>
        <c:grouping val="clustered"/>
        <c:varyColors val="0"/>
        <c:ser>
          <c:idx val="0"/>
          <c:order val="0"/>
          <c:tx>
            <c:strRef>
              <c:f>Sheet1!$B$1</c:f>
              <c:strCache>
                <c:ptCount val="1"/>
                <c:pt idx="0">
                  <c:v>Xizmatlar bandligi</c:v>
                </c:pt>
              </c:strCache>
            </c:strRef>
          </c:tx>
          <c:spPr>
            <a:solidFill>
              <a:srgbClr val="F59F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97.504</c:v>
                </c:pt>
                <c:pt idx="1">
                  <c:v>98.557</c:v>
                </c:pt>
                <c:pt idx="2">
                  <c:v>98.587</c:v>
                </c:pt>
                <c:pt idx="3">
                  <c:v>98.857</c:v>
                </c:pt>
                <c:pt idx="4">
                  <c:v>99.963</c:v>
                </c:pt>
                <c:pt idx="5">
                  <c:v>101.991</c:v>
                </c:pt>
                <c:pt idx="6">
                  <c:v>103.84</c:v>
                </c:pt>
                <c:pt idx="7">
                  <c:v>105.463</c:v>
                </c:pt>
                <c:pt idx="8">
                  <c:v>105.638</c:v>
                </c:pt>
                <c:pt idx="9">
                  <c:v>101.842</c:v>
                </c:pt>
                <c:pt idx="10">
                  <c:v>101.608</c:v>
                </c:pt>
                <c:pt idx="11">
                  <c:v>102.773</c:v>
                </c:pt>
                <c:pt idx="12">
                  <c:v>104.882</c:v>
                </c:pt>
                <c:pt idx="13">
                  <c:v>106.606</c:v>
                </c:pt>
                <c:pt idx="14">
                  <c:v>108.805</c:v>
                </c:pt>
                <c:pt idx="15">
                  <c:v>111.283</c:v>
                </c:pt>
                <c:pt idx="16">
                  <c:v>113.379</c:v>
                </c:pt>
                <c:pt idx="17">
                  <c:v>115.111</c:v>
                </c:pt>
                <c:pt idx="18">
                  <c:v>116.998</c:v>
                </c:pt>
                <c:pt idx="19">
                  <c:v>118.864</c:v>
                </c:pt>
                <c:pt idx="20">
                  <c:v>112.135</c:v>
                </c:pt>
                <c:pt idx="21">
                  <c:v>115.884</c:v>
                </c:pt>
                <c:pt idx="22">
                  <c:v>120.929</c:v>
                </c:pt>
                <c:pt idx="23">
                  <c:v>123.319</c:v>
                </c:pt>
                <c:pt idx="24">
                  <c:v>124.42</c:v>
                </c:pt>
                <c:pt idx="25">
                  <c:v>124.947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130"/>
          <c:min val="80"/>
        </c:scaling>
        <c:delete val="0"/>
        <c:axPos val="l"/>
        <c:majorGridlines>
          <c:spPr>
            <a:ln w="9525" cap="flat">
              <a:solidFill>
                <a:srgbClr val="D6D0C2"/>
              </a:solidFill>
              <a:prstDash val="solid"/>
              <a:round/>
            </a:ln>
          </c:spPr>
        </c:majorGridlines>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10"/>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7"/>
          <c:y val="0.04"/>
          <c:w val="0.9099999999999999"/>
          <c:h val="0.87"/>
        </c:manualLayout>
      </c:layout>
      <c:barChart>
        <c:barDir val="col"/>
        <c:grouping val="clustered"/>
        <c:varyColors val="0"/>
        <c:ser>
          <c:idx val="0"/>
          <c:order val="0"/>
          <c:tx>
            <c:strRef>
              <c:f>Sheet1!$B$1</c:f>
              <c:strCache>
                <c:ptCount val="1"/>
                <c:pt idx="0">
                  <c:v>2020</c:v>
                </c:pt>
              </c:strCache>
            </c:strRef>
          </c:tx>
          <c:spPr>
            <a:solidFill>
              <a:srgbClr val="C92A2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112.135</c:v>
                </c:pt>
                <c:pt idx="21">
                  <c:v/>
                </c:pt>
                <c:pt idx="22">
                  <c:v/>
                </c:pt>
                <c:pt idx="23">
                  <c:v/>
                </c:pt>
                <c:pt idx="24">
                  <c:v/>
                </c:pt>
                <c:pt idx="25">
                  <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1"/>
        <c:axPos val="b"/>
        <c:numFmt formatCode="General" sourceLinked="1"/>
        <c:majorTickMark val="none"/>
        <c:minorTickMark val="none"/>
        <c:tickLblPos val="low"/>
        <c:spPr>
          <a:ln w="19050" cap="flat">
            <a:no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130"/>
          <c:min val="80"/>
        </c:scaling>
        <c:delete val="1"/>
        <c:axPos val="l"/>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10"/>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7"/>
          <c:y val="0.04"/>
          <c:w val="0.71"/>
          <c:h val="0.83"/>
        </c:manualLayout>
      </c:layout>
      <c:lineChart>
        <c:varyColors val="0"/>
        <c:ser>
          <c:idx val="0"/>
          <c:order val="0"/>
          <c:tx>
            <c:strRef>
              <c:f>Sheet1!$B$1</c:f>
              <c:strCache>
                <c:ptCount val="1"/>
                <c:pt idx="0">
                  <c:v>Joriy narxda</c:v>
                </c:pt>
              </c:strCache>
            </c:strRef>
          </c:tx>
          <c:spPr>
            <a:solidFill>
              <a:srgbClr val="9CD3A6"/>
            </a:solidFill>
            <a:ln w="31750" cap="flat">
              <a:solidFill>
                <a:srgbClr val="9CD3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CD3A6"/>
              </a:solidFill>
              <a:ln w="9525" cap="flat">
                <a:solidFill>
                  <a:srgbClr val="9CD3A6"/>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100</c:v>
                </c:pt>
                <c:pt idx="1">
                  <c:v>101.866</c:v>
                </c:pt>
                <c:pt idx="2">
                  <c:v>97.723</c:v>
                </c:pt>
                <c:pt idx="3">
                  <c:v>116.523</c:v>
                </c:pt>
                <c:pt idx="4">
                  <c:v>146.088</c:v>
                </c:pt>
                <c:pt idx="5">
                  <c:v>131.614</c:v>
                </c:pt>
                <c:pt idx="6">
                  <c:v>128.53</c:v>
                </c:pt>
                <c:pt idx="7">
                  <c:v>147.86</c:v>
                </c:pt>
                <c:pt idx="8">
                  <c:v>148.148</c:v>
                </c:pt>
                <c:pt idx="9">
                  <c:v>130.723</c:v>
                </c:pt>
                <c:pt idx="10">
                  <c:v>147.336</c:v>
                </c:pt>
                <c:pt idx="11">
                  <c:v>181.853</c:v>
                </c:pt>
                <c:pt idx="12">
                  <c:v>181.418</c:v>
                </c:pt>
                <c:pt idx="13">
                  <c:v>218.206</c:v>
                </c:pt>
                <c:pt idx="14">
                  <c:v>202.773</c:v>
                </c:pt>
                <c:pt idx="15">
                  <c:v>184.138</c:v>
                </c:pt>
                <c:pt idx="16">
                  <c:v>169.322</c:v>
                </c:pt>
                <c:pt idx="17">
                  <c:v>178.773</c:v>
                </c:pt>
                <c:pt idx="18">
                  <c:v>179.053</c:v>
                </c:pt>
                <c:pt idx="19">
                  <c:v>166.009</c:v>
                </c:pt>
                <c:pt idx="20">
                  <c:v>166.179</c:v>
                </c:pt>
                <c:pt idx="21">
                  <c:v>233.202</c:v>
                </c:pt>
                <c:pt idx="22">
                  <c:v>296.677</c:v>
                </c:pt>
                <c:pt idx="23">
                  <c:v>272.143</c:v>
                </c:pt>
                <c:pt idx="24">
                  <c:v>250.771</c:v>
                </c:pt>
                <c:pt idx="25">
                  <c:v>258.722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Real hajm</c:v>
                </c:pt>
              </c:strCache>
            </c:strRef>
          </c:tx>
          <c:spPr>
            <a:solidFill>
              <a:srgbClr val="2F9E44"/>
            </a:solidFill>
            <a:ln w="38100" cap="flat">
              <a:solidFill>
                <a:srgbClr val="2F9E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9E44"/>
              </a:solidFill>
              <a:ln w="9525" cap="flat">
                <a:solidFill>
                  <a:srgbClr val="2F9E44"/>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Sheet1!$C$2:$C$27</c:f>
              <c:numCache>
                <c:formatCode>General</c:formatCode>
                <c:ptCount val="26"/>
                <c:pt idx="0">
                  <c:v>100</c:v>
                </c:pt>
                <c:pt idx="1">
                  <c:v>97.849</c:v>
                </c:pt>
                <c:pt idx="2">
                  <c:v>101.104</c:v>
                </c:pt>
                <c:pt idx="3">
                  <c:v>108.901</c:v>
                </c:pt>
                <c:pt idx="4">
                  <c:v>118.115</c:v>
                </c:pt>
                <c:pt idx="5">
                  <c:v>122.839</c:v>
                </c:pt>
                <c:pt idx="6">
                  <c:v>124.481</c:v>
                </c:pt>
                <c:pt idx="7">
                  <c:v>111.224</c:v>
                </c:pt>
                <c:pt idx="8">
                  <c:v>110.915</c:v>
                </c:pt>
                <c:pt idx="9">
                  <c:v>123.163</c:v>
                </c:pt>
                <c:pt idx="10">
                  <c:v>120.066</c:v>
                </c:pt>
                <c:pt idx="11">
                  <c:v>115.656</c:v>
                </c:pt>
                <c:pt idx="12">
                  <c:v>112.173</c:v>
                </c:pt>
                <c:pt idx="13">
                  <c:v>123.515</c:v>
                </c:pt>
                <c:pt idx="14">
                  <c:v>122.401</c:v>
                </c:pt>
                <c:pt idx="15">
                  <c:v>132.107</c:v>
                </c:pt>
                <c:pt idx="16">
                  <c:v>139.763</c:v>
                </c:pt>
                <c:pt idx="17">
                  <c:v>136.147</c:v>
                </c:pt>
                <c:pt idx="18">
                  <c:v>141.74</c:v>
                </c:pt>
                <c:pt idx="19">
                  <c:v>132.79</c:v>
                </c:pt>
                <c:pt idx="20">
                  <c:v>136.973</c:v>
                </c:pt>
                <c:pt idx="21">
                  <c:v>145.446</c:v>
                </c:pt>
                <c:pt idx="22">
                  <c:v>145.848</c:v>
                </c:pt>
                <c:pt idx="23">
                  <c:v>149.501</c:v>
                </c:pt>
                <c:pt idx="24">
                  <c:v>144.714</c:v>
                </c:pt>
                <c:pt idx="25">
                  <c:v>143.278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_100</c:v>
                </c:pt>
              </c:strCache>
            </c:strRef>
          </c:tx>
          <c:spPr>
            <a:solidFill>
              <a:srgbClr val="141414"/>
            </a:solidFill>
            <a:ln w="12700" cap="flat">
              <a:solidFill>
                <a:srgbClr val="141414"/>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41414"/>
              </a:solidFill>
              <a:ln w="9525" cap="flat">
                <a:solidFill>
                  <a:srgbClr val="141414"/>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Sheet1!$D$2:$D$27</c:f>
              <c:numCache>
                <c:formatCode>General</c:formatCode>
                <c:ptCount val="26"/>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320"/>
          <c:min val="80"/>
        </c:scaling>
        <c:delete val="0"/>
        <c:axPos val="l"/>
        <c:majorGridlines>
          <c:spPr>
            <a:ln w="9525" cap="flat">
              <a:solidFill>
                <a:srgbClr val="D6D0C2"/>
              </a:solidFill>
              <a:prstDash val="solid"/>
              <a:round/>
            </a:ln>
          </c:spPr>
        </c:majorGridlines>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60"/>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6"/>
          <c:y val="0.04"/>
          <c:w val="0.9199999999999999"/>
          <c:h val="0.85"/>
        </c:manualLayout>
      </c:layout>
      <c:barChart>
        <c:barDir val="col"/>
        <c:grouping val="clustered"/>
        <c:varyColors val="0"/>
        <c:ser>
          <c:idx val="0"/>
          <c:order val="0"/>
          <c:tx>
            <c:strRef>
              <c:f>Sheet1!$B$1</c:f>
              <c:strCache>
                <c:ptCount val="1"/>
                <c:pt idx="0">
                  <c:v>Real o‘sish</c:v>
                </c:pt>
              </c:strCache>
            </c:strRef>
          </c:tx>
          <c:spPr>
            <a:solidFill>
              <a:srgbClr val="2F9E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2F9E44"/>
              </a:solidFill>
              <a:effectLst/>
            </c:spPr>
          </c:dPt>
          <c:dPt>
            <c:idx val="1"/>
            <c:invertIfNegative val="0"/>
            <c:bubble3D val="0"/>
            <c:spPr>
              <a:solidFill>
                <a:srgbClr val="C92A2A"/>
              </a:solidFill>
              <a:effectLst/>
            </c:spPr>
          </c:dPt>
          <c:dPt>
            <c:idx val="2"/>
            <c:invertIfNegative val="0"/>
            <c:bubble3D val="0"/>
            <c:spPr>
              <a:solidFill>
                <a:srgbClr val="2F9E44"/>
              </a:solidFill>
              <a:effectLst/>
            </c:spPr>
          </c:dPt>
          <c:dPt>
            <c:idx val="3"/>
            <c:invertIfNegative val="0"/>
            <c:bubble3D val="0"/>
            <c:spPr>
              <a:solidFill>
                <a:srgbClr val="2F9E44"/>
              </a:solidFill>
              <a:effectLst/>
            </c:spPr>
          </c:dPt>
          <c:dPt>
            <c:idx val="4"/>
            <c:invertIfNegative val="0"/>
            <c:bubble3D val="0"/>
            <c:spPr>
              <a:solidFill>
                <a:srgbClr val="2F9E44"/>
              </a:solidFill>
              <a:effectLst/>
            </c:spPr>
          </c:dPt>
          <c:dPt>
            <c:idx val="5"/>
            <c:invertIfNegative val="0"/>
            <c:bubble3D val="0"/>
            <c:spPr>
              <a:solidFill>
                <a:srgbClr val="2F9E44"/>
              </a:solidFill>
              <a:effectLst/>
            </c:spPr>
          </c:dPt>
          <c:dPt>
            <c:idx val="6"/>
            <c:invertIfNegative val="0"/>
            <c:bubble3D val="0"/>
            <c:spPr>
              <a:solidFill>
                <a:srgbClr val="2F9E44"/>
              </a:solidFill>
              <a:effectLst/>
            </c:spPr>
          </c:dPt>
          <c:dPt>
            <c:idx val="7"/>
            <c:invertIfNegative val="0"/>
            <c:bubble3D val="0"/>
            <c:spPr>
              <a:solidFill>
                <a:srgbClr val="C92A2A"/>
              </a:solidFill>
              <a:effectLst/>
            </c:spPr>
          </c:dPt>
          <c:dPt>
            <c:idx val="8"/>
            <c:invertIfNegative val="0"/>
            <c:bubble3D val="0"/>
            <c:spPr>
              <a:solidFill>
                <a:srgbClr val="C92A2A"/>
              </a:solidFill>
              <a:effectLst/>
            </c:spPr>
          </c:dPt>
          <c:dPt>
            <c:idx val="9"/>
            <c:invertIfNegative val="0"/>
            <c:bubble3D val="0"/>
            <c:spPr>
              <a:solidFill>
                <a:srgbClr val="2F9E44"/>
              </a:solidFill>
              <a:effectLst/>
            </c:spPr>
          </c:dPt>
          <c:dPt>
            <c:idx val="10"/>
            <c:invertIfNegative val="0"/>
            <c:bubble3D val="0"/>
            <c:spPr>
              <a:solidFill>
                <a:srgbClr val="C92A2A"/>
              </a:solidFill>
              <a:effectLst/>
            </c:spPr>
          </c:dPt>
          <c:dPt>
            <c:idx val="11"/>
            <c:invertIfNegative val="0"/>
            <c:bubble3D val="0"/>
            <c:spPr>
              <a:solidFill>
                <a:srgbClr val="C92A2A"/>
              </a:solidFill>
              <a:effectLst/>
            </c:spPr>
          </c:dPt>
          <c:dPt>
            <c:idx val="12"/>
            <c:invertIfNegative val="0"/>
            <c:bubble3D val="0"/>
            <c:spPr>
              <a:solidFill>
                <a:srgbClr val="C92A2A"/>
              </a:solidFill>
              <a:effectLst/>
            </c:spPr>
          </c:dPt>
          <c:dPt>
            <c:idx val="13"/>
            <c:invertIfNegative val="0"/>
            <c:bubble3D val="0"/>
            <c:spPr>
              <a:solidFill>
                <a:srgbClr val="2F9E44"/>
              </a:solidFill>
              <a:effectLst/>
            </c:spPr>
          </c:dPt>
          <c:dPt>
            <c:idx val="14"/>
            <c:invertIfNegative val="0"/>
            <c:bubble3D val="0"/>
            <c:spPr>
              <a:solidFill>
                <a:srgbClr val="C92A2A"/>
              </a:solidFill>
              <a:effectLst/>
            </c:spPr>
          </c:dPt>
          <c:dPt>
            <c:idx val="15"/>
            <c:invertIfNegative val="0"/>
            <c:bubble3D val="0"/>
            <c:spPr>
              <a:solidFill>
                <a:srgbClr val="2F9E44"/>
              </a:solidFill>
              <a:effectLst/>
            </c:spPr>
          </c:dPt>
          <c:dPt>
            <c:idx val="16"/>
            <c:invertIfNegative val="0"/>
            <c:bubble3D val="0"/>
            <c:spPr>
              <a:solidFill>
                <a:srgbClr val="2F9E44"/>
              </a:solidFill>
              <a:effectLst/>
            </c:spPr>
          </c:dPt>
          <c:dPt>
            <c:idx val="17"/>
            <c:invertIfNegative val="0"/>
            <c:bubble3D val="0"/>
            <c:spPr>
              <a:solidFill>
                <a:srgbClr val="C92A2A"/>
              </a:solidFill>
              <a:effectLst/>
            </c:spPr>
          </c:dPt>
          <c:dPt>
            <c:idx val="18"/>
            <c:invertIfNegative val="0"/>
            <c:bubble3D val="0"/>
            <c:spPr>
              <a:solidFill>
                <a:srgbClr val="2F9E44"/>
              </a:solidFill>
              <a:effectLst/>
            </c:spPr>
          </c:dPt>
          <c:dPt>
            <c:idx val="19"/>
            <c:invertIfNegative val="0"/>
            <c:bubble3D val="0"/>
            <c:spPr>
              <a:solidFill>
                <a:srgbClr val="C92A2A"/>
              </a:solidFill>
              <a:effectLst/>
            </c:spPr>
          </c:dPt>
          <c:dPt>
            <c:idx val="20"/>
            <c:invertIfNegative val="0"/>
            <c:bubble3D val="0"/>
            <c:spPr>
              <a:solidFill>
                <a:srgbClr val="2F9E44"/>
              </a:solidFill>
              <a:effectLst/>
            </c:spPr>
          </c:dPt>
          <c:dPt>
            <c:idx val="21"/>
            <c:invertIfNegative val="0"/>
            <c:bubble3D val="0"/>
            <c:spPr>
              <a:solidFill>
                <a:srgbClr val="2F9E44"/>
              </a:solidFill>
              <a:effectLst/>
            </c:spPr>
          </c:dPt>
          <c:dPt>
            <c:idx val="22"/>
            <c:invertIfNegative val="0"/>
            <c:bubble3D val="0"/>
            <c:spPr>
              <a:solidFill>
                <a:srgbClr val="2F9E44"/>
              </a:solidFill>
              <a:effectLst/>
            </c:spPr>
          </c:dPt>
          <c:dPt>
            <c:idx val="23"/>
            <c:invertIfNegative val="0"/>
            <c:bubble3D val="0"/>
            <c:spPr>
              <a:solidFill>
                <a:srgbClr val="2F9E44"/>
              </a:solidFill>
              <a:effectLst/>
            </c:spPr>
          </c:dPt>
          <c:dPt>
            <c:idx val="24"/>
            <c:invertIfNegative val="0"/>
            <c:bubble3D val="0"/>
            <c:spPr>
              <a:solidFill>
                <a:srgbClr val="C92A2A"/>
              </a:solidFill>
              <a:effectLst/>
            </c:spPr>
          </c:dPt>
          <c:dPt>
            <c:idx val="25"/>
            <c:invertIfNegative val="0"/>
            <c:bubble3D val="0"/>
            <c:spPr>
              <a:solidFill>
                <a:srgbClr val="C92A2A"/>
              </a:solidFill>
              <a:effectLst/>
            </c:spPr>
          </c:dPt>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
                </c:pt>
                <c:pt idx="1">
                  <c:v>-2.15</c:v>
                </c:pt>
                <c:pt idx="2">
                  <c:v>3.33</c:v>
                </c:pt>
                <c:pt idx="3">
                  <c:v>7.71</c:v>
                </c:pt>
                <c:pt idx="4">
                  <c:v>8.46</c:v>
                </c:pt>
                <c:pt idx="5">
                  <c:v>4</c:v>
                </c:pt>
                <c:pt idx="6">
                  <c:v>1.34</c:v>
                </c:pt>
                <c:pt idx="7">
                  <c:v>-10.65</c:v>
                </c:pt>
                <c:pt idx="8">
                  <c:v>-0.28</c:v>
                </c:pt>
                <c:pt idx="9">
                  <c:v>11.04</c:v>
                </c:pt>
                <c:pt idx="10">
                  <c:v>-2.51</c:v>
                </c:pt>
                <c:pt idx="11">
                  <c:v>-3.67</c:v>
                </c:pt>
                <c:pt idx="12">
                  <c:v>-3.01</c:v>
                </c:pt>
                <c:pt idx="13">
                  <c:v>10.11</c:v>
                </c:pt>
                <c:pt idx="14">
                  <c:v>-0.9</c:v>
                </c:pt>
                <c:pt idx="15">
                  <c:v>7.93</c:v>
                </c:pt>
                <c:pt idx="16">
                  <c:v>5.8</c:v>
                </c:pt>
                <c:pt idx="17">
                  <c:v>-2.59</c:v>
                </c:pt>
                <c:pt idx="18">
                  <c:v>4.11</c:v>
                </c:pt>
                <c:pt idx="19">
                  <c:v>-6.31</c:v>
                </c:pt>
                <c:pt idx="20">
                  <c:v>3.15</c:v>
                </c:pt>
                <c:pt idx="21">
                  <c:v>6.19</c:v>
                </c:pt>
                <c:pt idx="22">
                  <c:v>0.28</c:v>
                </c:pt>
                <c:pt idx="23">
                  <c:v>2.51</c:v>
                </c:pt>
                <c:pt idx="24">
                  <c:v>-3.2</c:v>
                </c:pt>
                <c:pt idx="25">
                  <c:v>-0.99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12"/>
          <c:min val="-16"/>
        </c:scaling>
        <c:delete val="0"/>
        <c:axPos val="l"/>
        <c:majorGridlines>
          <c:spPr>
            <a:ln w="9525" cap="flat">
              <a:solidFill>
                <a:srgbClr val="D6D0C2"/>
              </a:solidFill>
              <a:prstDash val="solid"/>
              <a:round/>
            </a:ln>
          </c:spPr>
        </c:majorGridlines>
        <c:numFmt formatCode="[&lt;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4"/>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7"/>
          <c:y val="0.04"/>
          <c:w val="0.71"/>
          <c:h val="0.83"/>
        </c:manualLayout>
      </c:layout>
      <c:areaChart>
        <c:grouping val="stacked"/>
        <c:varyColors val="0"/>
        <c:ser>
          <c:idx val="0"/>
          <c:order val="0"/>
          <c:tx>
            <c:strRef>
              <c:f>Sheet1!$B$1</c:f>
              <c:strCache>
                <c:ptCount val="1"/>
                <c:pt idx="0">
                  <c:v>_asos</c:v>
                </c:pt>
              </c:strCache>
            </c:strRef>
          </c:tx>
          <c:spPr>
            <a:noFill/>
            <a:ln>
              <a:noFill/>
            </a:ln>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100</c:v>
                </c:pt>
                <c:pt idx="1">
                  <c:v>98.272</c:v>
                </c:pt>
                <c:pt idx="2">
                  <c:v>94.932</c:v>
                </c:pt>
                <c:pt idx="3">
                  <c:v>96.904</c:v>
                </c:pt>
                <c:pt idx="4">
                  <c:v>100.533</c:v>
                </c:pt>
                <c:pt idx="5">
                  <c:v>100.932</c:v>
                </c:pt>
                <c:pt idx="6">
                  <c:v>98.667</c:v>
                </c:pt>
                <c:pt idx="7">
                  <c:v>95.982</c:v>
                </c:pt>
                <c:pt idx="8">
                  <c:v>86.627</c:v>
                </c:pt>
                <c:pt idx="9">
                  <c:v>74.205</c:v>
                </c:pt>
                <c:pt idx="10">
                  <c:v>70.971</c:v>
                </c:pt>
                <c:pt idx="11">
                  <c:v>70.127</c:v>
                </c:pt>
                <c:pt idx="12">
                  <c:v>72.421</c:v>
                </c:pt>
                <c:pt idx="13">
                  <c:v>75.381</c:v>
                </c:pt>
                <c:pt idx="14">
                  <c:v>77.937</c:v>
                </c:pt>
                <c:pt idx="15">
                  <c:v>82.604</c:v>
                </c:pt>
                <c:pt idx="16">
                  <c:v>86.922</c:v>
                </c:pt>
                <c:pt idx="17">
                  <c:v>90.797</c:v>
                </c:pt>
                <c:pt idx="18">
                  <c:v>93.34</c:v>
                </c:pt>
                <c:pt idx="19">
                  <c:v>95.343</c:v>
                </c:pt>
                <c:pt idx="20">
                  <c:v>93.306</c:v>
                </c:pt>
                <c:pt idx="21">
                  <c:v>95.767</c:v>
                </c:pt>
                <c:pt idx="22">
                  <c:v>89.739</c:v>
                </c:pt>
                <c:pt idx="23">
                  <c:v>88.834</c:v>
                </c:pt>
                <c:pt idx="24">
                  <c:v>93.477</c:v>
                </c:pt>
                <c:pt idx="25">
                  <c:v>93.333</c:v>
                </c:pt>
              </c:numCache>
            </c:numRef>
          </c:val>
        </c:ser>
        <c:ser>
          <c:idx val="1"/>
          <c:order val="1"/>
          <c:tx>
            <c:strRef>
              <c:f>Sheet1!$C$1</c:f>
              <c:strCache>
                <c:ptCount val="1"/>
                <c:pt idx="0">
                  <c:v>Narx o‘sishi</c:v>
                </c:pt>
              </c:strCache>
            </c:strRef>
          </c:tx>
          <c:spPr>
            <a:solidFill>
              <a:srgbClr val="9C36B5">
                <a:alpha val="22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Sheet1!$C$2:$C$27</c:f>
              <c:numCache>
                <c:formatCode>General</c:formatCode>
                <c:ptCount val="26"/>
                <c:pt idx="0">
                  <c:v>0</c:v>
                </c:pt>
                <c:pt idx="1">
                  <c:v>7.181</c:v>
                </c:pt>
                <c:pt idx="2">
                  <c:v>12.068</c:v>
                </c:pt>
                <c:pt idx="3">
                  <c:v>16.966</c:v>
                </c:pt>
                <c:pt idx="4">
                  <c:v>26.212</c:v>
                </c:pt>
                <c:pt idx="5">
                  <c:v>40.33</c:v>
                </c:pt>
                <c:pt idx="6">
                  <c:v>52.458</c:v>
                </c:pt>
                <c:pt idx="7">
                  <c:v>59.195</c:v>
                </c:pt>
                <c:pt idx="8">
                  <c:v>54.14</c:v>
                </c:pt>
                <c:pt idx="9">
                  <c:v>48.38</c:v>
                </c:pt>
                <c:pt idx="10">
                  <c:v>43.012</c:v>
                </c:pt>
                <c:pt idx="11">
                  <c:v>43.829</c:v>
                </c:pt>
                <c:pt idx="12">
                  <c:v>47.893</c:v>
                </c:pt>
                <c:pt idx="13">
                  <c:v>53.558</c:v>
                </c:pt>
                <c:pt idx="14">
                  <c:v>62.974</c:v>
                </c:pt>
                <c:pt idx="15">
                  <c:v>72.486</c:v>
                </c:pt>
                <c:pt idx="16">
                  <c:v>81.496</c:v>
                </c:pt>
                <c:pt idx="17">
                  <c:v>91.367</c:v>
                </c:pt>
                <c:pt idx="18">
                  <c:v>99.416</c:v>
                </c:pt>
                <c:pt idx="19">
                  <c:v>111.263</c:v>
                </c:pt>
                <c:pt idx="20">
                  <c:v>114.537</c:v>
                </c:pt>
                <c:pt idx="21">
                  <c:v>123.675</c:v>
                </c:pt>
                <c:pt idx="22">
                  <c:v>151.503</c:v>
                </c:pt>
                <c:pt idx="23">
                  <c:v>174.243</c:v>
                </c:pt>
                <c:pt idx="24">
                  <c:v>190.637</c:v>
                </c:pt>
                <c:pt idx="25">
                  <c:v>197.189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1"/>
        <c:axPos val="b"/>
        <c:numFmt formatCode="General" sourceLinked="1"/>
        <c:majorTickMark val="none"/>
        <c:minorTickMark val="none"/>
        <c:tickLblPos val="low"/>
        <c:spPr>
          <a:ln w="19050" cap="flat">
            <a:no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300"/>
          <c:min val="60"/>
        </c:scaling>
        <c:delete val="1"/>
        <c:axPos val="l"/>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midCat"/>
        <c:majorUnit val="60"/>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7"/>
          <c:y val="0.04"/>
          <c:w val="0.71"/>
          <c:h val="0.83"/>
        </c:manualLayout>
      </c:layout>
      <c:lineChart>
        <c:varyColors val="0"/>
        <c:ser>
          <c:idx val="0"/>
          <c:order val="0"/>
          <c:tx>
            <c:strRef>
              <c:f>Sheet1!$B$1</c:f>
              <c:strCache>
                <c:ptCount val="1"/>
                <c:pt idx="0">
                  <c:v>Joriy narxda</c:v>
                </c:pt>
              </c:strCache>
            </c:strRef>
          </c:tx>
          <c:spPr>
            <a:solidFill>
              <a:srgbClr val="D7A6E3"/>
            </a:solidFill>
            <a:ln w="31750" cap="flat">
              <a:solidFill>
                <a:srgbClr val="D7A6E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7A6E3"/>
              </a:solidFill>
              <a:ln w="9525" cap="flat">
                <a:solidFill>
                  <a:srgbClr val="D7A6E3"/>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100</c:v>
                </c:pt>
                <c:pt idx="1">
                  <c:v>105.453</c:v>
                </c:pt>
                <c:pt idx="2">
                  <c:v>107</c:v>
                </c:pt>
                <c:pt idx="3">
                  <c:v>113.869</c:v>
                </c:pt>
                <c:pt idx="4">
                  <c:v>126.745</c:v>
                </c:pt>
                <c:pt idx="5">
                  <c:v>141.262</c:v>
                </c:pt>
                <c:pt idx="6">
                  <c:v>151.125</c:v>
                </c:pt>
                <c:pt idx="7">
                  <c:v>155.177</c:v>
                </c:pt>
                <c:pt idx="8">
                  <c:v>140.767</c:v>
                </c:pt>
                <c:pt idx="9">
                  <c:v>122.585</c:v>
                </c:pt>
                <c:pt idx="10">
                  <c:v>113.983</c:v>
                </c:pt>
                <c:pt idx="11">
                  <c:v>113.956</c:v>
                </c:pt>
                <c:pt idx="12">
                  <c:v>120.314</c:v>
                </c:pt>
                <c:pt idx="13">
                  <c:v>128.939</c:v>
                </c:pt>
                <c:pt idx="14">
                  <c:v>140.911</c:v>
                </c:pt>
                <c:pt idx="15">
                  <c:v>155.09</c:v>
                </c:pt>
                <c:pt idx="16">
                  <c:v>168.417</c:v>
                </c:pt>
                <c:pt idx="17">
                  <c:v>182.164</c:v>
                </c:pt>
                <c:pt idx="18">
                  <c:v>192.756</c:v>
                </c:pt>
                <c:pt idx="19">
                  <c:v>206.606</c:v>
                </c:pt>
                <c:pt idx="20">
                  <c:v>207.843</c:v>
                </c:pt>
                <c:pt idx="21">
                  <c:v>219.442</c:v>
                </c:pt>
                <c:pt idx="22">
                  <c:v>241.242</c:v>
                </c:pt>
                <c:pt idx="23">
                  <c:v>263.078</c:v>
                </c:pt>
                <c:pt idx="24">
                  <c:v>284.114</c:v>
                </c:pt>
                <c:pt idx="25">
                  <c:v>290.522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Real hajm</c:v>
                </c:pt>
              </c:strCache>
            </c:strRef>
          </c:tx>
          <c:spPr>
            <a:solidFill>
              <a:srgbClr val="9C36B5"/>
            </a:solidFill>
            <a:ln w="38100" cap="flat">
              <a:solidFill>
                <a:srgbClr val="9C36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C36B5"/>
              </a:solidFill>
              <a:ln w="9525" cap="flat">
                <a:solidFill>
                  <a:srgbClr val="9C36B5"/>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Sheet1!$C$2:$C$27</c:f>
              <c:numCache>
                <c:formatCode>General</c:formatCode>
                <c:ptCount val="26"/>
                <c:pt idx="0">
                  <c:v>100</c:v>
                </c:pt>
                <c:pt idx="1">
                  <c:v>98.272</c:v>
                </c:pt>
                <c:pt idx="2">
                  <c:v>94.932</c:v>
                </c:pt>
                <c:pt idx="3">
                  <c:v>96.904</c:v>
                </c:pt>
                <c:pt idx="4">
                  <c:v>100.533</c:v>
                </c:pt>
                <c:pt idx="5">
                  <c:v>100.932</c:v>
                </c:pt>
                <c:pt idx="6">
                  <c:v>98.667</c:v>
                </c:pt>
                <c:pt idx="7">
                  <c:v>95.982</c:v>
                </c:pt>
                <c:pt idx="8">
                  <c:v>86.627</c:v>
                </c:pt>
                <c:pt idx="9">
                  <c:v>74.205</c:v>
                </c:pt>
                <c:pt idx="10">
                  <c:v>70.971</c:v>
                </c:pt>
                <c:pt idx="11">
                  <c:v>70.127</c:v>
                </c:pt>
                <c:pt idx="12">
                  <c:v>72.421</c:v>
                </c:pt>
                <c:pt idx="13">
                  <c:v>75.381</c:v>
                </c:pt>
                <c:pt idx="14">
                  <c:v>77.937</c:v>
                </c:pt>
                <c:pt idx="15">
                  <c:v>82.604</c:v>
                </c:pt>
                <c:pt idx="16">
                  <c:v>86.922</c:v>
                </c:pt>
                <c:pt idx="17">
                  <c:v>90.797</c:v>
                </c:pt>
                <c:pt idx="18">
                  <c:v>93.34</c:v>
                </c:pt>
                <c:pt idx="19">
                  <c:v>95.343</c:v>
                </c:pt>
                <c:pt idx="20">
                  <c:v>93.306</c:v>
                </c:pt>
                <c:pt idx="21">
                  <c:v>95.767</c:v>
                </c:pt>
                <c:pt idx="22">
                  <c:v>89.739</c:v>
                </c:pt>
                <c:pt idx="23">
                  <c:v>88.834</c:v>
                </c:pt>
                <c:pt idx="24">
                  <c:v>93.477</c:v>
                </c:pt>
                <c:pt idx="25">
                  <c:v>93.333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_100</c:v>
                </c:pt>
              </c:strCache>
            </c:strRef>
          </c:tx>
          <c:spPr>
            <a:solidFill>
              <a:srgbClr val="141414"/>
            </a:solidFill>
            <a:ln w="12700" cap="flat">
              <a:solidFill>
                <a:srgbClr val="141414"/>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41414"/>
              </a:solidFill>
              <a:ln w="9525" cap="flat">
                <a:solidFill>
                  <a:srgbClr val="141414"/>
                </a:solidFill>
                <a:prstDash val="solid"/>
                <a:round/>
              </a:ln>
              <a:effectLst/>
            </c:spPr>
          </c:marker>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Sheet1!$D$2:$D$27</c:f>
              <c:numCache>
                <c:formatCode>General</c:formatCode>
                <c:ptCount val="26"/>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300"/>
          <c:min val="60"/>
        </c:scaling>
        <c:delete val="0"/>
        <c:axPos val="l"/>
        <c:majorGridlines>
          <c:spPr>
            <a:ln w="9525" cap="flat">
              <a:solidFill>
                <a:srgbClr val="D6D0C2"/>
              </a:solidFill>
              <a:prstDash val="solid"/>
              <a:round/>
            </a:ln>
          </c:spPr>
        </c:majorGridlines>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60"/>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5"/>
          <c:y val="0.04"/>
          <c:w val="0.9299999999999999"/>
          <c:h val="0.83"/>
        </c:manualLayout>
      </c:layout>
      <c:barChart>
        <c:barDir val="col"/>
        <c:grouping val="clustered"/>
        <c:varyColors val="0"/>
        <c:ser>
          <c:idx val="0"/>
          <c:order val="0"/>
          <c:tx>
            <c:strRef>
              <c:f>Sheet1!$B$1</c:f>
              <c:strCache>
                <c:ptCount val="1"/>
                <c:pt idx="0">
                  <c:v>Qurilish bandligi</c:v>
                </c:pt>
              </c:strCache>
            </c:strRef>
          </c:tx>
          <c:spPr>
            <a:solidFill>
              <a:srgbClr val="9C36B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Sheet1!$A$2:$A$27</c:f>
              <c:multiLvlStrCache>
                <c:ptCount val="26"/>
                <c:lvl>
                  <c:pt idx="0">
                    <c:v>2000</c:v>
                  </c:pt>
                  <c:pt idx="1">
                    <c:v/>
                  </c:pt>
                  <c:pt idx="2">
                    <c:v/>
                  </c:pt>
                  <c:pt idx="3">
                    <c:v/>
                  </c:pt>
                  <c:pt idx="4">
                    <c:v/>
                  </c:pt>
                  <c:pt idx="5">
                    <c:v>2005</c:v>
                  </c:pt>
                  <c:pt idx="6">
                    <c:v/>
                  </c:pt>
                  <c:pt idx="7">
                    <c:v/>
                  </c:pt>
                  <c:pt idx="8">
                    <c:v/>
                  </c:pt>
                  <c:pt idx="9">
                    <c:v/>
                  </c:pt>
                  <c:pt idx="10">
                    <c:v>2010</c:v>
                  </c:pt>
                  <c:pt idx="11">
                    <c:v/>
                  </c:pt>
                  <c:pt idx="12">
                    <c:v/>
                  </c:pt>
                  <c:pt idx="13">
                    <c:v/>
                  </c:pt>
                  <c:pt idx="14">
                    <c:v/>
                  </c:pt>
                  <c:pt idx="15">
                    <c:v>2015</c:v>
                  </c:pt>
                  <c:pt idx="16">
                    <c:v/>
                  </c:pt>
                  <c:pt idx="17">
                    <c:v/>
                  </c:pt>
                  <c:pt idx="18">
                    <c:v/>
                  </c:pt>
                  <c:pt idx="19">
                    <c:v/>
                  </c:pt>
                  <c:pt idx="20">
                    <c:v>2020</c:v>
                  </c:pt>
                  <c:pt idx="21">
                    <c:v/>
                  </c:pt>
                  <c:pt idx="22">
                    <c:v/>
                  </c:pt>
                  <c:pt idx="23">
                    <c:v/>
                  </c:pt>
                  <c:pt idx="24">
                    <c:v/>
                  </c:pt>
                  <c:pt idx="25">
                    <c:v>2025</c:v>
                  </c:pt>
                </c:lvl>
              </c:multiLvlStrCache>
            </c:multiLvlStrRef>
          </c:cat>
          <c:val>
            <c:numRef>
              <c:f>Sheet1!$B$2:$B$27</c:f>
              <c:numCache>
                <c:formatCode>General</c:formatCode>
                <c:ptCount val="26"/>
                <c:pt idx="0">
                  <c:v>6.659</c:v>
                </c:pt>
                <c:pt idx="1">
                  <c:v>6.827</c:v>
                </c:pt>
                <c:pt idx="2">
                  <c:v>6.748</c:v>
                </c:pt>
                <c:pt idx="3">
                  <c:v>6.744</c:v>
                </c:pt>
                <c:pt idx="4">
                  <c:v>7.011</c:v>
                </c:pt>
                <c:pt idx="5">
                  <c:v>7.315</c:v>
                </c:pt>
                <c:pt idx="6">
                  <c:v>7.606</c:v>
                </c:pt>
                <c:pt idx="7">
                  <c:v>7.57</c:v>
                </c:pt>
                <c:pt idx="8">
                  <c:v>7.111</c:v>
                </c:pt>
                <c:pt idx="9">
                  <c:v>5.856</c:v>
                </c:pt>
                <c:pt idx="10">
                  <c:v>5.401</c:v>
                </c:pt>
                <c:pt idx="11">
                  <c:v>5.378</c:v>
                </c:pt>
                <c:pt idx="12">
                  <c:v>5.501</c:v>
                </c:pt>
                <c:pt idx="13">
                  <c:v>5.754</c:v>
                </c:pt>
                <c:pt idx="14">
                  <c:v>6.043</c:v>
                </c:pt>
                <c:pt idx="15">
                  <c:v>6.378</c:v>
                </c:pt>
                <c:pt idx="16">
                  <c:v>6.64</c:v>
                </c:pt>
                <c:pt idx="17">
                  <c:v>6.892</c:v>
                </c:pt>
                <c:pt idx="18">
                  <c:v>7.176</c:v>
                </c:pt>
                <c:pt idx="19">
                  <c:v>7.43</c:v>
                </c:pt>
                <c:pt idx="20">
                  <c:v>7.133</c:v>
                </c:pt>
                <c:pt idx="21">
                  <c:v>7.387</c:v>
                </c:pt>
                <c:pt idx="22">
                  <c:v>7.681</c:v>
                </c:pt>
                <c:pt idx="23">
                  <c:v>7.9</c:v>
                </c:pt>
                <c:pt idx="24">
                  <c:v>8.043</c:v>
                </c:pt>
                <c:pt idx="25">
                  <c:v>8.129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D6D0C2"/>
              </a:solidFill>
              <a:prstDash val="solid"/>
              <a:round/>
            </a:ln>
          </c:spPr>
        </c:majorGridlines>
        <c:numFmt formatCode="[&gt;=1000]# ##0;[&lt;=-1000]−# ##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3"/>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6"/>
          <c:y val="0.08"/>
          <c:w val="0.9199999999999999"/>
          <c:h val="0.8200000000000001"/>
        </c:manualLayout>
      </c:layout>
      <c:barChart>
        <c:barDir val="col"/>
        <c:grouping val="clustered"/>
        <c:varyColors val="0"/>
        <c:ser>
          <c:idx val="0"/>
          <c:order val="0"/>
          <c:tx>
            <c:strRef>
              <c:f>Sheet1!$B$1</c:f>
              <c:strCache>
                <c:ptCount val="1"/>
                <c:pt idx="0">
                  <c:v>Sanoat</c:v>
                </c:pt>
              </c:strCache>
            </c:strRef>
          </c:tx>
          <c:spPr>
            <a:solidFill>
              <a:srgbClr val="1C3F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2009</c:v>
                  </c:pt>
                  <c:pt idx="1">
                    <c:v>2020</c:v>
                  </c:pt>
                  <c:pt idx="2">
                    <c:v>2022</c:v>
                  </c:pt>
                </c:lvl>
              </c:multiLvlStrCache>
            </c:multiLvlStrRef>
          </c:cat>
          <c:val>
            <c:numRef>
              <c:f>Sheet1!$B$2:$B$4</c:f>
              <c:numCache>
                <c:formatCode>General</c:formatCode>
                <c:ptCount val="3"/>
                <c:pt idx="0">
                  <c:v>-5.55</c:v>
                </c:pt>
                <c:pt idx="1">
                  <c:v>-2.5</c:v>
                </c:pt>
                <c:pt idx="2">
                  <c:v>-1.62</c:v>
                </c:pt>
              </c:numCache>
            </c:numRef>
          </c:val>
        </c:ser>
        <c:ser>
          <c:idx val="1"/>
          <c:order val="1"/>
          <c:tx>
            <c:strRef>
              <c:f>Sheet1!$C$1</c:f>
              <c:strCache>
                <c:ptCount val="1"/>
                <c:pt idx="0">
                  <c:v>Xizmatlar</c:v>
                </c:pt>
              </c:strCache>
            </c:strRef>
          </c:tx>
          <c:spPr>
            <a:solidFill>
              <a:srgbClr val="F59F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2009</c:v>
                  </c:pt>
                  <c:pt idx="1">
                    <c:v>2020</c:v>
                  </c:pt>
                  <c:pt idx="2">
                    <c:v>2022</c:v>
                  </c:pt>
                </c:lvl>
              </c:multiLvlStrCache>
            </c:multiLvlStrRef>
          </c:cat>
          <c:val>
            <c:numRef>
              <c:f>Sheet1!$C$2:$C$4</c:f>
              <c:numCache>
                <c:formatCode>General</c:formatCode>
                <c:ptCount val="3"/>
                <c:pt idx="0">
                  <c:v>-1.5</c:v>
                </c:pt>
                <c:pt idx="1">
                  <c:v>-2.04</c:v>
                </c:pt>
                <c:pt idx="2">
                  <c:v>3.62</c:v>
                </c:pt>
              </c:numCache>
            </c:numRef>
          </c:val>
        </c:ser>
        <c:ser>
          <c:idx val="2"/>
          <c:order val="2"/>
          <c:tx>
            <c:strRef>
              <c:f>Sheet1!$D$1</c:f>
              <c:strCache>
                <c:ptCount val="1"/>
                <c:pt idx="0">
                  <c:v>Qishloq xo‘jaligi</c:v>
                </c:pt>
              </c:strCache>
            </c:strRef>
          </c:tx>
          <c:spPr>
            <a:solidFill>
              <a:srgbClr val="2F9E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2009</c:v>
                  </c:pt>
                  <c:pt idx="1">
                    <c:v>2020</c:v>
                  </c:pt>
                  <c:pt idx="2">
                    <c:v>2022</c:v>
                  </c:pt>
                </c:lvl>
              </c:multiLvlStrCache>
            </c:multiLvlStrRef>
          </c:cat>
          <c:val>
            <c:numRef>
              <c:f>Sheet1!$D$2:$D$4</c:f>
              <c:numCache>
                <c:formatCode>General</c:formatCode>
                <c:ptCount val="3"/>
                <c:pt idx="0">
                  <c:v>11.04</c:v>
                </c:pt>
                <c:pt idx="1">
                  <c:v>3.15</c:v>
                </c:pt>
                <c:pt idx="2">
                  <c:v>0.28</c:v>
                </c:pt>
              </c:numCache>
            </c:numRef>
          </c:val>
        </c:ser>
        <c:ser>
          <c:idx val="3"/>
          <c:order val="3"/>
          <c:tx>
            <c:strRef>
              <c:f>Sheet1!$E$1</c:f>
              <c:strCache>
                <c:ptCount val="1"/>
                <c:pt idx="0">
                  <c:v>Qurilish</c:v>
                </c:pt>
              </c:strCache>
            </c:strRef>
          </c:tx>
          <c:spPr>
            <a:solidFill>
              <a:srgbClr val="9C36B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2009</c:v>
                  </c:pt>
                  <c:pt idx="1">
                    <c:v>2020</c:v>
                  </c:pt>
                  <c:pt idx="2">
                    <c:v>2022</c:v>
                  </c:pt>
                </c:lvl>
              </c:multiLvlStrCache>
            </c:multiLvlStrRef>
          </c:cat>
          <c:val>
            <c:numRef>
              <c:f>Sheet1!$E$2:$E$4</c:f>
              <c:numCache>
                <c:formatCode>General</c:formatCode>
                <c:ptCount val="3"/>
                <c:pt idx="0">
                  <c:v>-14.34</c:v>
                </c:pt>
                <c:pt idx="1">
                  <c:v>-2.14</c:v>
                </c:pt>
                <c:pt idx="2">
                  <c:v>-6.3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141414"/>
            </a:solidFill>
            <a:prstDash val="solid"/>
            <a:round/>
          </a:ln>
        </c:spPr>
        <c:txPr>
          <a:bodyPr/>
          <a:lstStyle/>
          <a:p>
            <a:pPr>
              <a:defRPr sz="11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12"/>
          <c:min val="-16"/>
        </c:scaling>
        <c:delete val="0"/>
        <c:axPos val="l"/>
        <c:majorGridlines>
          <c:spPr>
            <a:ln w="9525" cap="flat">
              <a:solidFill>
                <a:srgbClr val="D6D0C2"/>
              </a:solidFill>
              <a:prstDash val="solid"/>
              <a:round/>
            </a:ln>
          </c:spPr>
        </c:majorGridlines>
        <c:numFmt formatCode="[&lt;0]−0;0" sourceLinked="0"/>
        <c:majorTickMark val="none"/>
        <c:minorTickMark val="none"/>
        <c:tickLblPos val="nextTo"/>
        <c:spPr>
          <a:ln w="12700" cap="flat">
            <a:noFill/>
            <a:prstDash val="solid"/>
            <a:round/>
          </a:ln>
        </c:spPr>
        <c:txPr>
          <a:bodyPr/>
          <a:lstStyle/>
          <a:p>
            <a:pPr>
              <a:defRPr sz="1100" b="0" i="0" u="none" strike="noStrike">
                <a:solidFill>
                  <a:srgbClr val="55524B"/>
                </a:solidFill>
                <a:latin typeface="+mj-lt"/>
              </a:defRPr>
            </a:pPr>
            <a:endParaRPr lang="en-US"/>
          </a:p>
        </c:txPr>
        <c:crossAx val="2094734554"/>
        <c:crosses val="autoZero"/>
        <c:crossBetween val="between"/>
        <c:majorUnit val="4"/>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4"/>
          <c:y val="0"/>
          <c:w val="0.5"/>
          <c:h val="1"/>
        </c:manualLayout>
      </c:layout>
      <c:barChart>
        <c:barDir val="bar"/>
        <c:grouping val="clustered"/>
        <c:varyColors val="0"/>
        <c:ser>
          <c:idx val="0"/>
          <c:order val="0"/>
          <c:tx>
            <c:strRef>
              <c:f>Sheet1!$B$1</c:f>
              <c:strCache>
                <c:ptCount val="1"/>
                <c:pt idx="0">
                  <c:v>Gaz narxi</c:v>
                </c:pt>
              </c:strCache>
            </c:strRef>
          </c:tx>
          <c:spPr>
            <a:solidFill>
              <a:srgbClr val="0065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0653A"/>
              </a:solidFill>
              <a:effectLst/>
            </c:spPr>
          </c:dPt>
          <c:dPt>
            <c:idx val="1"/>
            <c:invertIfNegative val="0"/>
            <c:bubble3D val="0"/>
            <c:spPr>
              <a:solidFill>
                <a:srgbClr val="8B887F"/>
              </a:solidFill>
              <a:effectLst/>
            </c:spPr>
          </c:dPt>
          <c:dPt>
            <c:idx val="2"/>
            <c:invertIfNegative val="0"/>
            <c:bubble3D val="0"/>
            <c:spPr>
              <a:solidFill>
                <a:srgbClr val="8B887F"/>
              </a:solidFill>
              <a:effectLst/>
            </c:spPr>
          </c:dPt>
          <c:cat>
            <c:multiLvlStrRef>
              <c:f>Sheet1!$A$2:$A$4</c:f>
              <c:multiLvlStrCache>
                <c:ptCount val="3"/>
                <c:lvl>
                  <c:pt idx="0">
                    <c:v>AQSh</c:v>
                  </c:pt>
                  <c:pt idx="1">
                    <c:v>Yevropa</c:v>
                  </c:pt>
                  <c:pt idx="2">
                    <c:v>Osiyo</c:v>
                  </c:pt>
                </c:lvl>
              </c:multiLvlStrCache>
            </c:multiLvlStrRef>
          </c:cat>
          <c:val>
            <c:numRef>
              <c:f>Sheet1!$B$2:$B$4</c:f>
              <c:numCache>
                <c:formatCode>General</c:formatCode>
                <c:ptCount val="3"/>
                <c:pt idx="0">
                  <c:v>2.21</c:v>
                </c:pt>
                <c:pt idx="1">
                  <c:v>10.37</c:v>
                </c:pt>
                <c:pt idx="2">
                  <c:v>11.47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141414"/>
                </a:solidFill>
                <a:latin typeface="+mj-lt"/>
              </a:defRPr>
            </a:pPr>
            <a:endParaRPr lang="en-US"/>
          </a:p>
        </c:txPr>
        <c:crossAx val="2094734552"/>
        <c:crosses val="autoZero"/>
        <c:auto val="1"/>
        <c:lblAlgn val="ctr"/>
        <c:noMultiLvlLbl val="1"/>
      </c:catAx>
      <c:valAx>
        <c:axId val="2094734552"/>
        <c:scaling>
          <c:orientation val="minMax"/>
          <c:max val="11.4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18"/>
          <c:w val="1"/>
          <c:h val="0.64"/>
        </c:manualLayout>
      </c:layout>
      <c:barChart>
        <c:barDir val="col"/>
        <c:grouping val="clustered"/>
        <c:varyColors val="0"/>
        <c:ser>
          <c:idx val="0"/>
          <c:order val="0"/>
          <c:tx>
            <c:strRef>
              <c:f>Sheet1!$B$1</c:f>
              <c:strCache>
                <c:ptCount val="1"/>
                <c:pt idx="0">
                  <c:v>IIJA</c:v>
                </c:pt>
              </c:strCache>
            </c:strRef>
          </c:tx>
          <c:spPr>
            <a:solidFill>
              <a:srgbClr val="9C36B5"/>
            </a:solidFill>
            <a:effectLst/>
          </c:spPr>
          <c:invertIfNegative val="0"/>
          <c:dLbls>
            <c:numFmt formatCode="0" sourceLinked="0"/>
            <c:txPr>
              <a:bodyPr/>
              <a:lstStyle/>
              <a:p>
                <a:pPr>
                  <a:defRPr b="1" i="0" strike="noStrike" sz="1100" u="none">
                    <a:solidFill>
                      <a:srgbClr val="141414"/>
                    </a:solidFill>
                    <a:latin typeface="+mj-lt"/>
                  </a:defRPr>
                </a:pPr>
              </a:p>
            </c:txPr>
            <c:showLegendKey val="0"/>
            <c:showVal val="1"/>
            <c:showCatName val="0"/>
            <c:showSerName val="0"/>
            <c:showPercent val="0"/>
            <c:showBubbleSize val="0"/>
            <c:showLeaderLines val="0"/>
          </c:dLbls>
          <c:cat>
            <c:multiLvlStrRef>
              <c:f>Sheet1!$A$2:$A$8</c:f>
              <c:multiLvlStrCache>
                <c:ptCount val="7"/>
                <c:lvl>
                  <c:pt idx="0">
                    <c:v>Yo‘l</c:v>
                  </c:pt>
                  <c:pt idx="1">
                    <c:v>Temir</c:v>
                  </c:pt>
                  <c:pt idx="2">
                    <c:v>Internet</c:v>
                  </c:pt>
                  <c:pt idx="3">
                    <c:v>Elektr</c:v>
                  </c:pt>
                  <c:pt idx="4">
                    <c:v>Suv</c:v>
                  </c:pt>
                  <c:pt idx="5">
                    <c:v>Aero</c:v>
                  </c:pt>
                  <c:pt idx="6">
                    <c:v>Port</c:v>
                  </c:pt>
                </c:lvl>
              </c:multiLvlStrCache>
            </c:multiLvlStrRef>
          </c:cat>
          <c:val>
            <c:numRef>
              <c:f>Sheet1!$B$2:$B$8</c:f>
              <c:numCache>
                <c:formatCode>General</c:formatCode>
                <c:ptCount val="7"/>
                <c:pt idx="0">
                  <c:v>110</c:v>
                </c:pt>
                <c:pt idx="1">
                  <c:v>66</c:v>
                </c:pt>
                <c:pt idx="2">
                  <c:v>65</c:v>
                </c:pt>
                <c:pt idx="3">
                  <c:v>65</c:v>
                </c:pt>
                <c:pt idx="4">
                  <c:v>55</c:v>
                </c:pt>
                <c:pt idx="5">
                  <c:v>25</c:v>
                </c:pt>
                <c:pt idx="6">
                  <c:v>17</c:v>
                </c:pt>
              </c:numCache>
            </c:numRef>
          </c:val>
        </c:ser>
        <c:dLbls>
          <c:numFmt formatCode="0" sourceLinked="0"/>
          <c:txPr>
            <a:bodyPr/>
            <a:lstStyle/>
            <a:p>
              <a:pPr>
                <a:defRPr b="1" i="0" strike="noStrike" sz="1100" u="none">
                  <a:solidFill>
                    <a:srgbClr val="141414"/>
                  </a:solidFill>
                  <a:latin typeface="+mj-lt"/>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000" b="0" i="0" u="none" strike="noStrike">
                <a:solidFill>
                  <a:srgbClr val="55524B"/>
                </a:solidFill>
                <a:latin typeface="+mj-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F0">
            <a:alpha val="0"/>
          </a:srgbClr>
        </a:solidFill>
        <a:ln>
          <a:noFill/>
        </a:ln>
        <a:effectLst/>
      </c:spPr>
    </c:plotArea>
    <c:plotVisOnly val="1"/>
    <c:dispBlanksAs val="span"/>
  </c:chart>
  <c:spPr>
    <a:solidFill>
      <a:srgbClr val="F7F5F0">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O‘rolov Shahzod, ≈40 soniya
Assalomu alaykum, hurmatli ustoz va kursdoshlar! Biz 3-guruhmiz, bizga Amerika Qo‘shma Shtatlari tushdi.
[▶ bosing] Bir savoldan boshlaymiz — u ekranda yozilgan. 25 yilda Amerika boyligini qaysi tarmoq yaratdi, odamlar qayerda ishlay boshladi va bunda yo‘l, energiya, internet qanday rol o‘ynadi? Butun taqdimot shu savolga javob.
[▶ bosing] Mana shu 25 yilda AQSh iqtisodiyoti joriy narxlarda 10,3 trillion dollardan 30,9 trillion dollarga yetdi — uch barobardan ko‘proq. Bugun shu o‘sishning ichiga kiramiz va uni to‘rt tarmoqqa ajratib ko‘ramiz.
Barcha raqamlar AQSh rasmiy statistikasidan, asosan Iqtisodiy tahlil byurosi — BEA ma’lumotlaridan olingan.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O‘rolov Shahzod, ≈1 daqiqa
Nega iqtisodiyotni tarmoqlarga bo‘lamiz? Chunki YaIM — bitta raqam. U o‘sgan yili ham ichida biror soha qisqarayotgan bo‘lishi mumkin.
[▶ bosing] Biz to‘rt tarmoqni ko‘ramiz. Sanoat — konlar, elektr stansiyalari va zavodlar. Xizmatlar — mahsulot emas, xizmat sotiladigan hamma narsa: do‘kon, bank, shifoxona, maktab, internet. Qishloq xo‘jaligi — dala, ferma, o‘rmon va baliq. Qurilish — uy, yo‘l va zavod binolari.
[▶ bosing] Qanday o‘rgandik? Uch qadam. Avval rasmiy ma’lumotni oldik. Keyin narxlar o‘sishini olib tashladik: narx ikki barobar oshsa, pul ham ikki barobar ko‘p ko‘rinadi, lekin mahsulot ko‘paymagan bo‘ladi. Narxsiz qolgan haqiqiy hajmni real o‘sish deymiz. Oxirida tarmoqlarni bir-biri bilan solishtirdik. Ikki so‘z tez-tez uchraydi: ulush — tarmoq YaIMning qancha qismini berishi, CAGR — o‘rtacha yillik o‘sish sur’ati.
[▶ bosing] Nega bu muhim? Chunki faqat shunday qilib qaysi soha o‘sgani, qaysi biri ish o‘rni yo‘qotgani ko‘rinadi.
[▶ bosing] Shuning uchun biz pul hisobidagi har bir o‘sishni real o‘sish bilan tekshiramiz.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O‘rolov Shahzod, ≈1 daqiqa
Avval katta manzara.
[▶ bosing] Bu chiziq — 2000-yildagi AQSh iqtisodiyoti. Sariq — xizmatlar, ko‘k — sanoat, binafsha — qurilish, yashil — qishloq xo‘jaligi.
[▶ bosing] Endi 2025-yilga o‘tamiz. Ko‘ring: sariq qism kengaydi, ko‘k qism qisqardi. Xizmatlarning ulushi 76,6 foizdan 82,4 foizga chiqdi, sanoatniki esa 17,9 dan 12,4 foizga tushdi. Lekin bu sanoat kichraydi degani emas: narxlarni hisobdan chiqarsak, butun iqtisodiyot 69,9 foizga o‘sgan, sanoat ham o‘sgan — faqat xizmatlar ancha tezroq o‘sdi.
[▶ bosing] Nega shunday? Odamlar boyigan sari ortiqcha pulni yana bitta muzlatkichga emas — sog‘liq, ta’lim, sayohat, bank va raqamli xizmatlarga sarflaydi. Zavodlarda esa texnologiya kamroq odam bilan ko‘proq mahsulot beradi. Iqtisodchilar buni strukturaviy o‘zgarish deydi, AQSh — uning eng yorqin misoli.
[▶ bosing] Demak, ulushi kamaygan tarmoq qisqargan bo‘lishi shart emas. Endi har bir tarmoqni alohida ko‘ramiz. So‘z Muhammadaliga.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Otamurodov Muhammadali, ≈1 daqiqa
Men sanoat haqida gapiraman. Bu yerda sanoat uch qismdan iborat: kon qazish — neft, gaz, ko‘mir; elektr va gaz ta’minoti; va zavodlar.
[▶ bosing] Ustunlar — sanoat yaratgan qiymat, joriy narxlarda. 25 yilda u 1 840 milliard dollardan 3 836 milliardga — deyarli ikki barobarga o‘sgan. Ikki chuqurga e’tibor bering: 2009-yil — moliyaviy inqiroz, 2020-yil — pandemiya.
[▶ bosing] Jadvalda har besh yillik qadam. Eng muhim qator — ulush: 17,9 foizdan 12,4 foizga tushgan.
[▶ bosing] Pul ikki barobar ko‘paygan-u, ulush nega kamaygan? Birinchidan, o‘sishning bir qismi narxlar hisobiga: real hajm yiliga o‘rtacha 1,89 foizga o‘sgan, xolos. Ikkinchidan, xizmatlar bundan ham tez o‘sdi.
[▶ bosing] Xulosa: ulush kamayishi — tarmoq kichraydi degani emas. Lekin ish o‘rinlarida butunlay boshqa manzara bor — keyingi slaydda.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Otamurodov Muhammadali, ≈1,5 daqiqa
Endi sanoatning eng qiziq tomoni — paradoks.
[▶ bosing] Ko‘k chiziq — sanoatning real hajmi, u 59,8 foizga oshgan. Qizil chiziq — sanoatdagi ish o‘rinlari: 18,05 million kishidan 13,45 millionga, ya’ni 4,6 million o‘ringa qisqargan. Ikki chiziq qaychi kabi ochilib ketyapti. Sanoat real o‘sgan 19 yilning faqat 10 tasida bandlik ham o‘sgan.
[▶ bosing] Lekin ehtiyot bo‘lish kerak. O‘sishning katta qismi bitta sohadan — kompyuter va elektronikadan keladi: uning real hajmi 5,3 barobar oshgan. Och ko‘k uzuq chiziq — shu sohasiz ishlab chiqarish: atigi 23 foiz o‘sish. Bu Houseman tadqiqoti xulosasiga mos.
[▶ bosing] Nega ish o‘rinlari kamaydi? Birinchidan, Xitoy: Autor, Dorn va Hanson hisobiga ko‘ra, Xitoy importi raqobati qisqarishning kamida to‘rtdan birini tushuntiradi. Ikkinchidan, avtomatlashtirish: robot va kompyuter ishchining o‘rnini egalladi. Uchinchi omil esa sanoatga yordam bergan — energiya. Slanets inqilobi tufayli 2023-yilda AQSh kuniga 12,9 million barrel neft qazib, rekord o‘rnatdi, arzon gaz esa kimyo zavodlarini jalb qildi.
[▶ bosing] Demak, sanoat o‘sishi har doim ham yangi ish o‘rni yaratmaydi. So‘z Zafarbekka.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Qahramonov Zafarbek, ≈1 daqiqa
Men xizmatlar haqida gapiraman. Bu AQSh iqtisodiyotining asosiy qismi: savdo, transport, internet va aloqa, bank va sug‘urta, ko‘chmas mulk, ta’lim, sog‘liqni saqlash, mehmonxona va restoranlar, davlat sektori.
[▶ bosing] Grafikda ikki chiziq. Sariq — xizmatlarning YaIMdagi ulushi, 76,6 dan 82,4 foizga. Uzuq chiziq — bandlikdagi ulushi, 79,0 dan 84,6 foizga. Ya’ni bugun AQShdagi xodimlarning mutlaq ko‘pchiligi xizmatlarda ishlaydi.
[▶ bosing] Jadvalda qiymat: 7 850 milliard dollardan 25 429 milliardga, 3,2 barobar. Real o‘sish yiliga o‘rtacha 2,32 foiz — to‘rt tarmoq ichida eng yuqori.
[▶ bosing] Nega? Odamlar boyigan sari xizmatlarga ko‘proq sarflaydi. Shifokor yoki o‘qituvchini mashina bilan almashtirish qiyin, shuning uchun bu yerda o‘sish ish o‘rni bilan birga keladi: real o‘sgan 23 yilning 22 tasida bandlik ham oshgan.
[▶ bosing] AQSh mehnat bozori endi asosan xizmatlar bozori.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Qahramonov Zafarbek, ≈1,5 daqiqa
[▶ bosing] Bu ustunlar — xizmatlardagi ish o‘rinlari. 25 yilda 97,5 milliondan 124,9 million kishiga — 27,4 million yangi o‘rin. Ustunlar deyarli har yili o‘sadi...
[▶ bosing] ...2020-yildan tashqari. Statistika byurosi BLS ma’lumotiga ko‘ra, birgina 2020-yil aprelida 20,5 million ish o‘rni yo‘qolgan, ishsizlik 14,7 foizga chiqqan. Eng ko‘p mehmonxona va restoranlar zarar ko‘rdi: 7,65 million kishi, ya’ni sohadagilarning qariyb yarmi ishsiz qoldi. Lekin xizmatlar qulamadi — 2021-yilda real o‘sish 6,7 foiz bo‘ldi.
[▶ bosing] Bu o‘sishning poydevori nima edi? Internet. 2000-yilda kattalarning atigi 1 foizida uyda keng polosali internet bo‘lgan, bugun 78 foizida bor. Internet elektron savdoni tug‘dirdi: uning chakana savdodagi ulushi 0,7 foizdan 16,4 foizga oshdi. Axborot sohasi 471 milliard dollardan 1 766 milliardga yetdi. Onlayn buyurtmani esa kimdir eshikkacha olib kelishi kerak — transport va omborxona sohasi 3,3 barobar o‘sdi.
[▶ bosing] Xulosa: xizmatlar eng ko‘p ish o‘rni beradi, lekin inqirozga eng sezgir. So‘z Visolaga.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Saitmurodova Visola, ≈1 daqiqa
Men qishloq xo‘jaligi haqida gapiraman: dehqonchilik, chorvachilik, o‘rmon va baliq xo‘jaligi.
[▶ bosing] Grafikdagi ikkala chiziq 2000-yilga nisbatan berilgan. Och yashil — joriy narxdagi qiymat: 98,9 milliard dollardan 255,9 milliardga, 158,7 foiz o‘sish. U keskin sakraydi — masalan, 2021–2022-yillarda oziq-ovqat narxlari oshganda. To‘q yashil — real hajm: u bir tekisroq, 43 foiz o‘sgan.
[▶ bosing] Jadvalda ulushga qarang: 0,96 dan 0,83 foizga. AQSh dunyoning yirik eksportchilaridan biri, lekin bu tarmoq YaIMning bir foizini ham bermaydi.
[▶ bosing] Nega bunchalik kichik? Chunki unumdorlik juda yuqori — oz odam butun mamlakatni boqadi va yana eksport ham qiladi. Oziq-ovqatga talab esa daromad bilan birga tez o‘smaydi: odam ikki barobar boyisa ham ikki barobar ko‘p non yemaydi. Bandlik bo‘yicha izoh: rasmiy xodimlar 1,2 million atrofida, lekin bunga o‘zini o‘zi band qilgan fermerlar kirmaydi. Jahon banki ular bilan birga hisoblaydi: ulush 2,4 foizdan 1,5 foizga tushgan.
[▶ bosing] Demak, kichik ulush — kichik ahamiyat degani 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Saitmurodova Visola, ≈1,5 daqiqa
[▶ bosing] Bu grafik qishloq xo‘jaligining eng muhim xususiyatini ko‘rsatadi — beqarorlikni. Har bir ustun — real hajmning oldingi yilga nisbatan o‘zgarishi. Yashil — o‘sish, qizil — pasayish. 2007-yilda minus 10,6 foiz, 2009-yilda plyus 11 foiz. Boshqa hech bir tarmoqda bunday sakrashlar yo‘q.
[▶ bosing] Nega? Qo‘shilgan qiymat — bu mahsulot qiymatidan yem, yoqilg‘i, o‘g‘it kabi xarajatlar ayirmasi. Hosil yoki xarajat ozgina o‘zgarsa ham, ayirma keskin o‘zgaradi. 2007 va 2009-yillar bo‘yicha bu bizning talqinimiz. Manbalar tasdiqlagan misollar esa bor: 2012-yildagi qurg‘oqchilikda makkajo‘xori hosildorligi 1995-yildan beri eng past bo‘lgan, 2013-yilda tarmoq 10,1 foizga tiklangan. 2019-yilda bahor juda nam keldi — rekord 18,8 million akr yer ekilmay qoldi, real hajm 6,3 foizga tushdi. Shu yillarda Xitoy bilan savdo urushi bo‘ldi, hukumat fermerlarga 23 milliard dollar kompensatsiya to‘ladi.
[▶ bosing] Infratuzilma bu beqarorlikni yumshatadi. Sug‘oriladigan yerlar hosil maydonining 17 foizidan kam, lekin ekin sotuvi qiymatining yarmidan ko‘pini beradi. Don eksportining qariyb 60 foizi Missisipi daryosida barjalarda tashiladi. Ishlab chiqarish va bandlik bu yerda deyarli bog‘liq emas: real o‘sgan 14 yilning faqat 6 tasida bandlik ham oshgan.
[▶ bosing] Demak, suv va ishonchli transport — fermerning ob-havoga qarshi sug‘urtasi. So‘z Aslbekka.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Qo‘ziboyev Aslbek, ≈1 daqiqa
Men qurilish haqida gapiraman: uy-joy, yo‘l, zavod va boshqa inshootlar. Bu yerda tadqiqotimizdagi eng kutilmagan natija bor.
[▶ bosing] Ikkala chiziq 2000-yilga nisbatan. Och binafsha — pul hisobidagi qiymat: 461 milliard dollardan 1 340 milliardga, 190,5 foiz o‘sish. To‘q binafsha — real hajm. U 2025-yilda 2000-yildagidan 6,7 foiz past!
[▶ bosing] Ikki chiziq orasidagi maydon — bu narx. Qurilish narxlari 25 yilda taxminan 3,1 barobar oshgan.
[▶ bosing] Jadvalda ham shu manzara: ulush 4,5 dan 4,3 foizga, deyarli o‘zgarmagan, real hajm esa yiliga o‘rtacha 0,28 foizga kamaygan.
[▶ bosing] Nega? Narxlar tez oshdi, unumdorlik esa pasaydi. Iqtisodchilar Goolsbee va Syverson 2023-yilgi tadqiqotida AQSh qurilishida unumdorlik o‘nlab yillar pasayib kelganini, buni faqat o‘lchash xatosi bilan tushuntirib bo‘lmasligini ko‘rsatgan. Shuning uchun biz buni o‘lchangan real hajm deb aytamiz.
[▶ bosing] Demak, pul hisobidagi o‘sish har doim ham real o‘sish 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Qo‘ziboyev Aslbek, ≈1,5 daqiqa
[▶ bosing] Endi qurilishdagi ish o‘rinlari: 6,66 milliondan 8,13 million kishiga, 22,1 foiz o‘sish. Lekin yo‘l to‘g‘ri bo‘lmagan — uchta to‘lqin bor.
[▶ bosing] Birinchi to‘lqin — uy-joy pufagi. 2006-yilgacha ipoteka oson berildi, uylar tez qurildi. Keyin pufak yorildi: BLS ma’lumotiga ko‘ra, 2006–2009-yillarda qurilishda 1,9 million ish o‘rni yo‘qoldi. 2009-yilda real hajm 14,3 foizga, bandlik 17,6 foizga tushdi — 25 yildagi barcha tarmoqlar ichida eng katta pasayish.
[▶ bosing] Ikkinchi to‘lqin — 2022-yilgi foiz shoki. Inflyatsiyaga qarshi Federal rezerv stavkani 0,25–0,50 foizdan 5,25–5,50 foizga ko‘tardi, 30 yillik ipoteka foizi 7,79 ga yetdi. Uy qimmatlashdi, real hajm 6,3 foizga tushdi.
[▶ bosing] Uchinchi to‘lqin — zavodlar bumi. CHIPS qonuni yarimo‘tkazgichlar uchun 52,7 milliard dollar ajratdi, zavod qurilishiga xarajat 2024-yilda 233,2 milliard dollarga yetdi — bir yilda 20,4 foiz o‘sish.
[▶ bosing] Nega bunday? Qurilish qarzga quriladi: foiz arzon bo‘lsa — bum, qimmat bo‘lsa — to‘xtash. Davlat dasturi esa yangi buyurtma beradi. Bandlik hajm bilan birga yuradi: real o‘sgan 13 yilning 12 tasida bandlik ham oshgan.
[▶ bosing] Xulosa: qurilish — foiz stavkalari va davlat siyosatining barometri. Endi Visola to‘rt tarmoqni solishtiradi.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Saitmurodova Visola, ≈1,5 daqiqa
Endi to‘rt tarmoqni bitta jadvalda solishtiramiz va topshiriqdagi dastlabki uchta savolga javob beramiz.
[▶ bosing] Jadvalda har bir tarmoq uchun asosiy ko‘rsatkichlar. Qalin raqam — eng yuqori qiymat.
[▶ bosing] Birinchi savol: qaysi tarmoq eng tez rivojlangan? Xizmatlar. Uchta raqam tasdiqlaydi: real o‘sish yiliga 2,32 foiz, nominal o‘sish 223,9 foiz va YaIMdagi ulush 5,8 foiz punktga oshgan. Eng sekini — qurilish: real hajmi yiliga 0,28 foizga kamaygan.
[▶ bosing] Ikkinchi savol: kimning ulushi o‘zgardi? Faqat xizmatlarning ulushi oshgan. Sanoat 5,5 foiz punkt yo‘qotgan, qishloq xo‘jaligi va qurilish deyarli o‘zgarmagan.
[▶ bosing] Uchinchi savol: ishlab chiqarish oshganda bandlik ham oshganmi? Oxirgi qatorga qarang. Xizmatlarda 23 yilning 22 tasida, qurilishda 13 yilning 12 tasida — ha, bog‘liqlik kuchli. Sanoatda 19 yilning faqat 10 tasida, qishloq xo‘jaligida 14 yilning 6 tasida — bog‘liqlik zaif.
[▶ bosing] Nega? Xizmatlar va qurilish odam mehnatiga tayanadi. Sanoat va qishloq xo‘jaligi texnika va texnologiyaga tayanadi — shuning uchun bitta xodim sanoatda 285 ming dollar qiymat yaratadi, qurilishda esa 165 ming.
[▶ bosing] Demak, tarmoq o‘sayotganini bilish yetarli emas — qanday o‘sayotganini ham bilish kerak. So‘z Shahzodga.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O‘rolov Shahzod, ≈1,5 daqiqa
To‘rtinchi savol: pandemiya va energiya narxlari tarmoqlarga qanday ta’sir qilgan?
[▶ bosing] Grafikda uchta inqiroz yili, har birida to‘rt tarmoqning real o‘zgarishi.
[▶ bosing] 2009 — moliyaviy inqiroz. Eng og‘ir zarba qurilishga tushdi, minus 14,3 foiz, chunki inqiroz aynan uy-joy bozoridan boshlangan. Sanoat 5,5 foizga tushdi.
[▶ bosing] 2020 — pandemiya. Mart va aprelda 22 million ish o‘rni yo‘qoldi. Sanoat, xizmatlar va qurilish 2–2,5 foizga tushdi. Faqat qishloq xo‘jaligi o‘sdi — odamlar uyda qoldi, lekin ovqatlanishdan to‘xtamadi. 2021-yilda xizmatlar 6,7 foizga o‘sib, tez tiklandi.
[▶ bosing] 2022 — energiya shoki. Rossiyaning Ukrainaga bostirib kirishidan keyin Brent nefti o‘rtacha 100 dollar, AQSh gazi 6,45 dollar bo‘ldi — 2008-yildan beri eng yuqori. Inflyatsiya iyunda 9,1 foizga, energiya narxlari 41,6 foizga chiqdi. Ta’siri ikki xil bo‘ldi: kon qazish qiymati pul hisobida bir yilda 38,5 foizga oshdi, lekin Federal rezerv stavkani ko‘targani uchun qurilish real hisobda 6,3 foizga qisqardi.
[▶ bosing] Nega har safar boshqa tarmoq? Chunki inqirozning manbai boshqa: 2009-da kredit, 2020-da karantin, 2022-da energiya narxi.
[▶ bosing] Demak, inqirozga tayyorlanish uchun butun tuzilmaga qarash kerak. So‘z Zafarbekka.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Qahramonov Zafarbek, ≈1,5 daqiqa
Beshinchi savol: infratuzilma tarmoqlarga qanday yordam bergan? Uchta haqiqiy misol.
[▶ bosing] Birinchisi — energiya va sanoat. Slanets inqilobi tufayli AQShda gaz juda arzon: 2024-yilda o‘rtacha 2,21 dollar. Osiyoda 11,47, Yevropada 10,37 dollar — taxminan besh barobar qimmat. Arzon gaz kimyo zavodlarini jalb qildi: yangi zavodlar etilen ishlab chiqarishini 40 foizga oshirishi kutilgan edi. 2023-yilda AQSh suyultirilgan gaz eksporti bo‘yicha dunyoda birinchi o‘ringa chiqdi.
[▶ bosing] Ikkinchisi — 2021-yilgi infratuzilma qonuni, IIJA. Jami 1,2 trillion dollar, shundan 550 milliardi yangi mablag‘. Eng katta qismi yo‘l va ko‘priklarga — 110 milliard, keyin temir yo‘l, keng polosali internet, elektr tarmog‘i va suv. Bu pullar qurilish tarmog‘iga buyurtma bo‘lib tushadi.
[▶ bosing] Uchinchisi — avtomagistrallar. Interstate tizimi AQSh yo‘llarining atigi 1 foizi, lekin butun harakatning 26 foizi shu yo‘llarda. 2023-yilda mamlakat bo‘ylab 20,2 milliard tonna, 18,7 trillion dollarlik yuk tashilgan.
[▶ bosing] Nega bu muhim? Arzon energiya zavod xarajatini, yaxshi yo‘l yetkazish xarajatini, internet savdo xarajatini kamaytiradi.
[▶ bosing] Infratuzilma o‘zi kam pul ishlaydi, lekin qolgan tarmoqlarga ishlash imkonini beradi. So‘z Aslbekka.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Gapiradi: Qo‘ziboyev Aslbek, ≈2 daqiqa
Xulosa qilamiz.
[▶ bosing] To‘rt tarmoq — to‘rt xulosa. Xizmatlar YaIMning 82,4 foizini va bandlikning 84,6 foizini beradi. Sanoat ikki barobar o‘sdi, lekin 4,6 million kam odam bilan. Qishloq xo‘jaligi kichik, lekin eng beqaror tarmoq. Qurilish pul hisobida o‘sdi, real hajmi esa 2000-yil darajasiga qaytmagan. Endi AQSh tajribasidan O‘zbekistonga uchta taklif.
[▶ bosing] Birinchi — sug‘orish kanallarini betonlash va quvurlarga o‘tkazish bo‘yicha ko‘p yillik dastur. Prezident ma’lumotiga ko‘ra, qishloq xo‘jaligi suvining 36 foizi, ya’ni yiliga 14 milliard kub metr tuproq kanallarda yo‘qoladi. AQShda sug‘oriladigan yerlar maydonning 17 foizidan kam, lekin ekin qiymatining yarmidan ko‘pini beradi. Foyda: hosil oshadi, nasoslar kamroq elektr sarflaydi.
[▶ bosing] Ikkinchi — elektr tarmog‘ini yangilash. Jahon banki ma’lumotiga ko‘ra, taqsimotda 13 foiz atrofida yo‘qotish bor, tarmoqning yarmidan ko‘pi 30 yoshdan katta, talab esa 2030-yilgacha ikki barobar oshadi. AQShda arzon va barqaror energiya sanoatni jalb qildi. Foyda: uzilishlar kamayadi, investor ishonchli baza oladi.
[▶ bosing] Uchinchi — logistika koridorlari, quruq portlar va omborlar. Jahon bankining logistika indeksida O‘zbekiston 2023-yilda 88-o‘rinda. AQShda yo‘llarning 1 foizi harakatning 26 foizini tashiydi. Lekin ehtiyot bo‘lish kerak: XVF ma’lumotiga ko‘ra, davlat-xususiy sheriklik loyihalari portfeli YaIMning 27 foiziga yetgan, shuning uchun majburiyatlarga aniq limit qo‘yish kerak. Foyda: eksport arzonlashadi, hosil isrofi kamayadi.
[▶ bosing] Nega aynan shu uchtasi? Chunki ular AQShda o‘sishni qo‘llab-quvvatlagan infratuzilmaga — suv, energiya va yo‘lga tayanadi.
[▶ bosing] Infratuzilmaga sarmoya — barcha tarmoqlarga birdaniga sarmoya. E’tiboringiz uchun rahmat!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slayd gapirilmaydi. Savol bo‘lsa, kerakli manbani ko‘rsatish uchun ishlatiladi.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bosing] «Rahmat, savollaringizga tayyormiz» yozuvini oching. Savol-javob paytida kerakli slaydga ← → yoki Home/End bilan 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Savol-javob uchun: istalgan ko‘rsatkich bo‘yicha 2000–2025-yillarning to‘liq jadvali. Tugmalar bilan ko‘rsatkichni almashtiring.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Savol-javob uchun: istalgan ko‘rsatkich bo‘yicha 2000–2025-yillarning to‘liq jadvali. Tugmalar bilan ko‘rsatkichni almashtiring.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Savol-javob uchun: istalgan ko‘rsatkich bo‘yicha 2000–2025-yillarning to‘liq jadvali. Tugmalar bilan ko‘rsatkichni almashtiring.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Savol-javob uchun: istalgan ko‘rsatkich bo‘yicha 2000–2025-yillarning to‘liq jadvali. Tugmalar bilan ko‘rsatkichni almashtiring.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Savol-javob uchun: istalgan ko‘rsatkich bo‘yicha 2000–2025-yillarning to‘liq jadvali. Tugmalar bilan ko‘rsatkichni almashtiring.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UQOVA">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6665976"/>
            <a:ext cx="12191695" cy="192024"/>
          </a:xfrm>
          <a:prstGeom prst="rect">
            <a:avLst/>
          </a:prstGeom>
          <a:solidFill>
            <a:srgbClr val="2E2E2E"/>
          </a:solidFill>
          <a:ln/>
        </p:spPr>
      </p:sp>
      <p:sp>
        <p:nvSpPr>
          <p:cNvPr id="3" name="Shape 1"/>
          <p:cNvSpPr/>
          <p:nvPr/>
        </p:nvSpPr>
        <p:spPr>
          <a:xfrm>
            <a:off x="0" y="6761988"/>
            <a:ext cx="12191695" cy="0"/>
          </a:xfrm>
          <a:prstGeom prst="line">
            <a:avLst/>
          </a:prstGeom>
          <a:noFill/>
          <a:ln w="25400">
            <a:solidFill>
              <a:srgbClr val="E9E3C8">
                <a:alpha val="55000"/>
              </a:srgbClr>
            </a:solidFill>
            <a:prstDash val="dash"/>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ZMUN">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6665976"/>
            <a:ext cx="12191695" cy="192024"/>
          </a:xfrm>
          <a:prstGeom prst="rect">
            <a:avLst/>
          </a:prstGeom>
          <a:solidFill>
            <a:srgbClr val="2E2E2E"/>
          </a:solidFill>
          <a:ln/>
        </p:spPr>
      </p:sp>
      <p:sp>
        <p:nvSpPr>
          <p:cNvPr id="3" name="Shape 1"/>
          <p:cNvSpPr/>
          <p:nvPr/>
        </p:nvSpPr>
        <p:spPr>
          <a:xfrm>
            <a:off x="0" y="6761988"/>
            <a:ext cx="12191695" cy="0"/>
          </a:xfrm>
          <a:prstGeom prst="line">
            <a:avLst/>
          </a:prstGeom>
          <a:noFill/>
          <a:ln w="25400">
            <a:solidFill>
              <a:srgbClr val="E9E3C8">
                <a:alpha val="55000"/>
              </a:srgbClr>
            </a:solidFill>
            <a:prstDash val="dash"/>
          </a:ln>
        </p:spPr>
      </p:sp>
      <p:sp>
        <p:nvSpPr>
          <p:cNvPr id="4" name="Text 2"/>
          <p:cNvSpPr/>
          <p:nvPr>
            <p:ph idx="102" type="title" hasCustomPrompt="1"/>
          </p:nvPr>
        </p:nvSpPr>
        <p:spPr>
          <a:xfrm>
            <a:off x="571500" y="365760"/>
            <a:ext cx="8412480" cy="987552"/>
          </a:xfrm>
          <a:prstGeom prst="rect">
            <a:avLst/>
          </a:prstGeom>
          <a:noFill/>
          <a:ln/>
        </p:spPr>
        <p:txBody>
          <a:bodyPr wrap="square" rtlCol="0"/>
          <a:lstStyle>
            <a:lvl1pPr algn="l" indent="0" marL="0">
              <a:lnSpc>
                <a:spcPct val="95000"/>
              </a:lnSpc>
              <a:buNone/>
              <a:defRPr lang="en-US" sz="3000" b="1" dirty="0">
                <a:solidFill>
                  <a:schemeClr val="tx1"/>
                </a:solidFill>
                <a:latin typeface="IBM Plex Sans" pitchFamily="34" charset="0"/>
                <a:ea typeface="IBM Plex Sans" pitchFamily="34" charset="-122"/>
                <a:cs typeface="IBM Plex Sans" pitchFamily="34" charset="-120"/>
              </a:defRPr>
            </a:lvl1pPr>
          </a:lstStyle>
          <a:p>
            <a:pPr algn="l" indent="0" marL="0">
              <a:lnSpc>
                <a:spcPct val="95000"/>
              </a:lnSpc>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pps.bea.gov/industry/Release/XLS/GDPxInd/ValueAdded.xlsx" TargetMode="External"/><Relationship Id="rId2" Type="http://schemas.openxmlformats.org/officeDocument/2006/relationships/hyperlink" Target="https://apps.bea.gov/national/Release/TXT/NipaDataA.txt" TargetMode="External"/><Relationship Id="rId3" Type="http://schemas.openxmlformats.org/officeDocument/2006/relationships/hyperlink" Target="https://data.worldbank.org/country/united-states" TargetMode="External"/><Relationship Id="rId4" Type="http://schemas.openxmlformats.org/officeDocument/2006/relationships/hyperlink" Target="https://www.nber.org/papers/w18054" TargetMode="External"/><Relationship Id="rId5" Type="http://schemas.openxmlformats.org/officeDocument/2006/relationships/hyperlink" Target="https://research.upjohn.org/up_workingpapers/287/" TargetMode="External"/><Relationship Id="rId6" Type="http://schemas.openxmlformats.org/officeDocument/2006/relationships/hyperlink" Target="https://www.nber.org/papers/w30845" TargetMode="External"/><Relationship Id="rId7" Type="http://schemas.openxmlformats.org/officeDocument/2006/relationships/hyperlink" Target="https://www.bls.gov/news.release/archives/empsit_05082020.htm" TargetMode="External"/><Relationship Id="rId8" Type="http://schemas.openxmlformats.org/officeDocument/2006/relationships/hyperlink" Target="https://www.bls.gov/osmr/research-papers/2021/st210060.htm" TargetMode="External"/><Relationship Id="rId9" Type="http://schemas.openxmlformats.org/officeDocument/2006/relationships/hyperlink" Target="https://www.bls.gov/opub/mlr/2010/12/art1full.pdf" TargetMode="External"/><Relationship Id="rId10" Type="http://schemas.openxmlformats.org/officeDocument/2006/relationships/hyperlink" Target="https://www.bls.gov/opub/ted/2022/consumer-prices-up-9-1-percent-over-the-year-ended-june-2022-largest-increase-in-40-years.htm" TargetMode="External"/><Relationship Id="rId11" Type="http://schemas.openxmlformats.org/officeDocument/2006/relationships/hyperlink" Target="https://www.eia.gov/todayinenergy/detail.php?id=61545" TargetMode="External"/><Relationship Id="rId12" Type="http://schemas.openxmlformats.org/officeDocument/2006/relationships/hyperlink" Target="https://www.eia.gov/todayinenergy/detail.php?id=55079" TargetMode="External"/><Relationship Id="rId13" Type="http://schemas.openxmlformats.org/officeDocument/2006/relationships/hyperlink" Target="https://www.eia.gov/todayinenergy/detail.php?id=55119" TargetMode="External"/><Relationship Id="rId14" Type="http://schemas.openxmlformats.org/officeDocument/2006/relationships/hyperlink" Target="https://www.eia.gov/todayinenergy/detail.php?id=64184" TargetMode="External"/><Relationship Id="rId15" Type="http://schemas.openxmlformats.org/officeDocument/2006/relationships/hyperlink" Target="https://www.eia.gov/todayinenergy/detail.php?id=63804" TargetMode="External"/><Relationship Id="rId16" Type="http://schemas.openxmlformats.org/officeDocument/2006/relationships/hyperlink" Target="https://www.eia.gov/todayinenergy/detail.php?id=61683" TargetMode="External"/><Relationship Id="rId17" Type="http://schemas.openxmlformats.org/officeDocument/2006/relationships/hyperlink" Target="https://www.eia.gov/todayinenergy/detail.php?id=19771" TargetMode="External"/><Relationship Id="rId18" Type="http://schemas.openxmlformats.org/officeDocument/2006/relationships/slideLayout" Target="../slideLayouts/slideLayout3.xml"/><Relationship Id="rId1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ers.usda.gov/data-products/charts-of-note/76883" TargetMode="External"/><Relationship Id="rId2" Type="http://schemas.openxmlformats.org/officeDocument/2006/relationships/hyperlink" Target="https://www.ers.usda.gov/topics/farm-practices-management/irrigation-water-use" TargetMode="External"/><Relationship Id="rId3" Type="http://schemas.openxmlformats.org/officeDocument/2006/relationships/hyperlink" Target="https://www.ams.usda.gov/sites/default/files/media/GTR10052023.pdf" TargetMode="External"/><Relationship Id="rId4" Type="http://schemas.openxmlformats.org/officeDocument/2006/relationships/hyperlink" Target="https://gao.gov/products/gao-22-468" TargetMode="External"/><Relationship Id="rId5" Type="http://schemas.openxmlformats.org/officeDocument/2006/relationships/hyperlink" Target="https://www.congress.gov/crs-product/R47523" TargetMode="External"/><Relationship Id="rId6" Type="http://schemas.openxmlformats.org/officeDocument/2006/relationships/hyperlink" Target="https://www.census.gov/retail/ecommerce.html" TargetMode="External"/><Relationship Id="rId7" Type="http://schemas.openxmlformats.org/officeDocument/2006/relationships/hyperlink" Target="https://www.census.gov/construction/c30/pdf/pr202412.pdf" TargetMode="External"/><Relationship Id="rId8" Type="http://schemas.openxmlformats.org/officeDocument/2006/relationships/hyperlink" Target="https://www.federalreserve.gov/newsevents/pressreleases/monetary20230726a.htm" TargetMode="External"/><Relationship Id="rId9" Type="http://schemas.openxmlformats.org/officeDocument/2006/relationships/hyperlink" Target="https://www.pewresearch.org/internet/fact-sheet/internet-broadband/" TargetMode="External"/><Relationship Id="rId10" Type="http://schemas.openxmlformats.org/officeDocument/2006/relationships/hyperlink" Target="https://www.transportation.gov/rural/grant-toolkit/funding-and-financing/grants-overview" TargetMode="External"/><Relationship Id="rId11" Type="http://schemas.openxmlformats.org/officeDocument/2006/relationships/hyperlink" Target="https://www.fhwa.dot.gov/policyinformation/pubs/our_nations_highways_2026/roads.cfm" TargetMode="External"/><Relationship Id="rId12" Type="http://schemas.openxmlformats.org/officeDocument/2006/relationships/hyperlink" Target="https://data.bts.gov/stories/s/Moving-Goods-in-the-United-States/bcyt-rqmu/" TargetMode="External"/><Relationship Id="rId13" Type="http://schemas.openxmlformats.org/officeDocument/2006/relationships/hyperlink" Target="https://lpi.worldbank.org/international/global" TargetMode="External"/><Relationship Id="rId14" Type="http://schemas.openxmlformats.org/officeDocument/2006/relationships/hyperlink" Target="https://centralasiaclimateportal.org/36-of-water-in-uzbekistans-agriculture-is-lost-in-earthen-canals/" TargetMode="External"/><Relationship Id="rId15" Type="http://schemas.openxmlformats.org/officeDocument/2006/relationships/slideLayout" Target="../slideLayouts/slideLayout3.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elgi-tashqi"/>
          <p:cNvSpPr/>
          <p:nvPr/>
        </p:nvSpPr>
        <p:spPr>
          <a:xfrm>
            <a:off x="530352" y="393192"/>
            <a:ext cx="8714232" cy="2130552"/>
          </a:xfrm>
          <a:prstGeom prst="roundRect">
            <a:avLst>
              <a:gd name="adj" fmla="val 6867"/>
            </a:avLst>
          </a:prstGeom>
          <a:solidFill>
            <a:srgbClr val="00653A"/>
          </a:solidFill>
          <a:ln/>
        </p:spPr>
      </p:sp>
      <p:sp>
        <p:nvSpPr>
          <p:cNvPr id="3" name="belgi"/>
          <p:cNvSpPr/>
          <p:nvPr/>
        </p:nvSpPr>
        <p:spPr>
          <a:xfrm>
            <a:off x="594360" y="457200"/>
            <a:ext cx="8586216" cy="2002536"/>
          </a:xfrm>
          <a:prstGeom prst="roundRect">
            <a:avLst>
              <a:gd name="adj" fmla="val 5936"/>
            </a:avLst>
          </a:prstGeom>
          <a:solidFill>
            <a:srgbClr val="00653A"/>
          </a:solidFill>
          <a:ln w="38100">
            <a:solidFill>
              <a:srgbClr val="FFFFFF"/>
            </a:solidFill>
            <a:prstDash val="solid"/>
          </a:ln>
        </p:spPr>
      </p:sp>
      <p:sp>
        <p:nvSpPr>
          <p:cNvPr id="4" name="guruh"/>
          <p:cNvSpPr txBox="1"/>
          <p:nvPr/>
        </p:nvSpPr>
        <p:spPr>
          <a:xfrm>
            <a:off x="960120" y="713232"/>
            <a:ext cx="7863840" cy="274320"/>
          </a:xfrm>
          <a:prstGeom prst="rect">
            <a:avLst/>
          </a:prstGeom>
          <a:noFill/>
          <a:ln/>
        </p:spPr>
        <p:txBody>
          <a:bodyPr wrap="square" lIns="0" tIns="0" rIns="0" bIns="0" rtlCol="0" anchor="ctr"/>
          <a:lstStyle/>
          <a:p>
            <a:pPr indent="0" marL="0">
              <a:buNone/>
            </a:pPr>
            <a:r>
              <a:rPr lang="en-US" sz="1400" b="1" spc="100" kern="0" dirty="0">
                <a:solidFill>
                  <a:srgbClr val="FFFFFF"/>
                </a:solidFill>
                <a:latin typeface="+mj-lt" pitchFamily="34" charset="0"/>
                <a:ea typeface="+mj-lt" pitchFamily="34" charset="-122"/>
                <a:cs typeface="+mj-lt" pitchFamily="34" charset="-120"/>
              </a:rPr>
              <a:t>3-guruh  ·  Iqtisodiyot tarmoqlari tahlili</a:t>
            </a:r>
            <a:endParaRPr lang="en-US" sz="1400" dirty="0"/>
          </a:p>
        </p:txBody>
      </p:sp>
      <p:sp>
        <p:nvSpPr>
          <p:cNvPr id="5" name="sarlavha"/>
          <p:cNvSpPr txBox="1"/>
          <p:nvPr/>
        </p:nvSpPr>
        <p:spPr>
          <a:xfrm>
            <a:off x="960120" y="1042416"/>
            <a:ext cx="7863840" cy="118872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mj-lt" pitchFamily="34" charset="0"/>
                <a:ea typeface="+mj-lt" pitchFamily="34" charset="-122"/>
                <a:cs typeface="+mj-lt" pitchFamily="34" charset="-120"/>
              </a:rPr>
              <a:t>AQSh iqtisodiyotining asosiy tarmoqlari: 2000–2025</a:t>
            </a:r>
            <a:endParaRPr lang="en-US" sz="4000" dirty="0"/>
          </a:p>
        </p:txBody>
      </p:sp>
      <p:sp>
        <p:nvSpPr>
          <p:cNvPr id="6" name="tarmoq-chizigi"/>
          <p:cNvSpPr/>
          <p:nvPr/>
        </p:nvSpPr>
        <p:spPr>
          <a:xfrm>
            <a:off x="960120" y="2670048"/>
            <a:ext cx="950976" cy="91440"/>
          </a:xfrm>
          <a:prstGeom prst="roundRect">
            <a:avLst>
              <a:gd name="adj" fmla="val 50000"/>
            </a:avLst>
          </a:prstGeom>
          <a:solidFill>
            <a:srgbClr val="F59F00"/>
          </a:solidFill>
          <a:ln/>
        </p:spPr>
      </p:sp>
      <p:sp>
        <p:nvSpPr>
          <p:cNvPr id="7" name="tarmoq-chizigi"/>
          <p:cNvSpPr/>
          <p:nvPr/>
        </p:nvSpPr>
        <p:spPr>
          <a:xfrm>
            <a:off x="2002536" y="2670048"/>
            <a:ext cx="950976" cy="91440"/>
          </a:xfrm>
          <a:prstGeom prst="roundRect">
            <a:avLst>
              <a:gd name="adj" fmla="val 50000"/>
            </a:avLst>
          </a:prstGeom>
          <a:solidFill>
            <a:srgbClr val="1C3F94"/>
          </a:solidFill>
          <a:ln/>
        </p:spPr>
      </p:sp>
      <p:sp>
        <p:nvSpPr>
          <p:cNvPr id="8" name="tarmoq-chizigi"/>
          <p:cNvSpPr/>
          <p:nvPr/>
        </p:nvSpPr>
        <p:spPr>
          <a:xfrm>
            <a:off x="3044952" y="2670048"/>
            <a:ext cx="950976" cy="91440"/>
          </a:xfrm>
          <a:prstGeom prst="roundRect">
            <a:avLst>
              <a:gd name="adj" fmla="val 50000"/>
            </a:avLst>
          </a:prstGeom>
          <a:solidFill>
            <a:srgbClr val="9C36B5"/>
          </a:solidFill>
          <a:ln/>
        </p:spPr>
      </p:sp>
      <p:sp>
        <p:nvSpPr>
          <p:cNvPr id="9" name="tarmoq-chizigi"/>
          <p:cNvSpPr/>
          <p:nvPr/>
        </p:nvSpPr>
        <p:spPr>
          <a:xfrm>
            <a:off x="4087368" y="2670048"/>
            <a:ext cx="950976" cy="91440"/>
          </a:xfrm>
          <a:prstGeom prst="roundRect">
            <a:avLst>
              <a:gd name="adj" fmla="val 50000"/>
            </a:avLst>
          </a:prstGeom>
          <a:solidFill>
            <a:srgbClr val="2F9E44"/>
          </a:solidFill>
          <a:ln/>
        </p:spPr>
      </p:sp>
      <p:sp>
        <p:nvSpPr>
          <p:cNvPr id="10" name="qalqon"/>
          <p:cNvSpPr/>
          <p:nvPr/>
        </p:nvSpPr>
        <p:spPr>
          <a:xfrm>
            <a:off x="10561320" y="457200"/>
            <a:ext cx="1078992" cy="1143000"/>
          </a:xfrm>
          <a:prstGeom prst="flowChartOffpageConnector">
            <a:avLst/>
          </a:prstGeom>
          <a:solidFill>
            <a:srgbClr val="1C3F94"/>
          </a:solidFill>
          <a:ln w="38100">
            <a:solidFill>
              <a:srgbClr val="FFFFFF"/>
            </a:solidFill>
            <a:prstDash val="solid"/>
          </a:ln>
        </p:spPr>
      </p:sp>
      <p:sp>
        <p:nvSpPr>
          <p:cNvPr id="11" name="qalqon-tepa"/>
          <p:cNvSpPr/>
          <p:nvPr/>
        </p:nvSpPr>
        <p:spPr>
          <a:xfrm>
            <a:off x="10625328" y="521208"/>
            <a:ext cx="950976" cy="246888"/>
          </a:xfrm>
          <a:prstGeom prst="rect">
            <a:avLst/>
          </a:prstGeom>
          <a:solidFill>
            <a:srgbClr val="C92A2A"/>
          </a:solidFill>
          <a:ln/>
        </p:spPr>
      </p:sp>
      <p:sp>
        <p:nvSpPr>
          <p:cNvPr id="12" name="qalqon-matn"/>
          <p:cNvSpPr txBox="1"/>
          <p:nvPr/>
        </p:nvSpPr>
        <p:spPr>
          <a:xfrm>
            <a:off x="10561320" y="521208"/>
            <a:ext cx="1078992"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mj-lt" pitchFamily="34" charset="0"/>
                <a:ea typeface="+mj-lt" pitchFamily="34" charset="-122"/>
                <a:cs typeface="+mj-lt" pitchFamily="34" charset="-120"/>
              </a:rPr>
              <a:t>AQSh</a:t>
            </a:r>
            <a:endParaRPr lang="en-US" sz="1200" dirty="0"/>
          </a:p>
        </p:txBody>
      </p:sp>
      <p:sp>
        <p:nvSpPr>
          <p:cNvPr id="13" name="qalqon-25"/>
          <p:cNvSpPr txBox="1"/>
          <p:nvPr/>
        </p:nvSpPr>
        <p:spPr>
          <a:xfrm>
            <a:off x="10561320" y="786384"/>
            <a:ext cx="1078992" cy="685800"/>
          </a:xfrm>
          <a:prstGeom prst="rect">
            <a:avLst/>
          </a:prstGeom>
          <a:noFill/>
          <a:ln/>
        </p:spPr>
        <p:txBody>
          <a:bodyPr wrap="square" lIns="0" tIns="0" rIns="0" bIns="0" rtlCol="0" anchor="t"/>
          <a:lstStyle/>
          <a:p>
            <a:pPr algn="ctr" indent="0" marL="0">
              <a:lnSpc>
                <a:spcPct val="85000"/>
              </a:lnSpc>
              <a:buNone/>
            </a:pPr>
            <a:r>
              <a:rPr lang="en-US" sz="3200" b="1" dirty="0">
                <a:solidFill>
                  <a:srgbClr val="FFFFFF"/>
                </a:solidFill>
                <a:latin typeface="+mj-lt" pitchFamily="34" charset="0"/>
                <a:ea typeface="+mj-lt" pitchFamily="34" charset="-122"/>
                <a:cs typeface="+mj-lt" pitchFamily="34" charset="-120"/>
              </a:rPr>
              <a:t>25</a:t>
            </a:r>
            <a:endParaRPr lang="en-US" sz="3200" dirty="0"/>
          </a:p>
          <a:p>
            <a:pPr algn="ctr" indent="0" marL="0">
              <a:lnSpc>
                <a:spcPct val="85000"/>
              </a:lnSpc>
              <a:buNone/>
            </a:pPr>
            <a:r>
              <a:rPr lang="en-US" sz="1200" b="1" dirty="0">
                <a:solidFill>
                  <a:srgbClr val="FFFFFF"/>
                </a:solidFill>
                <a:latin typeface="+mj-lt" pitchFamily="34" charset="0"/>
                <a:ea typeface="+mj-lt" pitchFamily="34" charset="-122"/>
                <a:cs typeface="+mj-lt" pitchFamily="34" charset="-120"/>
              </a:rPr>
              <a:t>yil</a:t>
            </a:r>
            <a:endParaRPr lang="en-US" sz="3200" dirty="0"/>
          </a:p>
        </p:txBody>
      </p:sp>
      <p:sp>
        <p:nvSpPr>
          <p:cNvPr id="14" name="markaziy-savol"/>
          <p:cNvSpPr txBox="1"/>
          <p:nvPr/>
        </p:nvSpPr>
        <p:spPr>
          <a:xfrm>
            <a:off x="571500" y="3017520"/>
            <a:ext cx="9509760" cy="1097280"/>
          </a:xfrm>
          <a:prstGeom prst="rect">
            <a:avLst/>
          </a:prstGeom>
          <a:noFill/>
          <a:ln/>
        </p:spPr>
        <p:txBody>
          <a:bodyPr wrap="square" lIns="0" tIns="0" rIns="0" bIns="0" rtlCol="0" anchor="t"/>
          <a:lstStyle/>
          <a:p>
            <a:pPr indent="0" marL="0">
              <a:lnSpc>
                <a:spcPct val="110000"/>
              </a:lnSpc>
              <a:buNone/>
            </a:pPr>
            <a:r>
              <a:rPr lang="en-US" sz="2000" b="1" dirty="0">
                <a:solidFill>
                  <a:schemeClr val="tx1"/>
                </a:solidFill>
                <a:latin typeface="+mj-lt" pitchFamily="34" charset="0"/>
                <a:ea typeface="+mj-lt" pitchFamily="34" charset="-122"/>
                <a:cs typeface="+mj-lt" pitchFamily="34" charset="-120"/>
              </a:rPr>
              <a:t>25 YILDA AMERIKA BOYLIGINI QAYSI TARMOQ YARATDI, ODAMLAR QAYERDA ISHLAY BOSHLADI VA BUNDA YO‘L, ENERGIYA, INTERNET QANDAY ROL O‘YNADI?</a:t>
            </a:r>
            <a:endParaRPr lang="en-US" sz="2000" dirty="0"/>
          </a:p>
        </p:txBody>
      </p:sp>
      <p:sp>
        <p:nvSpPr>
          <p:cNvPr id="15" name="yaim"/>
          <p:cNvSpPr txBox="1"/>
          <p:nvPr/>
        </p:nvSpPr>
        <p:spPr>
          <a:xfrm>
            <a:off x="571500" y="4617720"/>
            <a:ext cx="6400800" cy="868680"/>
          </a:xfrm>
          <a:prstGeom prst="rect">
            <a:avLst/>
          </a:prstGeom>
          <a:noFill/>
          <a:ln/>
        </p:spPr>
        <p:txBody>
          <a:bodyPr wrap="square" lIns="0" tIns="0" rIns="0" bIns="0" rtlCol="0" anchor="b"/>
          <a:lstStyle/>
          <a:p>
            <a:pPr indent="0" marL="0">
              <a:buNone/>
            </a:pPr>
            <a:r>
              <a:rPr lang="en-US" sz="5400" b="1" dirty="0">
                <a:solidFill>
                  <a:schemeClr val="tx1"/>
                </a:solidFill>
                <a:latin typeface="+mj-lt" pitchFamily="34" charset="0"/>
                <a:ea typeface="+mj-lt" pitchFamily="34" charset="-122"/>
                <a:cs typeface="+mj-lt" pitchFamily="34" charset="-120"/>
              </a:rPr>
              <a:t>10,3 → 30,9 trln $</a:t>
            </a:r>
            <a:endParaRPr lang="en-US" sz="5400" dirty="0"/>
          </a:p>
        </p:txBody>
      </p:sp>
      <p:sp>
        <p:nvSpPr>
          <p:cNvPr id="16" name="yaim-izoh"/>
          <p:cNvSpPr txBox="1"/>
          <p:nvPr/>
        </p:nvSpPr>
        <p:spPr>
          <a:xfrm>
            <a:off x="571500" y="5541264"/>
            <a:ext cx="6400800" cy="256032"/>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AQSh YaIMi, joriy narxda, 2000 → 2025  ·  Manba: BEA [1]</a:t>
            </a:r>
            <a:endParaRPr lang="en-US" sz="1200" dirty="0"/>
          </a:p>
        </p:txBody>
      </p:sp>
      <p:sp>
        <p:nvSpPr>
          <p:cNvPr id="17" name="guruh-azolari"/>
          <p:cNvSpPr txBox="1"/>
          <p:nvPr/>
        </p:nvSpPr>
        <p:spPr>
          <a:xfrm>
            <a:off x="7223760" y="4754880"/>
            <a:ext cx="4398264" cy="1097280"/>
          </a:xfrm>
          <a:prstGeom prst="rect">
            <a:avLst/>
          </a:prstGeom>
          <a:noFill/>
          <a:ln/>
        </p:spPr>
        <p:txBody>
          <a:bodyPr wrap="square" lIns="0" tIns="0" rIns="0" bIns="0" rtlCol="0" anchor="b"/>
          <a:lstStyle/>
          <a:p>
            <a:pPr algn="r" indent="0" marL="0">
              <a:lnSpc>
                <a:spcPct val="115000"/>
              </a:lnSpc>
              <a:buNone/>
            </a:pPr>
            <a:r>
              <a:rPr lang="en-US" sz="1300" b="1" dirty="0">
                <a:solidFill>
                  <a:schemeClr val="tx1"/>
                </a:solidFill>
                <a:latin typeface="+mj-lt" pitchFamily="34" charset="0"/>
                <a:ea typeface="+mj-lt" pitchFamily="34" charset="-122"/>
                <a:cs typeface="+mj-lt" pitchFamily="34" charset="-120"/>
              </a:rPr>
              <a:t>Guruh a’zolari</a:t>
            </a:r>
            <a:endParaRPr lang="en-US" sz="1300" dirty="0"/>
          </a:p>
          <a:p>
            <a:pPr algn="r" indent="0" marL="0">
              <a:lnSpc>
                <a:spcPct val="115000"/>
              </a:lnSpc>
              <a:buNone/>
            </a:pPr>
            <a:r>
              <a:rPr lang="en-US" sz="1300" dirty="0">
                <a:solidFill>
                  <a:schemeClr val="tx1"/>
                </a:solidFill>
                <a:latin typeface="+mj-lt" pitchFamily="34" charset="0"/>
                <a:ea typeface="+mj-lt" pitchFamily="34" charset="-122"/>
                <a:cs typeface="+mj-lt" pitchFamily="34" charset="-120"/>
              </a:rPr>
              <a:t>O‘rolov Shahzod  ·  Otamurodov Muhammadali</a:t>
            </a:r>
            <a:endParaRPr lang="en-US" sz="1300" dirty="0"/>
          </a:p>
          <a:p>
            <a:pPr algn="r" indent="0" marL="0">
              <a:lnSpc>
                <a:spcPct val="115000"/>
              </a:lnSpc>
              <a:buNone/>
            </a:pPr>
            <a:r>
              <a:rPr lang="en-US" sz="1300" dirty="0">
                <a:solidFill>
                  <a:schemeClr val="tx1"/>
                </a:solidFill>
                <a:latin typeface="+mj-lt" pitchFamily="34" charset="0"/>
                <a:ea typeface="+mj-lt" pitchFamily="34" charset="-122"/>
                <a:cs typeface="+mj-lt" pitchFamily="34" charset="-120"/>
              </a:rPr>
              <a:t>Qahramonov Zafarbek  ·  Saitmurodova Visola</a:t>
            </a:r>
            <a:endParaRPr lang="en-US" sz="1300" dirty="0"/>
          </a:p>
          <a:p>
            <a:pPr algn="r" indent="0" marL="0">
              <a:lnSpc>
                <a:spcPct val="115000"/>
              </a:lnSpc>
              <a:buNone/>
            </a:pPr>
            <a:r>
              <a:rPr lang="en-US" sz="1300" dirty="0">
                <a:solidFill>
                  <a:schemeClr val="tx1"/>
                </a:solidFill>
                <a:latin typeface="+mj-lt" pitchFamily="34" charset="0"/>
                <a:ea typeface="+mj-lt" pitchFamily="34" charset="-122"/>
                <a:cs typeface="+mj-lt" pitchFamily="34" charset="-120"/>
              </a:rPr>
              <a:t>Qo‘ziboyev Aslbek</a:t>
            </a:r>
            <a:endParaRPr lang="en-US" sz="1300" dirty="0"/>
          </a:p>
        </p:txBody>
      </p:sp>
      <p:sp>
        <p:nvSpPr>
          <p:cNvPr id="18" name="speaker-dot"/>
          <p:cNvSpPr/>
          <p:nvPr/>
        </p:nvSpPr>
        <p:spPr>
          <a:xfrm>
            <a:off x="571500" y="6336792"/>
            <a:ext cx="77724" cy="77724"/>
          </a:xfrm>
          <a:prstGeom prst="ellipse">
            <a:avLst/>
          </a:prstGeom>
          <a:solidFill>
            <a:srgbClr val="55524B"/>
          </a:solidFill>
          <a:ln/>
        </p:spPr>
      </p:sp>
      <p:sp>
        <p:nvSpPr>
          <p:cNvPr id="19"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O‘rolov Shahzod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rogress"/>
          <p:cNvSpPr/>
          <p:nvPr/>
        </p:nvSpPr>
        <p:spPr>
          <a:xfrm>
            <a:off x="0" y="6743700"/>
            <a:ext cx="580557"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Iqtisodiyotni to‘rt tarmoqqa bo‘lsak, boylik qayerda yaratilayotgani ko‘rinadi</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2</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Metodika</a:t>
            </a:r>
            <a:endParaRPr lang="en-US" sz="1700" dirty="0"/>
          </a:p>
        </p:txBody>
      </p:sp>
      <p:sp>
        <p:nvSpPr>
          <p:cNvPr id="9" name="sign-lane"/>
          <p:cNvSpPr/>
          <p:nvPr/>
        </p:nvSpPr>
        <p:spPr>
          <a:xfrm>
            <a:off x="9994392" y="1225296"/>
            <a:ext cx="1517904" cy="50292"/>
          </a:xfrm>
          <a:prstGeom prst="rect">
            <a:avLst/>
          </a:prstGeom>
          <a:solidFill>
            <a:srgbClr val="9A9A9A"/>
          </a:solidFill>
          <a:ln/>
        </p:spPr>
      </p:sp>
      <p:sp>
        <p:nvSpPr>
          <p:cNvPr id="10" name="tarif-chiziq"/>
          <p:cNvSpPr/>
          <p:nvPr/>
        </p:nvSpPr>
        <p:spPr>
          <a:xfrm>
            <a:off x="571500" y="1572768"/>
            <a:ext cx="64008" cy="868680"/>
          </a:xfrm>
          <a:prstGeom prst="rect">
            <a:avLst/>
          </a:prstGeom>
          <a:solidFill>
            <a:srgbClr val="1C3F94"/>
          </a:solidFill>
          <a:ln/>
        </p:spPr>
      </p:sp>
      <p:sp>
        <p:nvSpPr>
          <p:cNvPr id="11" name="tarif"/>
          <p:cNvSpPr txBox="1"/>
          <p:nvPr/>
        </p:nvSpPr>
        <p:spPr>
          <a:xfrm>
            <a:off x="754380" y="1572768"/>
            <a:ext cx="3108960" cy="868680"/>
          </a:xfrm>
          <a:prstGeom prst="rect">
            <a:avLst/>
          </a:prstGeom>
          <a:noFill/>
          <a:ln/>
        </p:spPr>
        <p:txBody>
          <a:bodyPr wrap="square" lIns="0" tIns="0" rIns="0" bIns="0" rtlCol="0" anchor="t"/>
          <a:lstStyle/>
          <a:p>
            <a:pPr indent="0" marL="0">
              <a:spcAft>
                <a:spcPts val="200"/>
              </a:spcAft>
              <a:buNone/>
            </a:pPr>
            <a:r>
              <a:rPr lang="en-US" sz="1500" b="1" dirty="0">
                <a:solidFill>
                  <a:srgbClr val="1C3F94"/>
                </a:solidFill>
                <a:latin typeface="+mj-lt" pitchFamily="34" charset="0"/>
                <a:ea typeface="+mj-lt" pitchFamily="34" charset="-122"/>
                <a:cs typeface="+mj-lt" pitchFamily="34" charset="-120"/>
              </a:rPr>
              <a:t>Sanoat</a:t>
            </a:r>
            <a:endParaRPr lang="en-US" sz="1500" dirty="0"/>
          </a:p>
          <a:p>
            <a:pPr indent="0" marL="0">
              <a:spcAft>
                <a:spcPts val="200"/>
              </a:spcAft>
              <a:buNone/>
            </a:pPr>
            <a:r>
              <a:rPr lang="en-US" sz="1300" dirty="0">
                <a:solidFill>
                  <a:srgbClr val="141414"/>
                </a:solidFill>
              </a:rPr>
              <a:t>Kon qazish (neft, gaz, ko‘mir), elektr va gaz ta’minoti, zavodlar.</a:t>
            </a:r>
            <a:endParaRPr lang="en-US" sz="1500" dirty="0"/>
          </a:p>
        </p:txBody>
      </p:sp>
      <p:sp>
        <p:nvSpPr>
          <p:cNvPr id="12" name="tarif-chiziq"/>
          <p:cNvSpPr/>
          <p:nvPr/>
        </p:nvSpPr>
        <p:spPr>
          <a:xfrm>
            <a:off x="4091940" y="1572768"/>
            <a:ext cx="64008" cy="868680"/>
          </a:xfrm>
          <a:prstGeom prst="rect">
            <a:avLst/>
          </a:prstGeom>
          <a:solidFill>
            <a:srgbClr val="F59F00"/>
          </a:solidFill>
          <a:ln/>
        </p:spPr>
      </p:sp>
      <p:sp>
        <p:nvSpPr>
          <p:cNvPr id="13" name="tarif"/>
          <p:cNvSpPr txBox="1"/>
          <p:nvPr/>
        </p:nvSpPr>
        <p:spPr>
          <a:xfrm>
            <a:off x="4274820" y="1572768"/>
            <a:ext cx="3108960" cy="868680"/>
          </a:xfrm>
          <a:prstGeom prst="rect">
            <a:avLst/>
          </a:prstGeom>
          <a:noFill/>
          <a:ln/>
        </p:spPr>
        <p:txBody>
          <a:bodyPr wrap="square" lIns="0" tIns="0" rIns="0" bIns="0" rtlCol="0" anchor="t"/>
          <a:lstStyle/>
          <a:p>
            <a:pPr indent="0" marL="0">
              <a:spcAft>
                <a:spcPts val="200"/>
              </a:spcAft>
              <a:buNone/>
            </a:pPr>
            <a:r>
              <a:rPr lang="en-US" sz="1500" b="1" dirty="0">
                <a:solidFill>
                  <a:srgbClr val="B86E00"/>
                </a:solidFill>
                <a:latin typeface="+mj-lt" pitchFamily="34" charset="0"/>
                <a:ea typeface="+mj-lt" pitchFamily="34" charset="-122"/>
                <a:cs typeface="+mj-lt" pitchFamily="34" charset="-120"/>
              </a:rPr>
              <a:t>Xizmatlar</a:t>
            </a:r>
            <a:endParaRPr lang="en-US" sz="1500" dirty="0"/>
          </a:p>
          <a:p>
            <a:pPr indent="0" marL="0">
              <a:spcAft>
                <a:spcPts val="200"/>
              </a:spcAft>
              <a:buNone/>
            </a:pPr>
            <a:r>
              <a:rPr lang="en-US" sz="1300" dirty="0">
                <a:solidFill>
                  <a:srgbClr val="141414"/>
                </a:solidFill>
              </a:rPr>
              <a:t>Mahsulot emas, xizmat sotiladigan soha: savdo, moliya, sog‘liq, ta’lim, IT, davlat.</a:t>
            </a:r>
            <a:endParaRPr lang="en-US" sz="1500" dirty="0"/>
          </a:p>
        </p:txBody>
      </p:sp>
      <p:sp>
        <p:nvSpPr>
          <p:cNvPr id="14" name="tarif-chiziq"/>
          <p:cNvSpPr/>
          <p:nvPr/>
        </p:nvSpPr>
        <p:spPr>
          <a:xfrm>
            <a:off x="571500" y="2596896"/>
            <a:ext cx="64008" cy="868680"/>
          </a:xfrm>
          <a:prstGeom prst="rect">
            <a:avLst/>
          </a:prstGeom>
          <a:solidFill>
            <a:srgbClr val="2F9E44"/>
          </a:solidFill>
          <a:ln/>
        </p:spPr>
      </p:sp>
      <p:sp>
        <p:nvSpPr>
          <p:cNvPr id="15" name="tarif"/>
          <p:cNvSpPr txBox="1"/>
          <p:nvPr/>
        </p:nvSpPr>
        <p:spPr>
          <a:xfrm>
            <a:off x="754380" y="2596896"/>
            <a:ext cx="3108960" cy="868680"/>
          </a:xfrm>
          <a:prstGeom prst="rect">
            <a:avLst/>
          </a:prstGeom>
          <a:noFill/>
          <a:ln/>
        </p:spPr>
        <p:txBody>
          <a:bodyPr wrap="square" lIns="0" tIns="0" rIns="0" bIns="0" rtlCol="0" anchor="t"/>
          <a:lstStyle/>
          <a:p>
            <a:pPr indent="0" marL="0">
              <a:spcAft>
                <a:spcPts val="200"/>
              </a:spcAft>
              <a:buNone/>
            </a:pPr>
            <a:r>
              <a:rPr lang="en-US" sz="1500" b="1" dirty="0">
                <a:solidFill>
                  <a:srgbClr val="237A34"/>
                </a:solidFill>
                <a:latin typeface="+mj-lt" pitchFamily="34" charset="0"/>
                <a:ea typeface="+mj-lt" pitchFamily="34" charset="-122"/>
                <a:cs typeface="+mj-lt" pitchFamily="34" charset="-120"/>
              </a:rPr>
              <a:t>Qishloq xo‘jaligi</a:t>
            </a:r>
            <a:endParaRPr lang="en-US" sz="1500" dirty="0"/>
          </a:p>
          <a:p>
            <a:pPr indent="0" marL="0">
              <a:spcAft>
                <a:spcPts val="200"/>
              </a:spcAft>
              <a:buNone/>
            </a:pPr>
            <a:r>
              <a:rPr lang="en-US" sz="1300" dirty="0">
                <a:solidFill>
                  <a:srgbClr val="141414"/>
                </a:solidFill>
              </a:rPr>
              <a:t>Dehqonchilik, chorvachilik, o‘rmon va baliq xo‘jaligi.</a:t>
            </a:r>
            <a:endParaRPr lang="en-US" sz="1500" dirty="0"/>
          </a:p>
        </p:txBody>
      </p:sp>
      <p:sp>
        <p:nvSpPr>
          <p:cNvPr id="16" name="tarif-chiziq"/>
          <p:cNvSpPr/>
          <p:nvPr/>
        </p:nvSpPr>
        <p:spPr>
          <a:xfrm>
            <a:off x="4091940" y="2596896"/>
            <a:ext cx="64008" cy="868680"/>
          </a:xfrm>
          <a:prstGeom prst="rect">
            <a:avLst/>
          </a:prstGeom>
          <a:solidFill>
            <a:srgbClr val="9C36B5"/>
          </a:solidFill>
          <a:ln/>
        </p:spPr>
      </p:sp>
      <p:sp>
        <p:nvSpPr>
          <p:cNvPr id="17" name="tarif"/>
          <p:cNvSpPr txBox="1"/>
          <p:nvPr/>
        </p:nvSpPr>
        <p:spPr>
          <a:xfrm>
            <a:off x="4274820" y="2596896"/>
            <a:ext cx="3108960" cy="868680"/>
          </a:xfrm>
          <a:prstGeom prst="rect">
            <a:avLst/>
          </a:prstGeom>
          <a:noFill/>
          <a:ln/>
        </p:spPr>
        <p:txBody>
          <a:bodyPr wrap="square" lIns="0" tIns="0" rIns="0" bIns="0" rtlCol="0" anchor="t"/>
          <a:lstStyle/>
          <a:p>
            <a:pPr indent="0" marL="0">
              <a:spcAft>
                <a:spcPts val="200"/>
              </a:spcAft>
              <a:buNone/>
            </a:pPr>
            <a:r>
              <a:rPr lang="en-US" sz="1500" b="1" dirty="0">
                <a:solidFill>
                  <a:srgbClr val="9C36B5"/>
                </a:solidFill>
                <a:latin typeface="+mj-lt" pitchFamily="34" charset="0"/>
                <a:ea typeface="+mj-lt" pitchFamily="34" charset="-122"/>
                <a:cs typeface="+mj-lt" pitchFamily="34" charset="-120"/>
              </a:rPr>
              <a:t>Qurilish</a:t>
            </a:r>
            <a:endParaRPr lang="en-US" sz="1500" dirty="0"/>
          </a:p>
          <a:p>
            <a:pPr indent="0" marL="0">
              <a:spcAft>
                <a:spcPts val="200"/>
              </a:spcAft>
              <a:buNone/>
            </a:pPr>
            <a:r>
              <a:rPr lang="en-US" sz="1300" dirty="0">
                <a:solidFill>
                  <a:srgbClr val="141414"/>
                </a:solidFill>
              </a:rPr>
              <a:t>Uy-joy, yo‘l, zavod va boshqa inshootlarni barpo etish.</a:t>
            </a:r>
            <a:endParaRPr lang="en-US" sz="1500" dirty="0"/>
          </a:p>
        </p:txBody>
      </p:sp>
      <p:sp>
        <p:nvSpPr>
          <p:cNvPr id="18" name="qadam"/>
          <p:cNvSpPr/>
          <p:nvPr/>
        </p:nvSpPr>
        <p:spPr>
          <a:xfrm>
            <a:off x="571500" y="3712464"/>
            <a:ext cx="2011680" cy="868680"/>
          </a:xfrm>
          <a:prstGeom prst="roundRect">
            <a:avLst>
              <a:gd name="adj" fmla="val 7368"/>
            </a:avLst>
          </a:prstGeom>
          <a:solidFill>
            <a:srgbClr val="EEEAE0"/>
          </a:solidFill>
          <a:ln/>
        </p:spPr>
      </p:sp>
      <p:sp>
        <p:nvSpPr>
          <p:cNvPr id="19" name="qadam-matn"/>
          <p:cNvSpPr txBox="1"/>
          <p:nvPr/>
        </p:nvSpPr>
        <p:spPr>
          <a:xfrm>
            <a:off x="699516" y="3712464"/>
            <a:ext cx="1783080" cy="868680"/>
          </a:xfrm>
          <a:prstGeom prst="rect">
            <a:avLst/>
          </a:prstGeom>
          <a:noFill/>
          <a:ln/>
        </p:spPr>
        <p:txBody>
          <a:bodyPr wrap="square" lIns="0" tIns="0" rIns="0" bIns="0" rtlCol="0" anchor="ctr"/>
          <a:lstStyle/>
          <a:p>
            <a:pPr indent="0" marL="0">
              <a:buNone/>
            </a:pPr>
            <a:r>
              <a:rPr lang="en-US" sz="1400" b="1" dirty="0">
                <a:solidFill>
                  <a:srgbClr val="141414"/>
                </a:solidFill>
                <a:latin typeface="+mj-lt" pitchFamily="34" charset="0"/>
                <a:ea typeface="+mj-lt" pitchFamily="34" charset="-122"/>
                <a:cs typeface="+mj-lt" pitchFamily="34" charset="-120"/>
              </a:rPr>
              <a:t>1. Ma’lumot</a:t>
            </a:r>
            <a:endParaRPr lang="en-US" sz="1400" dirty="0"/>
          </a:p>
          <a:p>
            <a:pPr indent="0" marL="0">
              <a:buNone/>
            </a:pPr>
            <a:r>
              <a:rPr lang="en-US" sz="1200" dirty="0">
                <a:solidFill>
                  <a:srgbClr val="141414"/>
                </a:solidFill>
              </a:rPr>
              <a:t>BEA rasmiy statistikasi, 2000–2025</a:t>
            </a:r>
            <a:endParaRPr lang="en-US" sz="1400" dirty="0"/>
          </a:p>
        </p:txBody>
      </p:sp>
      <p:sp>
        <p:nvSpPr>
          <p:cNvPr id="20" name="strelka"/>
          <p:cNvSpPr txBox="1"/>
          <p:nvPr/>
        </p:nvSpPr>
        <p:spPr>
          <a:xfrm>
            <a:off x="2583180" y="3712464"/>
            <a:ext cx="384048" cy="868680"/>
          </a:xfrm>
          <a:prstGeom prst="rect">
            <a:avLst/>
          </a:prstGeom>
          <a:noFill/>
          <a:ln/>
        </p:spPr>
        <p:txBody>
          <a:bodyPr wrap="square" lIns="0" tIns="0" rIns="0" bIns="0" rtlCol="0" anchor="ctr"/>
          <a:lstStyle/>
          <a:p>
            <a:pPr algn="ctr" indent="0" marL="0">
              <a:buNone/>
            </a:pPr>
            <a:r>
              <a:rPr lang="en-US" sz="1800" dirty="0">
                <a:solidFill>
                  <a:srgbClr val="141414"/>
                </a:solidFill>
                <a:latin typeface="+mj-lt" pitchFamily="34" charset="0"/>
                <a:ea typeface="+mj-lt" pitchFamily="34" charset="-122"/>
                <a:cs typeface="+mj-lt" pitchFamily="34" charset="-120"/>
              </a:rPr>
              <a:t>→</a:t>
            </a:r>
            <a:endParaRPr lang="en-US" sz="1800" dirty="0"/>
          </a:p>
        </p:txBody>
      </p:sp>
      <p:sp>
        <p:nvSpPr>
          <p:cNvPr id="21" name="qadam"/>
          <p:cNvSpPr/>
          <p:nvPr/>
        </p:nvSpPr>
        <p:spPr>
          <a:xfrm>
            <a:off x="2967228" y="3712464"/>
            <a:ext cx="2011680" cy="868680"/>
          </a:xfrm>
          <a:prstGeom prst="roundRect">
            <a:avLst>
              <a:gd name="adj" fmla="val 7368"/>
            </a:avLst>
          </a:prstGeom>
          <a:solidFill>
            <a:srgbClr val="EEEAE0"/>
          </a:solidFill>
          <a:ln/>
        </p:spPr>
      </p:sp>
      <p:sp>
        <p:nvSpPr>
          <p:cNvPr id="22" name="qadam-matn"/>
          <p:cNvSpPr txBox="1"/>
          <p:nvPr/>
        </p:nvSpPr>
        <p:spPr>
          <a:xfrm>
            <a:off x="3095244" y="3712464"/>
            <a:ext cx="1783080" cy="868680"/>
          </a:xfrm>
          <a:prstGeom prst="rect">
            <a:avLst/>
          </a:prstGeom>
          <a:noFill/>
          <a:ln/>
        </p:spPr>
        <p:txBody>
          <a:bodyPr wrap="square" lIns="0" tIns="0" rIns="0" bIns="0" rtlCol="0" anchor="ctr"/>
          <a:lstStyle/>
          <a:p>
            <a:pPr indent="0" marL="0">
              <a:buNone/>
            </a:pPr>
            <a:r>
              <a:rPr lang="en-US" sz="1400" b="1" dirty="0">
                <a:solidFill>
                  <a:srgbClr val="141414"/>
                </a:solidFill>
                <a:latin typeface="+mj-lt" pitchFamily="34" charset="0"/>
                <a:ea typeface="+mj-lt" pitchFamily="34" charset="-122"/>
                <a:cs typeface="+mj-lt" pitchFamily="34" charset="-120"/>
              </a:rPr>
              <a:t>2. Real o‘sish</a:t>
            </a:r>
            <a:endParaRPr lang="en-US" sz="1400" dirty="0"/>
          </a:p>
          <a:p>
            <a:pPr indent="0" marL="0">
              <a:buNone/>
            </a:pPr>
            <a:r>
              <a:rPr lang="en-US" sz="1200" dirty="0">
                <a:solidFill>
                  <a:srgbClr val="141414"/>
                </a:solidFill>
              </a:rPr>
              <a:t>narxlar o‘sishini olib tashlaymiz</a:t>
            </a:r>
            <a:endParaRPr lang="en-US" sz="1400" dirty="0"/>
          </a:p>
        </p:txBody>
      </p:sp>
      <p:sp>
        <p:nvSpPr>
          <p:cNvPr id="23" name="strelka"/>
          <p:cNvSpPr txBox="1"/>
          <p:nvPr/>
        </p:nvSpPr>
        <p:spPr>
          <a:xfrm>
            <a:off x="4978908" y="3712464"/>
            <a:ext cx="384048" cy="868680"/>
          </a:xfrm>
          <a:prstGeom prst="rect">
            <a:avLst/>
          </a:prstGeom>
          <a:noFill/>
          <a:ln/>
        </p:spPr>
        <p:txBody>
          <a:bodyPr wrap="square" lIns="0" tIns="0" rIns="0" bIns="0" rtlCol="0" anchor="ctr"/>
          <a:lstStyle/>
          <a:p>
            <a:pPr algn="ctr" indent="0" marL="0">
              <a:buNone/>
            </a:pPr>
            <a:r>
              <a:rPr lang="en-US" sz="1800" dirty="0">
                <a:solidFill>
                  <a:srgbClr val="141414"/>
                </a:solidFill>
                <a:latin typeface="+mj-lt" pitchFamily="34" charset="0"/>
                <a:ea typeface="+mj-lt" pitchFamily="34" charset="-122"/>
                <a:cs typeface="+mj-lt" pitchFamily="34" charset="-120"/>
              </a:rPr>
              <a:t>→</a:t>
            </a:r>
            <a:endParaRPr lang="en-US" sz="1800" dirty="0"/>
          </a:p>
        </p:txBody>
      </p:sp>
      <p:sp>
        <p:nvSpPr>
          <p:cNvPr id="24" name="qadam"/>
          <p:cNvSpPr/>
          <p:nvPr/>
        </p:nvSpPr>
        <p:spPr>
          <a:xfrm>
            <a:off x="5362956" y="3712464"/>
            <a:ext cx="2011680" cy="868680"/>
          </a:xfrm>
          <a:prstGeom prst="roundRect">
            <a:avLst>
              <a:gd name="adj" fmla="val 7368"/>
            </a:avLst>
          </a:prstGeom>
          <a:solidFill>
            <a:srgbClr val="EEEAE0"/>
          </a:solidFill>
          <a:ln/>
        </p:spPr>
      </p:sp>
      <p:sp>
        <p:nvSpPr>
          <p:cNvPr id="25" name="qadam-matn"/>
          <p:cNvSpPr txBox="1"/>
          <p:nvPr/>
        </p:nvSpPr>
        <p:spPr>
          <a:xfrm>
            <a:off x="5490972" y="3712464"/>
            <a:ext cx="1783080" cy="868680"/>
          </a:xfrm>
          <a:prstGeom prst="rect">
            <a:avLst/>
          </a:prstGeom>
          <a:noFill/>
          <a:ln/>
        </p:spPr>
        <p:txBody>
          <a:bodyPr wrap="square" lIns="0" tIns="0" rIns="0" bIns="0" rtlCol="0" anchor="ctr"/>
          <a:lstStyle/>
          <a:p>
            <a:pPr indent="0" marL="0">
              <a:buNone/>
            </a:pPr>
            <a:r>
              <a:rPr lang="en-US" sz="1400" b="1" dirty="0">
                <a:solidFill>
                  <a:srgbClr val="141414"/>
                </a:solidFill>
                <a:latin typeface="+mj-lt" pitchFamily="34" charset="0"/>
                <a:ea typeface="+mj-lt" pitchFamily="34" charset="-122"/>
                <a:cs typeface="+mj-lt" pitchFamily="34" charset="-120"/>
              </a:rPr>
              <a:t>3. Taqqoslash</a:t>
            </a:r>
            <a:endParaRPr lang="en-US" sz="1400" dirty="0"/>
          </a:p>
          <a:p>
            <a:pPr indent="0" marL="0">
              <a:buNone/>
            </a:pPr>
            <a:r>
              <a:rPr lang="en-US" sz="1200" dirty="0">
                <a:solidFill>
                  <a:srgbClr val="141414"/>
                </a:solidFill>
              </a:rPr>
              <a:t>o‘sish, ulush va bandlik bo‘yicha</a:t>
            </a:r>
            <a:endParaRPr lang="en-US" sz="1400" dirty="0"/>
          </a:p>
        </p:txBody>
      </p:sp>
      <p:sp>
        <p:nvSpPr>
          <p:cNvPr id="26" name="atama"/>
          <p:cNvSpPr txBox="1"/>
          <p:nvPr/>
        </p:nvSpPr>
        <p:spPr>
          <a:xfrm>
            <a:off x="571500" y="4800600"/>
            <a:ext cx="3291840" cy="457200"/>
          </a:xfrm>
          <a:prstGeom prst="rect">
            <a:avLst/>
          </a:prstGeom>
          <a:noFill/>
          <a:ln/>
        </p:spPr>
        <p:txBody>
          <a:bodyPr wrap="square" lIns="0" tIns="0" rIns="0" bIns="0" rtlCol="0" anchor="t"/>
          <a:lstStyle/>
          <a:p>
            <a:pPr indent="0" marL="0">
              <a:buNone/>
            </a:pPr>
            <a:r>
              <a:rPr lang="en-US" sz="1200" b="1" dirty="0">
                <a:solidFill>
                  <a:srgbClr val="141414"/>
                </a:solidFill>
                <a:latin typeface="+mj-lt" pitchFamily="34" charset="0"/>
                <a:ea typeface="+mj-lt" pitchFamily="34" charset="-122"/>
                <a:cs typeface="+mj-lt" pitchFamily="34" charset="-120"/>
              </a:rPr>
              <a:t>Nominal</a:t>
            </a:r>
            <a:pPr indent="0" marL="0">
              <a:buNone/>
            </a:pPr>
            <a:r>
              <a:rPr lang="en-US" sz="1200" dirty="0">
                <a:solidFill>
                  <a:srgbClr val="141414"/>
                </a:solidFill>
              </a:rPr>
              <a:t> — joriy narxdagi pul hajmi.</a:t>
            </a:r>
            <a:endParaRPr lang="en-US" sz="1200" dirty="0"/>
          </a:p>
        </p:txBody>
      </p:sp>
      <p:sp>
        <p:nvSpPr>
          <p:cNvPr id="27" name="atama"/>
          <p:cNvSpPr txBox="1"/>
          <p:nvPr/>
        </p:nvSpPr>
        <p:spPr>
          <a:xfrm>
            <a:off x="4091940" y="4800600"/>
            <a:ext cx="3291840" cy="457200"/>
          </a:xfrm>
          <a:prstGeom prst="rect">
            <a:avLst/>
          </a:prstGeom>
          <a:noFill/>
          <a:ln/>
        </p:spPr>
        <p:txBody>
          <a:bodyPr wrap="square" lIns="0" tIns="0" rIns="0" bIns="0" rtlCol="0" anchor="t"/>
          <a:lstStyle/>
          <a:p>
            <a:pPr indent="0" marL="0">
              <a:buNone/>
            </a:pPr>
            <a:r>
              <a:rPr lang="en-US" sz="1200" b="1" dirty="0">
                <a:solidFill>
                  <a:srgbClr val="141414"/>
                </a:solidFill>
                <a:latin typeface="+mj-lt" pitchFamily="34" charset="0"/>
                <a:ea typeface="+mj-lt" pitchFamily="34" charset="-122"/>
                <a:cs typeface="+mj-lt" pitchFamily="34" charset="-120"/>
              </a:rPr>
              <a:t>Real o‘sish</a:t>
            </a:r>
            <a:pPr indent="0" marL="0">
              <a:buNone/>
            </a:pPr>
            <a:r>
              <a:rPr lang="en-US" sz="1200" dirty="0">
                <a:solidFill>
                  <a:srgbClr val="141414"/>
                </a:solidFill>
              </a:rPr>
              <a:t> — narxlar o‘sishini olib tashlagandagi haqiqiy hajm.</a:t>
            </a:r>
            <a:endParaRPr lang="en-US" sz="1200" dirty="0"/>
          </a:p>
        </p:txBody>
      </p:sp>
      <p:sp>
        <p:nvSpPr>
          <p:cNvPr id="28" name="atama"/>
          <p:cNvSpPr txBox="1"/>
          <p:nvPr/>
        </p:nvSpPr>
        <p:spPr>
          <a:xfrm>
            <a:off x="571500" y="5303520"/>
            <a:ext cx="3291840" cy="457200"/>
          </a:xfrm>
          <a:prstGeom prst="rect">
            <a:avLst/>
          </a:prstGeom>
          <a:noFill/>
          <a:ln/>
        </p:spPr>
        <p:txBody>
          <a:bodyPr wrap="square" lIns="0" tIns="0" rIns="0" bIns="0" rtlCol="0" anchor="t"/>
          <a:lstStyle/>
          <a:p>
            <a:pPr indent="0" marL="0">
              <a:buNone/>
            </a:pPr>
            <a:r>
              <a:rPr lang="en-US" sz="1200" b="1" dirty="0">
                <a:solidFill>
                  <a:srgbClr val="141414"/>
                </a:solidFill>
                <a:latin typeface="+mj-lt" pitchFamily="34" charset="0"/>
                <a:ea typeface="+mj-lt" pitchFamily="34" charset="-122"/>
                <a:cs typeface="+mj-lt" pitchFamily="34" charset="-120"/>
              </a:rPr>
              <a:t>Ulush</a:t>
            </a:r>
            <a:pPr indent="0" marL="0">
              <a:buNone/>
            </a:pPr>
            <a:r>
              <a:rPr lang="en-US" sz="1200" dirty="0">
                <a:solidFill>
                  <a:srgbClr val="141414"/>
                </a:solidFill>
              </a:rPr>
              <a:t> — tarmoq YaIMning qancha qismini beradi.</a:t>
            </a:r>
            <a:endParaRPr lang="en-US" sz="1200" dirty="0"/>
          </a:p>
        </p:txBody>
      </p:sp>
      <p:sp>
        <p:nvSpPr>
          <p:cNvPr id="29" name="atama"/>
          <p:cNvSpPr txBox="1"/>
          <p:nvPr/>
        </p:nvSpPr>
        <p:spPr>
          <a:xfrm>
            <a:off x="4091940" y="5303520"/>
            <a:ext cx="3291840" cy="457200"/>
          </a:xfrm>
          <a:prstGeom prst="rect">
            <a:avLst/>
          </a:prstGeom>
          <a:noFill/>
          <a:ln/>
        </p:spPr>
        <p:txBody>
          <a:bodyPr wrap="square" lIns="0" tIns="0" rIns="0" bIns="0" rtlCol="0" anchor="t"/>
          <a:lstStyle/>
          <a:p>
            <a:pPr indent="0" marL="0">
              <a:buNone/>
            </a:pPr>
            <a:r>
              <a:rPr lang="en-US" sz="1200" b="1" dirty="0">
                <a:solidFill>
                  <a:srgbClr val="141414"/>
                </a:solidFill>
                <a:latin typeface="+mj-lt" pitchFamily="34" charset="0"/>
                <a:ea typeface="+mj-lt" pitchFamily="34" charset="-122"/>
                <a:cs typeface="+mj-lt" pitchFamily="34" charset="-120"/>
              </a:rPr>
              <a:t>CAGR</a:t>
            </a:r>
            <a:pPr indent="0" marL="0">
              <a:buNone/>
            </a:pPr>
            <a:r>
              <a:rPr lang="en-US" sz="1200" dirty="0">
                <a:solidFill>
                  <a:srgbClr val="141414"/>
                </a:solidFill>
              </a:rPr>
              <a:t> — o‘rtacha yillik o‘sish sur’ati.</a:t>
            </a:r>
            <a:endParaRPr lang="en-US" sz="1200" dirty="0"/>
          </a:p>
        </p:txBody>
      </p:sp>
      <p:sp>
        <p:nvSpPr>
          <p:cNvPr id="30" name="nega-belgi"/>
          <p:cNvSpPr/>
          <p:nvPr/>
        </p:nvSpPr>
        <p:spPr>
          <a:xfrm>
            <a:off x="7872984" y="1581912"/>
            <a:ext cx="274320" cy="274320"/>
          </a:xfrm>
          <a:prstGeom prst="diamond">
            <a:avLst/>
          </a:prstGeom>
          <a:solidFill>
            <a:srgbClr val="F5C400"/>
          </a:solidFill>
          <a:ln w="19050">
            <a:solidFill>
              <a:srgbClr val="141414"/>
            </a:solidFill>
            <a:prstDash val="solid"/>
          </a:ln>
        </p:spPr>
      </p:sp>
      <p:sp>
        <p:nvSpPr>
          <p:cNvPr id="31" name="nega-belgi-matn"/>
          <p:cNvSpPr txBox="1"/>
          <p:nvPr/>
        </p:nvSpPr>
        <p:spPr>
          <a:xfrm>
            <a:off x="7872984" y="1581912"/>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32" name="nega-sarlavha"/>
          <p:cNvSpPr txBox="1"/>
          <p:nvPr/>
        </p:nvSpPr>
        <p:spPr>
          <a:xfrm>
            <a:off x="8238744" y="1572768"/>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33" name="nega-matn"/>
          <p:cNvSpPr txBox="1"/>
          <p:nvPr/>
        </p:nvSpPr>
        <p:spPr>
          <a:xfrm>
            <a:off x="7872984" y="1956816"/>
            <a:ext cx="3730752" cy="173736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YaIM — bitta raqam, u ichidagi o‘zgarishlarni yashiradi. Tarmoqlarga bo‘lsak, qaysi soha tez o‘sgani, qaysi biri ish o‘rni yo‘qotgani va nega shunday bo‘lgani ko‘rinadi.</a:t>
            </a:r>
            <a:endParaRPr lang="en-US" sz="1400" dirty="0"/>
          </a:p>
        </p:txBody>
      </p:sp>
      <p:sp>
        <p:nvSpPr>
          <p:cNvPr id="34" name="anglatadi-chiziq"/>
          <p:cNvSpPr/>
          <p:nvPr/>
        </p:nvSpPr>
        <p:spPr>
          <a:xfrm>
            <a:off x="7872984" y="3931920"/>
            <a:ext cx="64008" cy="960120"/>
          </a:xfrm>
          <a:prstGeom prst="rect">
            <a:avLst/>
          </a:prstGeom>
          <a:solidFill>
            <a:srgbClr val="141414"/>
          </a:solidFill>
          <a:ln/>
        </p:spPr>
      </p:sp>
      <p:sp>
        <p:nvSpPr>
          <p:cNvPr id="35" name="anglatadi-sarlavha"/>
          <p:cNvSpPr txBox="1"/>
          <p:nvPr/>
        </p:nvSpPr>
        <p:spPr>
          <a:xfrm>
            <a:off x="8074152" y="395020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36" name="anglatadi-matn"/>
          <p:cNvSpPr txBox="1"/>
          <p:nvPr/>
        </p:nvSpPr>
        <p:spPr>
          <a:xfrm>
            <a:off x="8074152" y="4206240"/>
            <a:ext cx="3529584" cy="66751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Pul hisobidagi o‘sishni har doim real o‘sish bilan tekshiramiz.</a:t>
            </a:r>
            <a:endParaRPr lang="en-US" sz="1700" dirty="0"/>
          </a:p>
        </p:txBody>
      </p:sp>
      <p:sp>
        <p:nvSpPr>
          <p:cNvPr id="37" name="speaker-dot"/>
          <p:cNvSpPr/>
          <p:nvPr/>
        </p:nvSpPr>
        <p:spPr>
          <a:xfrm>
            <a:off x="571500" y="6336792"/>
            <a:ext cx="77724" cy="77724"/>
          </a:xfrm>
          <a:prstGeom prst="ellipse">
            <a:avLst/>
          </a:prstGeom>
          <a:solidFill>
            <a:srgbClr val="55524B"/>
          </a:solidFill>
          <a:ln/>
        </p:spPr>
      </p:sp>
      <p:sp>
        <p:nvSpPr>
          <p:cNvPr id="38"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O‘rolov Shahzod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childTnLst>
                          </p:cTn>
                        </p:par>
                      </p:childTnLst>
                    </p:cTn>
                  </p:par>
                  <p:par>
                    <p:cTn id="65" fill="hold">
                      <p:stCondLst>
                        <p:cond delay="indefinite"/>
                      </p:stCondLst>
                      <p:childTnLst>
                        <p:par>
                          <p:cTn id="66"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childTnLst>
                          </p:cTn>
                        </p:par>
                      </p:childTnLst>
                    </p:cTn>
                  </p:par>
                  <p:par>
                    <p:cTn id="79" fill="hold">
                      <p:stCondLst>
                        <p:cond delay="indefinite"/>
                      </p:stCondLst>
                      <p:childTnLst>
                        <p:par>
                          <p:cTn id="80"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400"/>
                                        <p:tgtEl>
                                          <p:spTgt spid="3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00"/>
                                        <p:tgtEl>
                                          <p:spTgt spid="3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00"/>
                                        <p:tgtEl>
                                          <p:spTgt spid="3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400"/>
                                        <p:tgtEl>
                                          <p:spTgt spid="33"/>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400"/>
                                        <p:tgtEl>
                                          <p:spTgt spid="3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00"/>
                                        <p:tgtEl>
                                          <p:spTgt spid="3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rogress"/>
          <p:cNvSpPr/>
          <p:nvPr/>
        </p:nvSpPr>
        <p:spPr>
          <a:xfrm>
            <a:off x="0" y="6743700"/>
            <a:ext cx="1161114"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AQSh xizmatlar iqtisodiyotiga aylandi: ularning ulushi 76,6% dan 82,4% ga yetdi</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3</a:t>
            </a:r>
            <a:endParaRPr lang="en-US" sz="1100" dirty="0"/>
          </a:p>
        </p:txBody>
      </p:sp>
      <p:sp>
        <p:nvSpPr>
          <p:cNvPr id="6" name="sign-outer"/>
          <p:cNvSpPr/>
          <p:nvPr/>
        </p:nvSpPr>
        <p:spPr>
          <a:xfrm>
            <a:off x="9473184" y="566928"/>
            <a:ext cx="2185416" cy="603504"/>
          </a:xfrm>
          <a:prstGeom prst="roundRect">
            <a:avLst>
              <a:gd name="adj" fmla="val 15152"/>
            </a:avLst>
          </a:prstGeom>
          <a:solidFill>
            <a:srgbClr val="00653A"/>
          </a:solidFill>
          <a:ln/>
        </p:spPr>
      </p:sp>
      <p:sp>
        <p:nvSpPr>
          <p:cNvPr id="7" name="sign-panel"/>
          <p:cNvSpPr/>
          <p:nvPr/>
        </p:nvSpPr>
        <p:spPr>
          <a:xfrm>
            <a:off x="9509760" y="603504"/>
            <a:ext cx="2112264"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509760" y="603504"/>
            <a:ext cx="2112264"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Katta manzara</a:t>
            </a:r>
            <a:endParaRPr lang="en-US" sz="1700" dirty="0"/>
          </a:p>
        </p:txBody>
      </p:sp>
      <p:sp>
        <p:nvSpPr>
          <p:cNvPr id="9" name="sign-lane"/>
          <p:cNvSpPr/>
          <p:nvPr/>
        </p:nvSpPr>
        <p:spPr>
          <a:xfrm>
            <a:off x="9619488" y="1225296"/>
            <a:ext cx="1892808" cy="50292"/>
          </a:xfrm>
          <a:prstGeom prst="rect">
            <a:avLst/>
          </a:prstGeom>
          <a:solidFill>
            <a:srgbClr val="9A9A9A"/>
          </a:solidFill>
          <a:ln/>
        </p:spPr>
      </p:sp>
      <p:sp>
        <p:nvSpPr>
          <p:cNvPr id="10" name="yil"/>
          <p:cNvSpPr txBox="1"/>
          <p:nvPr/>
        </p:nvSpPr>
        <p:spPr>
          <a:xfrm>
            <a:off x="571500" y="1627632"/>
            <a:ext cx="640080" cy="694944"/>
          </a:xfrm>
          <a:prstGeom prst="rect">
            <a:avLst/>
          </a:prstGeom>
          <a:noFill/>
          <a:ln/>
        </p:spPr>
        <p:txBody>
          <a:bodyPr wrap="square" lIns="0" tIns="0" rIns="0" bIns="0" rtlCol="0" anchor="ctr"/>
          <a:lstStyle/>
          <a:p>
            <a:pPr indent="0" marL="0">
              <a:buNone/>
            </a:pPr>
            <a:r>
              <a:rPr lang="en-US" sz="1800" b="1" dirty="0">
                <a:solidFill>
                  <a:srgbClr val="141414"/>
                </a:solidFill>
                <a:latin typeface="+mj-lt" pitchFamily="34" charset="0"/>
                <a:ea typeface="+mj-lt" pitchFamily="34" charset="-122"/>
                <a:cs typeface="+mj-lt" pitchFamily="34" charset="-120"/>
              </a:rPr>
              <a:t>2000</a:t>
            </a:r>
            <a:endParaRPr lang="en-US" sz="1800" dirty="0"/>
          </a:p>
        </p:txBody>
      </p:sp>
      <p:graphicFrame>
        <p:nvGraphicFramePr>
          <p:cNvPr id="11" name="ulush-2000" descr=""/>
          <p:cNvGraphicFramePr/>
          <p:nvPr/>
        </p:nvGraphicFramePr>
        <p:xfrm>
          <a:off x="1211580" y="1627632"/>
          <a:ext cx="6217920" cy="694944"/>
        </p:xfrm>
        <a:graphic xmlns:a="http://schemas.openxmlformats.org/drawingml/2006/main">
          <a:graphicData uri="http://schemas.openxmlformats.org/drawingml/2006/chart">
            <c:chart xmlns:c="http://schemas.openxmlformats.org/drawingml/2006/chart" r:id="rId1"/>
          </a:graphicData>
        </a:graphic>
      </p:graphicFrame>
      <p:sp>
        <p:nvSpPr>
          <p:cNvPr id="12" name="yorliq"/>
          <p:cNvSpPr txBox="1"/>
          <p:nvPr/>
        </p:nvSpPr>
        <p:spPr>
          <a:xfrm>
            <a:off x="1321308" y="1856232"/>
            <a:ext cx="1097280" cy="237744"/>
          </a:xfrm>
          <a:prstGeom prst="rect">
            <a:avLst/>
          </a:prstGeom>
          <a:noFill/>
          <a:ln/>
        </p:spPr>
        <p:txBody>
          <a:bodyPr wrap="square" lIns="0" tIns="0" rIns="0" bIns="0" rtlCol="0" anchor="ctr"/>
          <a:lstStyle/>
          <a:p>
            <a:pPr algn="l" indent="0" marL="0">
              <a:buNone/>
            </a:pPr>
            <a:r>
              <a:rPr lang="en-US" sz="1400" b="1" dirty="0">
                <a:solidFill>
                  <a:srgbClr val="141414"/>
                </a:solidFill>
                <a:latin typeface="+mj-lt" pitchFamily="34" charset="0"/>
                <a:ea typeface="+mj-lt" pitchFamily="34" charset="-122"/>
                <a:cs typeface="+mj-lt" pitchFamily="34" charset="-120"/>
              </a:rPr>
              <a:t>76,6%</a:t>
            </a:r>
            <a:endParaRPr lang="en-US" sz="1400" dirty="0"/>
          </a:p>
        </p:txBody>
      </p:sp>
      <p:sp>
        <p:nvSpPr>
          <p:cNvPr id="13" name="yorliq"/>
          <p:cNvSpPr txBox="1"/>
          <p:nvPr/>
        </p:nvSpPr>
        <p:spPr>
          <a:xfrm>
            <a:off x="6064703" y="1856232"/>
            <a:ext cx="1005840" cy="237744"/>
          </a:xfrm>
          <a:prstGeom prst="rect">
            <a:avLst/>
          </a:prstGeom>
          <a:noFill/>
          <a:ln/>
        </p:spPr>
        <p:txBody>
          <a:bodyPr wrap="square" lIns="0" tIns="0" rIns="0" bIns="0" rtlCol="0" anchor="ctr"/>
          <a:lstStyle/>
          <a:p>
            <a:pPr algn="l" indent="0" marL="0">
              <a:buNone/>
            </a:pPr>
            <a:r>
              <a:rPr lang="en-US" sz="1400" b="1" dirty="0">
                <a:solidFill>
                  <a:srgbClr val="FFFFFF"/>
                </a:solidFill>
                <a:latin typeface="+mj-lt" pitchFamily="34" charset="0"/>
                <a:ea typeface="+mj-lt" pitchFamily="34" charset="-122"/>
                <a:cs typeface="+mj-lt" pitchFamily="34" charset="-120"/>
              </a:rPr>
              <a:t>17,9%</a:t>
            </a:r>
            <a:endParaRPr lang="en-US" sz="1400" dirty="0"/>
          </a:p>
        </p:txBody>
      </p:sp>
      <p:sp>
        <p:nvSpPr>
          <p:cNvPr id="14" name="yil"/>
          <p:cNvSpPr txBox="1"/>
          <p:nvPr/>
        </p:nvSpPr>
        <p:spPr>
          <a:xfrm>
            <a:off x="571500" y="2523744"/>
            <a:ext cx="640080" cy="694944"/>
          </a:xfrm>
          <a:prstGeom prst="rect">
            <a:avLst/>
          </a:prstGeom>
          <a:noFill/>
          <a:ln/>
        </p:spPr>
        <p:txBody>
          <a:bodyPr wrap="square" lIns="0" tIns="0" rIns="0" bIns="0" rtlCol="0" anchor="ctr"/>
          <a:lstStyle/>
          <a:p>
            <a:pPr indent="0" marL="0">
              <a:buNone/>
            </a:pPr>
            <a:r>
              <a:rPr lang="en-US" sz="1800" b="1" dirty="0">
                <a:solidFill>
                  <a:srgbClr val="141414"/>
                </a:solidFill>
                <a:latin typeface="+mj-lt" pitchFamily="34" charset="0"/>
                <a:ea typeface="+mj-lt" pitchFamily="34" charset="-122"/>
                <a:cs typeface="+mj-lt" pitchFamily="34" charset="-120"/>
              </a:rPr>
              <a:t>2025</a:t>
            </a:r>
            <a:endParaRPr lang="en-US" sz="1800" dirty="0"/>
          </a:p>
        </p:txBody>
      </p:sp>
      <p:graphicFrame>
        <p:nvGraphicFramePr>
          <p:cNvPr id="15" name="ulush-2025" descr=""/>
          <p:cNvGraphicFramePr/>
          <p:nvPr/>
        </p:nvGraphicFramePr>
        <p:xfrm>
          <a:off x="1211580" y="2523744"/>
          <a:ext cx="6217920" cy="694944"/>
        </p:xfrm>
        <a:graphic xmlns:a="http://schemas.openxmlformats.org/drawingml/2006/main">
          <a:graphicData uri="http://schemas.openxmlformats.org/drawingml/2006/chart">
            <c:chart xmlns:c="http://schemas.openxmlformats.org/drawingml/2006/chart" r:id="rId2"/>
          </a:graphicData>
        </a:graphic>
      </p:graphicFrame>
      <p:sp>
        <p:nvSpPr>
          <p:cNvPr id="16" name="yorliq"/>
          <p:cNvSpPr txBox="1"/>
          <p:nvPr/>
        </p:nvSpPr>
        <p:spPr>
          <a:xfrm>
            <a:off x="1321308" y="2752344"/>
            <a:ext cx="1097280" cy="237744"/>
          </a:xfrm>
          <a:prstGeom prst="rect">
            <a:avLst/>
          </a:prstGeom>
          <a:noFill/>
          <a:ln/>
        </p:spPr>
        <p:txBody>
          <a:bodyPr wrap="square" lIns="0" tIns="0" rIns="0" bIns="0" rtlCol="0" anchor="ctr"/>
          <a:lstStyle/>
          <a:p>
            <a:pPr algn="l" indent="0" marL="0">
              <a:buNone/>
            </a:pPr>
            <a:r>
              <a:rPr lang="en-US" sz="1400" b="1" dirty="0">
                <a:solidFill>
                  <a:srgbClr val="141414"/>
                </a:solidFill>
                <a:latin typeface="+mj-lt" pitchFamily="34" charset="0"/>
                <a:ea typeface="+mj-lt" pitchFamily="34" charset="-122"/>
                <a:cs typeface="+mj-lt" pitchFamily="34" charset="-120"/>
              </a:rPr>
              <a:t>82,4%</a:t>
            </a:r>
            <a:endParaRPr lang="en-US" sz="1400" dirty="0"/>
          </a:p>
        </p:txBody>
      </p:sp>
      <p:sp>
        <p:nvSpPr>
          <p:cNvPr id="17" name="yorliq"/>
          <p:cNvSpPr txBox="1"/>
          <p:nvPr/>
        </p:nvSpPr>
        <p:spPr>
          <a:xfrm>
            <a:off x="6426586" y="2752344"/>
            <a:ext cx="1005840" cy="237744"/>
          </a:xfrm>
          <a:prstGeom prst="rect">
            <a:avLst/>
          </a:prstGeom>
          <a:noFill/>
          <a:ln/>
        </p:spPr>
        <p:txBody>
          <a:bodyPr wrap="square" lIns="0" tIns="0" rIns="0" bIns="0" rtlCol="0" anchor="ctr"/>
          <a:lstStyle/>
          <a:p>
            <a:pPr algn="l" indent="0" marL="0">
              <a:buNone/>
            </a:pPr>
            <a:r>
              <a:rPr lang="en-US" sz="1400" b="1" dirty="0">
                <a:solidFill>
                  <a:srgbClr val="FFFFFF"/>
                </a:solidFill>
                <a:latin typeface="+mj-lt" pitchFamily="34" charset="0"/>
                <a:ea typeface="+mj-lt" pitchFamily="34" charset="-122"/>
                <a:cs typeface="+mj-lt" pitchFamily="34" charset="-120"/>
              </a:rPr>
              <a:t>12,4%</a:t>
            </a:r>
            <a:endParaRPr lang="en-US" sz="1400" dirty="0"/>
          </a:p>
        </p:txBody>
      </p:sp>
      <p:graphicFrame>
        <p:nvGraphicFramePr>
          <p:cNvPr id="4" name="ulush-jadvali"/>
          <p:cNvGraphicFramePr>
            <a:graphicFrameLocks noGrp="1"/>
          </p:cNvGraphicFramePr>
          <p:nvPr>
            <p:extLst>
              <p:ext uri="{D42A27DB-BD31-4B8C-83A1-F6EECF244321}">
                <p14:modId xmlns:p14="http://schemas.microsoft.com/office/powerpoint/2010/main" val="1579011935"/>
              </p:ext>
            </p:extLst>
          </p:nvPr>
        </p:nvGraphicFramePr>
        <p:xfrm>
          <a:off x="571500" y="3566160"/>
          <a:ext cx="6858000" cy="914400"/>
        </p:xfrm>
        <a:graphic>
          <a:graphicData uri="http://schemas.openxmlformats.org/drawingml/2006/table">
            <a:tbl>
              <a:tblPr/>
              <a:tblGrid>
                <a:gridCol w="3017520"/>
                <a:gridCol w="1097280"/>
                <a:gridCol w="1097280"/>
                <a:gridCol w="1645920"/>
              </a:tblGrid>
              <a:tr h="292608">
                <a:tc>
                  <a:txBody>
                    <a:bodyPr/>
                    <a:lstStyle/>
                    <a:p>
                      <a:pPr algn="l" indent="0" marL="0">
                        <a:buNone/>
                      </a:pPr>
                      <a:r>
                        <a:rPr lang="en-US" sz="1200" b="1" dirty="0">
                          <a:solidFill>
                            <a:srgbClr val="141414"/>
                          </a:solidFill>
                          <a:latin typeface="+mj-lt" pitchFamily="34" charset="0"/>
                          <a:ea typeface="+mj-lt" pitchFamily="34" charset="-122"/>
                          <a:cs typeface="+mj-lt" pitchFamily="34" charset="-120"/>
                        </a:rPr>
                        <a:t>YaIMdagi ulush,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o‘zgarish, f.p.</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92608">
                <a:tc>
                  <a:txBody>
                    <a:bodyPr/>
                    <a:lstStyle/>
                    <a:p>
                      <a:pPr algn="l" indent="0" marL="0">
                        <a:buNone/>
                      </a:pPr>
                      <a:r>
                        <a:rPr lang="en-US" sz="1200" dirty="0">
                          <a:solidFill>
                            <a:srgbClr val="1C3F94"/>
                          </a:solidFill>
                          <a:latin typeface="+mj-lt" pitchFamily="34" charset="0"/>
                          <a:ea typeface="+mj-lt" pitchFamily="34" charset="-122"/>
                          <a:cs typeface="+mj-lt" pitchFamily="34" charset="-120"/>
                        </a:rPr>
                        <a:t>■ </a:t>
                      </a:r>
                      <a:pPr algn="l" indent="0" marL="0">
                        <a:buNone/>
                      </a:pPr>
                      <a:r>
                        <a:rPr lang="en-US" sz="1200" b="1" dirty="0">
                          <a:solidFill>
                            <a:srgbClr val="141414"/>
                          </a:solidFill>
                          <a:latin typeface="+mj-lt" pitchFamily="34" charset="0"/>
                          <a:ea typeface="+mj-lt" pitchFamily="34" charset="-122"/>
                          <a:cs typeface="+mj-lt" pitchFamily="34" charset="-120"/>
                        </a:rPr>
                        <a:t>Sanoat</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17,9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−5,5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92608">
                <a:tc>
                  <a:txBody>
                    <a:bodyPr/>
                    <a:lstStyle/>
                    <a:p>
                      <a:pPr algn="l" indent="0" marL="0">
                        <a:buNone/>
                      </a:pPr>
                      <a:r>
                        <a:rPr lang="en-US" sz="1200" dirty="0">
                          <a:solidFill>
                            <a:srgbClr val="F59F00"/>
                          </a:solidFill>
                          <a:latin typeface="+mj-lt" pitchFamily="34" charset="0"/>
                          <a:ea typeface="+mj-lt" pitchFamily="34" charset="-122"/>
                          <a:cs typeface="+mj-lt" pitchFamily="34" charset="-120"/>
                        </a:rPr>
                        <a:t>■ </a:t>
                      </a:r>
                      <a:pPr algn="l" indent="0" marL="0">
                        <a:buNone/>
                      </a:pPr>
                      <a:r>
                        <a:rPr lang="en-US" sz="1200" b="1" dirty="0">
                          <a:solidFill>
                            <a:srgbClr val="141414"/>
                          </a:solidFill>
                          <a:latin typeface="+mj-lt" pitchFamily="34" charset="0"/>
                          <a:ea typeface="+mj-lt" pitchFamily="34" charset="-122"/>
                          <a:cs typeface="+mj-lt" pitchFamily="34" charset="-120"/>
                        </a:rPr>
                        <a:t>Xizmatlar</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76,6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82,4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+5,8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92608">
                <a:tc>
                  <a:txBody>
                    <a:bodyPr/>
                    <a:lstStyle/>
                    <a:p>
                      <a:pPr algn="l" indent="0" marL="0">
                        <a:buNone/>
                      </a:pPr>
                      <a:r>
                        <a:rPr lang="en-US" sz="1200" dirty="0">
                          <a:solidFill>
                            <a:srgbClr val="2F9E44"/>
                          </a:solidFill>
                          <a:latin typeface="+mj-lt" pitchFamily="34" charset="0"/>
                          <a:ea typeface="+mj-lt" pitchFamily="34" charset="-122"/>
                          <a:cs typeface="+mj-lt" pitchFamily="34" charset="-120"/>
                        </a:rPr>
                        <a:t>■ </a:t>
                      </a:r>
                      <a:pPr algn="l" indent="0" marL="0">
                        <a:buNone/>
                      </a:pPr>
                      <a:r>
                        <a:rPr lang="en-US" sz="1200" b="1" dirty="0">
                          <a:solidFill>
                            <a:srgbClr val="141414"/>
                          </a:solidFill>
                          <a:latin typeface="+mj-lt" pitchFamily="34" charset="0"/>
                          <a:ea typeface="+mj-lt" pitchFamily="34" charset="-122"/>
                          <a:cs typeface="+mj-lt" pitchFamily="34" charset="-120"/>
                        </a:rPr>
                        <a:t>Qishloq xo‘jaligi</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0,96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0,83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−0,13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92608">
                <a:tc>
                  <a:txBody>
                    <a:bodyPr/>
                    <a:lstStyle/>
                    <a:p>
                      <a:pPr algn="l" indent="0" marL="0">
                        <a:buNone/>
                      </a:pPr>
                      <a:r>
                        <a:rPr lang="en-US" sz="1200" dirty="0">
                          <a:solidFill>
                            <a:srgbClr val="9C36B5"/>
                          </a:solidFill>
                          <a:latin typeface="+mj-lt" pitchFamily="34" charset="0"/>
                          <a:ea typeface="+mj-lt" pitchFamily="34" charset="-122"/>
                          <a:cs typeface="+mj-lt" pitchFamily="34" charset="-120"/>
                        </a:rPr>
                        <a:t>■ </a:t>
                      </a:r>
                      <a:pPr algn="l" indent="0" marL="0">
                        <a:buNone/>
                      </a:pPr>
                      <a:r>
                        <a:rPr lang="en-US" sz="1200" b="1" dirty="0">
                          <a:solidFill>
                            <a:srgbClr val="141414"/>
                          </a:solidFill>
                          <a:latin typeface="+mj-lt" pitchFamily="34" charset="0"/>
                          <a:ea typeface="+mj-lt" pitchFamily="34" charset="-122"/>
                          <a:cs typeface="+mj-lt" pitchFamily="34" charset="-120"/>
                        </a:rPr>
                        <a:t>Qurilish</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4,5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4,3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9" name="manba"/>
          <p:cNvSpPr txBox="1"/>
          <p:nvPr/>
        </p:nvSpPr>
        <p:spPr>
          <a:xfrm>
            <a:off x="571500" y="5138928"/>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a:t>
            </a:r>
            <a:endParaRPr lang="en-US" sz="1100" dirty="0"/>
          </a:p>
        </p:txBody>
      </p:sp>
      <p:sp>
        <p:nvSpPr>
          <p:cNvPr id="20" name="katta-raqam"/>
          <p:cNvSpPr txBox="1"/>
          <p:nvPr/>
        </p:nvSpPr>
        <p:spPr>
          <a:xfrm>
            <a:off x="7872984" y="1481328"/>
            <a:ext cx="3730752" cy="603504"/>
          </a:xfrm>
          <a:prstGeom prst="rect">
            <a:avLst/>
          </a:prstGeom>
          <a:noFill/>
          <a:ln/>
        </p:spPr>
        <p:txBody>
          <a:bodyPr wrap="square" lIns="0" tIns="0" rIns="0" bIns="0" rtlCol="0" anchor="b"/>
          <a:lstStyle/>
          <a:p>
            <a:pPr indent="0" marL="0">
              <a:buNone/>
            </a:pPr>
            <a:r>
              <a:rPr lang="en-US" sz="3600" b="1" dirty="0">
                <a:solidFill>
                  <a:srgbClr val="B86E00"/>
                </a:solidFill>
                <a:latin typeface="+mj-lt" pitchFamily="34" charset="0"/>
                <a:ea typeface="+mj-lt" pitchFamily="34" charset="-122"/>
                <a:cs typeface="+mj-lt" pitchFamily="34" charset="-120"/>
              </a:rPr>
              <a:t>76,6% → </a:t>
            </a:r>
            <a:pPr indent="0" marL="0">
              <a:buNone/>
            </a:pPr>
            <a:r>
              <a:rPr lang="en-US" sz="3600" b="1" dirty="0">
                <a:solidFill>
                  <a:srgbClr val="B86E00"/>
                </a:solidFill>
                <a:latin typeface="+mj-lt" pitchFamily="34" charset="0"/>
                <a:ea typeface="+mj-lt" pitchFamily="34" charset="-122"/>
                <a:cs typeface="+mj-lt" pitchFamily="34" charset="-120"/>
              </a:rPr>
              <a:t>82,4%</a:t>
            </a:r>
            <a:endParaRPr lang="en-US" sz="3600" dirty="0"/>
          </a:p>
        </p:txBody>
      </p:sp>
      <p:sp>
        <p:nvSpPr>
          <p:cNvPr id="21" name="katta-raqam-izoh"/>
          <p:cNvSpPr txBox="1"/>
          <p:nvPr/>
        </p:nvSpPr>
        <p:spPr>
          <a:xfrm>
            <a:off x="7872984" y="2112264"/>
            <a:ext cx="3730752" cy="237744"/>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xizmatlarning YaIMdagi ulushi</a:t>
            </a:r>
            <a:endParaRPr lang="en-US" sz="1200" dirty="0"/>
          </a:p>
        </p:txBody>
      </p:sp>
      <p:sp>
        <p:nvSpPr>
          <p:cNvPr id="22" name="katta-raqam"/>
          <p:cNvSpPr txBox="1"/>
          <p:nvPr/>
        </p:nvSpPr>
        <p:spPr>
          <a:xfrm>
            <a:off x="7872984" y="2468880"/>
            <a:ext cx="3730752" cy="426720"/>
          </a:xfrm>
          <a:prstGeom prst="rect">
            <a:avLst/>
          </a:prstGeom>
          <a:noFill/>
          <a:ln/>
        </p:spPr>
        <p:txBody>
          <a:bodyPr wrap="square" lIns="0" tIns="0" rIns="0" bIns="0" rtlCol="0" anchor="b"/>
          <a:lstStyle/>
          <a:p>
            <a:pPr indent="0" marL="0">
              <a:buNone/>
            </a:pPr>
            <a:r>
              <a:rPr lang="en-US" sz="2800" b="1" dirty="0">
                <a:solidFill>
                  <a:srgbClr val="141414"/>
                </a:solidFill>
                <a:latin typeface="+mj-lt" pitchFamily="34" charset="0"/>
                <a:ea typeface="+mj-lt" pitchFamily="34" charset="-122"/>
                <a:cs typeface="+mj-lt" pitchFamily="34" charset="-120"/>
              </a:rPr>
              <a:t>+69,9%</a:t>
            </a:r>
            <a:endParaRPr lang="en-US" sz="2800" dirty="0"/>
          </a:p>
        </p:txBody>
      </p:sp>
      <p:sp>
        <p:nvSpPr>
          <p:cNvPr id="23" name="katta-raqam-izoh"/>
          <p:cNvSpPr txBox="1"/>
          <p:nvPr/>
        </p:nvSpPr>
        <p:spPr>
          <a:xfrm>
            <a:off x="7872984" y="2932176"/>
            <a:ext cx="3730752"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real YaIM o‘sishi, 25 yilda</a:t>
            </a:r>
            <a:endParaRPr lang="en-US" sz="1200" dirty="0"/>
          </a:p>
        </p:txBody>
      </p:sp>
      <p:sp>
        <p:nvSpPr>
          <p:cNvPr id="24" name="nega-belgi"/>
          <p:cNvSpPr/>
          <p:nvPr/>
        </p:nvSpPr>
        <p:spPr>
          <a:xfrm>
            <a:off x="7872984" y="3255264"/>
            <a:ext cx="274320" cy="274320"/>
          </a:xfrm>
          <a:prstGeom prst="diamond">
            <a:avLst/>
          </a:prstGeom>
          <a:solidFill>
            <a:srgbClr val="F5C400"/>
          </a:solidFill>
          <a:ln w="19050">
            <a:solidFill>
              <a:srgbClr val="141414"/>
            </a:solidFill>
            <a:prstDash val="solid"/>
          </a:ln>
        </p:spPr>
      </p:sp>
      <p:sp>
        <p:nvSpPr>
          <p:cNvPr id="25" name="nega-belgi-matn"/>
          <p:cNvSpPr txBox="1"/>
          <p:nvPr/>
        </p:nvSpPr>
        <p:spPr>
          <a:xfrm>
            <a:off x="7872984" y="325526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26" name="nega-sarlavha"/>
          <p:cNvSpPr txBox="1"/>
          <p:nvPr/>
        </p:nvSpPr>
        <p:spPr>
          <a:xfrm>
            <a:off x="8238744" y="324612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27" name="nega-matn"/>
          <p:cNvSpPr txBox="1"/>
          <p:nvPr/>
        </p:nvSpPr>
        <p:spPr>
          <a:xfrm>
            <a:off x="7872984" y="3630168"/>
            <a:ext cx="3730752" cy="17830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chemeClr val="tx1"/>
                </a:solidFill>
              </a:rPr>
              <a:t>Daromad oshgani sari odamlar pulni ko‘proq sog‘liq, ta’lim, moliya, dam olish va raqamli xizmatlarga sarflaydi.</a:t>
            </a:r>
            <a:endParaRPr lang="en-US" sz="1300" dirty="0"/>
          </a:p>
          <a:p>
            <a:pPr marL="177800" indent="-177800">
              <a:lnSpc>
                <a:spcPct val="105000"/>
              </a:lnSpc>
              <a:spcAft>
                <a:spcPts val="600"/>
              </a:spcAft>
              <a:buSzPct val="100000"/>
              <a:buChar char="•"/>
            </a:pPr>
            <a:r>
              <a:rPr lang="en-US" sz="1300" dirty="0">
                <a:solidFill>
                  <a:schemeClr val="tx1"/>
                </a:solidFill>
              </a:rPr>
              <a:t>Sanoatda texnologiya kamroq odam bilan ko‘proq mahsulot beradi.</a:t>
            </a:r>
            <a:endParaRPr lang="en-US" sz="1300" dirty="0"/>
          </a:p>
          <a:p>
            <a:pPr marL="177800" indent="-177800">
              <a:lnSpc>
                <a:spcPct val="105000"/>
              </a:lnSpc>
              <a:spcAft>
                <a:spcPts val="600"/>
              </a:spcAft>
              <a:buSzPct val="100000"/>
              <a:buChar char="•"/>
            </a:pPr>
            <a:r>
              <a:rPr lang="en-US" sz="1300" dirty="0">
                <a:solidFill>
                  <a:schemeClr val="tx1"/>
                </a:solidFill>
              </a:rPr>
              <a:t>Bu — strukturaviy o‘zgarish: umumiy qonuniyat, AQSh uning yorqin misoli.</a:t>
            </a:r>
            <a:endParaRPr lang="en-US" sz="1300" dirty="0"/>
          </a:p>
        </p:txBody>
      </p:sp>
      <p:sp>
        <p:nvSpPr>
          <p:cNvPr id="28" name="anglatadi-chiziq"/>
          <p:cNvSpPr/>
          <p:nvPr/>
        </p:nvSpPr>
        <p:spPr>
          <a:xfrm>
            <a:off x="7872984" y="5413248"/>
            <a:ext cx="64008" cy="713232"/>
          </a:xfrm>
          <a:prstGeom prst="rect">
            <a:avLst/>
          </a:prstGeom>
          <a:solidFill>
            <a:srgbClr val="141414"/>
          </a:solidFill>
          <a:ln/>
        </p:spPr>
      </p:sp>
      <p:sp>
        <p:nvSpPr>
          <p:cNvPr id="29" name="anglatadi-sarlavha"/>
          <p:cNvSpPr txBox="1"/>
          <p:nvPr/>
        </p:nvSpPr>
        <p:spPr>
          <a:xfrm>
            <a:off x="8074152" y="5431536"/>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30" name="anglatadi-matn"/>
          <p:cNvSpPr txBox="1"/>
          <p:nvPr/>
        </p:nvSpPr>
        <p:spPr>
          <a:xfrm>
            <a:off x="8074152" y="5687568"/>
            <a:ext cx="3529584" cy="420624"/>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Sanoat qisqarmadi — xizmatlar undan ancha tez o‘sdi.</a:t>
            </a:r>
            <a:endParaRPr lang="en-US" sz="1700" dirty="0"/>
          </a:p>
        </p:txBody>
      </p:sp>
      <p:sp>
        <p:nvSpPr>
          <p:cNvPr id="31" name="speaker-dot"/>
          <p:cNvSpPr/>
          <p:nvPr/>
        </p:nvSpPr>
        <p:spPr>
          <a:xfrm>
            <a:off x="571500" y="6336792"/>
            <a:ext cx="77724" cy="77724"/>
          </a:xfrm>
          <a:prstGeom prst="ellipse">
            <a:avLst/>
          </a:prstGeom>
          <a:solidFill>
            <a:srgbClr val="55524B"/>
          </a:solidFill>
          <a:ln/>
        </p:spPr>
      </p:sp>
      <p:sp>
        <p:nvSpPr>
          <p:cNvPr id="32"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O‘rolov Shahzod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childTnLst>
                    </p:cTn>
                  </p:par>
                  <p:par>
                    <p:cTn id="47" fill="hold">
                      <p:stCondLst>
                        <p:cond delay="indefinite"/>
                      </p:stCondLst>
                      <p:childTnLst>
                        <p:par>
                          <p:cTn id="48"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400"/>
                                        <p:tgtEl>
                                          <p:spTgt spid="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childTnLst>
                          </p:cTn>
                        </p:par>
                      </p:childTnLst>
                    </p:cTn>
                  </p:par>
                  <p:par>
                    <p:cTn id="61" fill="hold">
                      <p:stCondLst>
                        <p:cond delay="indefinite"/>
                      </p:stCondLst>
                      <p:childTnLst>
                        <p:par>
                          <p:cTn id="62"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0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0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00"/>
                                        <p:tgtEl>
                                          <p:spTgt spid="27"/>
                                        </p:tgtEl>
                                      </p:cBhvr>
                                    </p:animEffect>
                                  </p:childTnLst>
                                </p:cTn>
                              </p:par>
                            </p:childTnLst>
                          </p:cTn>
                        </p:par>
                      </p:childTnLst>
                    </p:cTn>
                  </p:par>
                  <p:par>
                    <p:cTn id="72" fill="hold">
                      <p:stCondLst>
                        <p:cond delay="indefinite"/>
                      </p:stCondLst>
                      <p:childTnLst>
                        <p:par>
                          <p:cTn id="73"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11" grpId="0">
        <p:bldAsOne/>
      </p:bldGraphic>
      <p:bldP spid="12" grpId="0" animBg="1"/>
      <p:bldP spid="13" grpId="0" animBg="1"/>
      <p:bldP spid="14" grpId="0" animBg="1"/>
      <p:bldGraphic spid="15" grpId="0">
        <p:bldAsOne/>
      </p:bldGraphic>
      <p:bldP spid="16" grpId="0" animBg="1"/>
      <p:bldP spid="17" grpId="0" animBg="1"/>
      <p:bldGraphic spid="4" grpId="0">
        <p:bldAsOne/>
      </p:bldGraphic>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rogress"/>
          <p:cNvSpPr/>
          <p:nvPr/>
        </p:nvSpPr>
        <p:spPr>
          <a:xfrm>
            <a:off x="0" y="6743700"/>
            <a:ext cx="1741671"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Sanoat ikki barobar o‘sdi, lekin YaIMdagi ulushi 17,9% dan 12,4% ga tushdi</a:t>
            </a:r>
            <a:endParaRPr lang="en-US" sz="3000" dirty="0"/>
          </a:p>
        </p:txBody>
      </p:sp>
      <p:sp>
        <p:nvSpPr>
          <p:cNvPr id="4" name="lede"/>
          <p:cNvSpPr txBox="1"/>
          <p:nvPr/>
        </p:nvSpPr>
        <p:spPr>
          <a:xfrm>
            <a:off x="571500" y="1298448"/>
            <a:ext cx="8412480" cy="310896"/>
          </a:xfrm>
          <a:prstGeom prst="rect">
            <a:avLst/>
          </a:prstGeom>
          <a:noFill/>
          <a:ln/>
        </p:spPr>
        <p:txBody>
          <a:bodyPr wrap="square" lIns="0" tIns="0" rIns="0" bIns="0" rtlCol="0" anchor="ctr"/>
          <a:lstStyle/>
          <a:p>
            <a:pPr indent="0" marL="0">
              <a:buNone/>
            </a:pPr>
            <a:r>
              <a:rPr lang="en-US" sz="1400" i="1" dirty="0">
                <a:solidFill>
                  <a:schemeClr val="tx2"/>
                </a:solidFill>
              </a:rPr>
              <a:t>Sanoat — kon qazish (neft, gaz, ko‘mir), elektr va gaz ta’minoti hamda zavodlar.</a:t>
            </a:r>
            <a:endParaRPr lang="en-US" sz="1400" dirty="0"/>
          </a:p>
        </p:txBody>
      </p:sp>
      <p:sp>
        <p:nvSpPr>
          <p:cNvPr id="5"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6"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4</a:t>
            </a:r>
            <a:endParaRPr lang="en-US" sz="1100" dirty="0"/>
          </a:p>
        </p:txBody>
      </p:sp>
      <p:sp>
        <p:nvSpPr>
          <p:cNvPr id="7" name="sign-outer"/>
          <p:cNvSpPr/>
          <p:nvPr/>
        </p:nvSpPr>
        <p:spPr>
          <a:xfrm>
            <a:off x="9848088" y="566928"/>
            <a:ext cx="1810512" cy="603504"/>
          </a:xfrm>
          <a:prstGeom prst="roundRect">
            <a:avLst>
              <a:gd name="adj" fmla="val 15152"/>
            </a:avLst>
          </a:prstGeom>
          <a:solidFill>
            <a:srgbClr val="00653A"/>
          </a:solidFill>
          <a:ln/>
        </p:spPr>
      </p:sp>
      <p:sp>
        <p:nvSpPr>
          <p:cNvPr id="8"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9"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Sanoat</a:t>
            </a:r>
            <a:endParaRPr lang="en-US" sz="1700" dirty="0"/>
          </a:p>
        </p:txBody>
      </p:sp>
      <p:sp>
        <p:nvSpPr>
          <p:cNvPr id="10" name="sign-lane"/>
          <p:cNvSpPr/>
          <p:nvPr/>
        </p:nvSpPr>
        <p:spPr>
          <a:xfrm>
            <a:off x="9994392" y="1225296"/>
            <a:ext cx="1517904" cy="50292"/>
          </a:xfrm>
          <a:prstGeom prst="rect">
            <a:avLst/>
          </a:prstGeom>
          <a:solidFill>
            <a:srgbClr val="1C3F94"/>
          </a:solidFill>
          <a:ln/>
        </p:spPr>
      </p:sp>
      <p:sp>
        <p:nvSpPr>
          <p:cNvPr id="11" name="birlik"/>
          <p:cNvSpPr txBox="1"/>
          <p:nvPr/>
        </p:nvSpPr>
        <p:spPr>
          <a:xfrm>
            <a:off x="571500" y="173736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mlrd $, joriy narxda</a:t>
            </a:r>
            <a:endParaRPr lang="en-US" sz="1100" dirty="0"/>
          </a:p>
        </p:txBody>
      </p:sp>
      <p:graphicFrame>
        <p:nvGraphicFramePr>
          <p:cNvPr id="12" name="grafik" descr=""/>
          <p:cNvGraphicFramePr/>
          <p:nvPr/>
        </p:nvGraphicFramePr>
        <p:xfrm>
          <a:off x="571500" y="2011680"/>
          <a:ext cx="6858000" cy="2240280"/>
        </p:xfrm>
        <a:graphic xmlns:a="http://schemas.openxmlformats.org/drawingml/2006/main">
          <a:graphicData uri="http://schemas.openxmlformats.org/drawingml/2006/chart">
            <c:chart xmlns:c="http://schemas.openxmlformats.org/drawingml/2006/chart" r:id="rId1"/>
          </a:graphicData>
        </a:graphic>
      </p:graphicFrame>
      <p:sp>
        <p:nvSpPr>
          <p:cNvPr id="13" name="yorliq"/>
          <p:cNvSpPr txBox="1"/>
          <p:nvPr/>
        </p:nvSpPr>
        <p:spPr>
          <a:xfrm>
            <a:off x="1262312" y="2821729"/>
            <a:ext cx="2011680" cy="237744"/>
          </a:xfrm>
          <a:prstGeom prst="rect">
            <a:avLst/>
          </a:prstGeom>
          <a:noFill/>
          <a:ln/>
        </p:spPr>
        <p:txBody>
          <a:bodyPr wrap="square" lIns="0" tIns="0" rIns="0" bIns="0" rtlCol="0" anchor="ctr"/>
          <a:lstStyle/>
          <a:p>
            <a:pPr algn="l" indent="0" marL="0">
              <a:buNone/>
            </a:pPr>
            <a:r>
              <a:rPr lang="en-US" sz="1100" b="1" dirty="0">
                <a:solidFill>
                  <a:srgbClr val="141414"/>
                </a:solidFill>
                <a:latin typeface="+mj-lt" pitchFamily="34" charset="0"/>
                <a:ea typeface="+mj-lt" pitchFamily="34" charset="-122"/>
                <a:cs typeface="+mj-lt" pitchFamily="34" charset="-120"/>
              </a:rPr>
              <a:t>1 840</a:t>
            </a:r>
            <a:endParaRPr lang="en-US" sz="1100" dirty="0"/>
          </a:p>
        </p:txBody>
      </p:sp>
      <p:sp>
        <p:nvSpPr>
          <p:cNvPr id="14" name="yorliq"/>
          <p:cNvSpPr txBox="1"/>
          <p:nvPr/>
        </p:nvSpPr>
        <p:spPr>
          <a:xfrm>
            <a:off x="5225356" y="1893831"/>
            <a:ext cx="2011680" cy="237744"/>
          </a:xfrm>
          <a:prstGeom prst="rect">
            <a:avLst/>
          </a:prstGeom>
          <a:noFill/>
          <a:ln/>
        </p:spPr>
        <p:txBody>
          <a:bodyPr wrap="square" lIns="0" tIns="0" rIns="0" bIns="0" rtlCol="0" anchor="ctr"/>
          <a:lstStyle/>
          <a:p>
            <a:pPr algn="r" indent="0" marL="0">
              <a:buNone/>
            </a:pPr>
            <a:r>
              <a:rPr lang="en-US" sz="1100" b="1" dirty="0">
                <a:solidFill>
                  <a:srgbClr val="141414"/>
                </a:solidFill>
                <a:latin typeface="+mj-lt" pitchFamily="34" charset="0"/>
                <a:ea typeface="+mj-lt" pitchFamily="34" charset="-122"/>
                <a:cs typeface="+mj-lt" pitchFamily="34" charset="-120"/>
              </a:rPr>
              <a:t>3 836</a:t>
            </a:r>
            <a:endParaRPr lang="en-US" sz="1100" dirty="0"/>
          </a:p>
        </p:txBody>
      </p:sp>
      <p:sp>
        <p:nvSpPr>
          <p:cNvPr id="15" name="izoh-chiziq"/>
          <p:cNvSpPr/>
          <p:nvPr/>
        </p:nvSpPr>
        <p:spPr>
          <a:xfrm>
            <a:off x="3437353" y="2634346"/>
            <a:ext cx="0" cy="235318"/>
          </a:xfrm>
          <a:prstGeom prst="line">
            <a:avLst/>
          </a:prstGeom>
          <a:noFill/>
          <a:ln w="15875">
            <a:solidFill>
              <a:srgbClr val="C92A2A"/>
            </a:solidFill>
            <a:prstDash val="solid"/>
          </a:ln>
        </p:spPr>
      </p:sp>
      <p:sp>
        <p:nvSpPr>
          <p:cNvPr id="16" name="yorliq"/>
          <p:cNvSpPr txBox="1"/>
          <p:nvPr/>
        </p:nvSpPr>
        <p:spPr>
          <a:xfrm>
            <a:off x="2431513" y="2424034"/>
            <a:ext cx="2011680" cy="237744"/>
          </a:xfrm>
          <a:prstGeom prst="rect">
            <a:avLst/>
          </a:prstGeom>
          <a:noFill/>
          <a:ln/>
        </p:spPr>
        <p:txBody>
          <a:bodyPr wrap="square" lIns="0" tIns="0" rIns="0" bIns="0" rtlCol="0" anchor="ctr"/>
          <a:lstStyle/>
          <a:p>
            <a:pPr algn="ctr" indent="0" marL="0">
              <a:buNone/>
            </a:pPr>
            <a:r>
              <a:rPr lang="en-US" sz="1100" b="1" dirty="0">
                <a:solidFill>
                  <a:srgbClr val="C92A2A"/>
                </a:solidFill>
                <a:latin typeface="+mj-lt" pitchFamily="34" charset="0"/>
                <a:ea typeface="+mj-lt" pitchFamily="34" charset="-122"/>
                <a:cs typeface="+mj-lt" pitchFamily="34" charset="-120"/>
              </a:rPr>
              <a:t>2009: real −5,5%</a:t>
            </a:r>
            <a:endParaRPr lang="en-US" sz="1100" dirty="0"/>
          </a:p>
        </p:txBody>
      </p:sp>
      <p:sp>
        <p:nvSpPr>
          <p:cNvPr id="17" name="izoh-chiziq"/>
          <p:cNvSpPr/>
          <p:nvPr/>
        </p:nvSpPr>
        <p:spPr>
          <a:xfrm>
            <a:off x="5961624" y="2448403"/>
            <a:ext cx="0" cy="199826"/>
          </a:xfrm>
          <a:prstGeom prst="line">
            <a:avLst/>
          </a:prstGeom>
          <a:noFill/>
          <a:ln w="15875">
            <a:solidFill>
              <a:srgbClr val="C92A2A"/>
            </a:solidFill>
            <a:prstDash val="solid"/>
          </a:ln>
        </p:spPr>
      </p:sp>
      <p:sp>
        <p:nvSpPr>
          <p:cNvPr id="18" name="yorliq"/>
          <p:cNvSpPr txBox="1"/>
          <p:nvPr/>
        </p:nvSpPr>
        <p:spPr>
          <a:xfrm>
            <a:off x="4059672" y="2238091"/>
            <a:ext cx="2011680" cy="237744"/>
          </a:xfrm>
          <a:prstGeom prst="rect">
            <a:avLst/>
          </a:prstGeom>
          <a:noFill/>
          <a:ln/>
        </p:spPr>
        <p:txBody>
          <a:bodyPr wrap="square" lIns="0" tIns="0" rIns="0" bIns="0" rtlCol="0" anchor="ctr"/>
          <a:lstStyle/>
          <a:p>
            <a:pPr algn="r" indent="0" marL="0">
              <a:buNone/>
            </a:pPr>
            <a:r>
              <a:rPr lang="en-US" sz="1100" b="1" dirty="0">
                <a:solidFill>
                  <a:srgbClr val="C92A2A"/>
                </a:solidFill>
                <a:latin typeface="+mj-lt" pitchFamily="34" charset="0"/>
                <a:ea typeface="+mj-lt" pitchFamily="34" charset="-122"/>
                <a:cs typeface="+mj-lt" pitchFamily="34" charset="-120"/>
              </a:rPr>
              <a:t>2020: real −2,5%</a:t>
            </a:r>
            <a:endParaRPr lang="en-US" sz="1100" dirty="0"/>
          </a:p>
        </p:txBody>
      </p:sp>
      <p:sp>
        <p:nvSpPr>
          <p:cNvPr id="19" name="manba"/>
          <p:cNvSpPr txBox="1"/>
          <p:nvPr/>
        </p:nvSpPr>
        <p:spPr>
          <a:xfrm>
            <a:off x="571500" y="429768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a:t>
            </a:r>
            <a:endParaRPr lang="en-US" sz="1100" dirty="0"/>
          </a:p>
        </p:txBody>
      </p:sp>
      <p:graphicFrame>
        <p:nvGraphicFramePr>
          <p:cNvPr id="5" name="jadval"/>
          <p:cNvGraphicFramePr>
            <a:graphicFrameLocks noGrp="1"/>
          </p:cNvGraphicFramePr>
          <p:nvPr>
            <p:extLst>
              <p:ext uri="{D42A27DB-BD31-4B8C-83A1-F6EECF244321}">
                <p14:modId xmlns:p14="http://schemas.microsoft.com/office/powerpoint/2010/main" val="1579011935"/>
              </p:ext>
            </p:extLst>
          </p:nvPr>
        </p:nvGraphicFramePr>
        <p:xfrm>
          <a:off x="571500" y="4599432"/>
          <a:ext cx="6858000" cy="914400"/>
        </p:xfrm>
        <a:graphic>
          <a:graphicData uri="http://schemas.openxmlformats.org/drawingml/2006/table">
            <a:tbl>
              <a:tblPr/>
              <a:tblGrid>
                <a:gridCol w="2194560"/>
                <a:gridCol w="777240"/>
                <a:gridCol w="777240"/>
                <a:gridCol w="777240"/>
                <a:gridCol w="777240"/>
                <a:gridCol w="777240"/>
                <a:gridCol w="777240"/>
              </a:tblGrid>
              <a:tr h="283464">
                <a:tc>
                  <a:txBody>
                    <a:bodyPr/>
                    <a:lstStyle/>
                    <a:p>
                      <a:pPr algn="l" indent="0" marL="0">
                        <a:buNone/>
                      </a:pP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2010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2015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Qo‘shilgan qiymat, mlrd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1 840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2 116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2 374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2 634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2 705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3 836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YaIMdagi ulush,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17,9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16,2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15,8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14,4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12,7</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Real hajm, 2000 = 100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110,4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119,4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131,5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138,2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159,8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Bandlik, mln kishi</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18,05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15,04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12,41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13,36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12,91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13,45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21" name="manba"/>
          <p:cNvSpPr txBox="1"/>
          <p:nvPr/>
        </p:nvSpPr>
        <p:spPr>
          <a:xfrm>
            <a:off x="571500" y="603504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a:t>
            </a:r>
            <a:endParaRPr lang="en-US" sz="1100" dirty="0"/>
          </a:p>
        </p:txBody>
      </p:sp>
      <p:sp>
        <p:nvSpPr>
          <p:cNvPr id="22" name="katta-raqam"/>
          <p:cNvSpPr txBox="1"/>
          <p:nvPr/>
        </p:nvSpPr>
        <p:spPr>
          <a:xfrm>
            <a:off x="7872984" y="1737360"/>
            <a:ext cx="2103120" cy="487680"/>
          </a:xfrm>
          <a:prstGeom prst="rect">
            <a:avLst/>
          </a:prstGeom>
          <a:noFill/>
          <a:ln/>
        </p:spPr>
        <p:txBody>
          <a:bodyPr wrap="square" lIns="0" tIns="0" rIns="0" bIns="0" rtlCol="0" anchor="b"/>
          <a:lstStyle/>
          <a:p>
            <a:pPr indent="0" marL="0">
              <a:buNone/>
            </a:pPr>
            <a:r>
              <a:rPr lang="en-US" sz="3200" b="1" dirty="0">
                <a:solidFill>
                  <a:srgbClr val="1C3F94"/>
                </a:solidFill>
                <a:latin typeface="+mj-lt" pitchFamily="34" charset="0"/>
                <a:ea typeface="+mj-lt" pitchFamily="34" charset="-122"/>
                <a:cs typeface="+mj-lt" pitchFamily="34" charset="-120"/>
              </a:rPr>
              <a:t>+108,5%</a:t>
            </a:r>
            <a:endParaRPr lang="en-US" sz="3200" dirty="0"/>
          </a:p>
        </p:txBody>
      </p:sp>
      <p:sp>
        <p:nvSpPr>
          <p:cNvPr id="23" name="katta-raqam-izoh"/>
          <p:cNvSpPr txBox="1"/>
          <p:nvPr/>
        </p:nvSpPr>
        <p:spPr>
          <a:xfrm>
            <a:off x="7872984" y="2261616"/>
            <a:ext cx="2103120"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qo‘shilgan qiymat, joriy narxda</a:t>
            </a:r>
            <a:endParaRPr lang="en-US" sz="1200" dirty="0"/>
          </a:p>
        </p:txBody>
      </p:sp>
      <p:sp>
        <p:nvSpPr>
          <p:cNvPr id="24" name="katta-raqam"/>
          <p:cNvSpPr txBox="1"/>
          <p:nvPr/>
        </p:nvSpPr>
        <p:spPr>
          <a:xfrm>
            <a:off x="10067544" y="1737360"/>
            <a:ext cx="1536192" cy="548640"/>
          </a:xfrm>
          <a:prstGeom prst="rect">
            <a:avLst/>
          </a:prstGeom>
          <a:noFill/>
          <a:ln/>
        </p:spPr>
        <p:txBody>
          <a:bodyPr wrap="square" lIns="0" tIns="0" rIns="0" bIns="0" rtlCol="0" anchor="b"/>
          <a:lstStyle/>
          <a:p>
            <a:pPr indent="0" marL="0">
              <a:buNone/>
            </a:pPr>
            <a:r>
              <a:rPr lang="en-US" sz="3600" b="1" dirty="0">
                <a:solidFill>
                  <a:srgbClr val="1C3F94"/>
                </a:solidFill>
                <a:latin typeface="+mj-lt" pitchFamily="34" charset="0"/>
                <a:ea typeface="+mj-lt" pitchFamily="34" charset="-122"/>
                <a:cs typeface="+mj-lt" pitchFamily="34" charset="-120"/>
              </a:rPr>
              <a:t>1,89%</a:t>
            </a:r>
            <a:endParaRPr lang="en-US" sz="3600" dirty="0"/>
          </a:p>
        </p:txBody>
      </p:sp>
      <p:sp>
        <p:nvSpPr>
          <p:cNvPr id="25" name="katta-raqam-izoh"/>
          <p:cNvSpPr txBox="1"/>
          <p:nvPr/>
        </p:nvSpPr>
        <p:spPr>
          <a:xfrm>
            <a:off x="10067544" y="2322576"/>
            <a:ext cx="1536192"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real o‘sish, yiliga o‘rtacha (CAGR)</a:t>
            </a:r>
            <a:endParaRPr lang="en-US" sz="1200" dirty="0"/>
          </a:p>
        </p:txBody>
      </p:sp>
      <p:sp>
        <p:nvSpPr>
          <p:cNvPr id="26" name="nega-belgi"/>
          <p:cNvSpPr/>
          <p:nvPr/>
        </p:nvSpPr>
        <p:spPr>
          <a:xfrm>
            <a:off x="7872984" y="2935224"/>
            <a:ext cx="274320" cy="274320"/>
          </a:xfrm>
          <a:prstGeom prst="diamond">
            <a:avLst/>
          </a:prstGeom>
          <a:solidFill>
            <a:srgbClr val="F5C400"/>
          </a:solidFill>
          <a:ln w="19050">
            <a:solidFill>
              <a:srgbClr val="141414"/>
            </a:solidFill>
            <a:prstDash val="solid"/>
          </a:ln>
        </p:spPr>
      </p:sp>
      <p:sp>
        <p:nvSpPr>
          <p:cNvPr id="27" name="nega-belgi-matn"/>
          <p:cNvSpPr txBox="1"/>
          <p:nvPr/>
        </p:nvSpPr>
        <p:spPr>
          <a:xfrm>
            <a:off x="7872984" y="293522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28" name="nega-sarlavha"/>
          <p:cNvSpPr txBox="1"/>
          <p:nvPr/>
        </p:nvSpPr>
        <p:spPr>
          <a:xfrm>
            <a:off x="8238744" y="292608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29" name="nega-matn"/>
          <p:cNvSpPr txBox="1"/>
          <p:nvPr/>
        </p:nvSpPr>
        <p:spPr>
          <a:xfrm>
            <a:off x="7872984" y="3310128"/>
            <a:ext cx="3730752" cy="164592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Ikki barobar o‘sishning bir qismi — narxlar o‘sishi, real hajm sekinroq o‘sgan. Xizmatlar esa sanoatdan ancha tez o‘sdi, shuning uchun sanoat ulushi kamaydi. 2009 va 2020-yillardagi chuqurlar — moliyaviy inqiroz va pandemiya izi.</a:t>
            </a:r>
            <a:endParaRPr lang="en-US" sz="1400" dirty="0"/>
          </a:p>
        </p:txBody>
      </p:sp>
      <p:sp>
        <p:nvSpPr>
          <p:cNvPr id="30" name="anglatadi-chiziq"/>
          <p:cNvSpPr/>
          <p:nvPr/>
        </p:nvSpPr>
        <p:spPr>
          <a:xfrm>
            <a:off x="7872984" y="5120640"/>
            <a:ext cx="64008" cy="868680"/>
          </a:xfrm>
          <a:prstGeom prst="rect">
            <a:avLst/>
          </a:prstGeom>
          <a:solidFill>
            <a:srgbClr val="1C3F94"/>
          </a:solidFill>
          <a:ln/>
        </p:spPr>
      </p:sp>
      <p:sp>
        <p:nvSpPr>
          <p:cNvPr id="31" name="anglatadi-sarlavha"/>
          <p:cNvSpPr txBox="1"/>
          <p:nvPr/>
        </p:nvSpPr>
        <p:spPr>
          <a:xfrm>
            <a:off x="8074152" y="513892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32" name="anglatadi-matn"/>
          <p:cNvSpPr txBox="1"/>
          <p:nvPr/>
        </p:nvSpPr>
        <p:spPr>
          <a:xfrm>
            <a:off x="8074152" y="5394960"/>
            <a:ext cx="3529584" cy="5760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Ulush kamayishi — tarmoq kichraydi degani emas.</a:t>
            </a:r>
            <a:endParaRPr lang="en-US" sz="1700" dirty="0"/>
          </a:p>
        </p:txBody>
      </p:sp>
      <p:sp>
        <p:nvSpPr>
          <p:cNvPr id="33" name="speaker-dot"/>
          <p:cNvSpPr/>
          <p:nvPr/>
        </p:nvSpPr>
        <p:spPr>
          <a:xfrm>
            <a:off x="571500" y="6336792"/>
            <a:ext cx="77724" cy="77724"/>
          </a:xfrm>
          <a:prstGeom prst="ellipse">
            <a:avLst/>
          </a:prstGeom>
          <a:solidFill>
            <a:srgbClr val="1C3F94"/>
          </a:solidFill>
          <a:ln/>
        </p:spPr>
      </p:sp>
      <p:sp>
        <p:nvSpPr>
          <p:cNvPr id="34"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Otamurodov Muhammadali</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childTnLst>
                          </p:cTn>
                        </p:par>
                      </p:childTnLst>
                    </p:cTn>
                  </p:par>
                  <p:par>
                    <p:cTn id="50" fill="hold">
                      <p:stCondLst>
                        <p:cond delay="indefinite"/>
                      </p:stCondLst>
                      <p:childTnLst>
                        <p:par>
                          <p:cTn id="51"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400"/>
                                        <p:tgtEl>
                                          <p:spTgt spid="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childTnLst>
                          </p:cTn>
                        </p:par>
                      </p:childTnLst>
                    </p:cTn>
                  </p:par>
                  <p:par>
                    <p:cTn id="64" fill="hold">
                      <p:stCondLst>
                        <p:cond delay="indefinite"/>
                      </p:stCondLst>
                      <p:childTnLst>
                        <p:par>
                          <p:cTn id="65"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00"/>
                                        <p:tgtEl>
                                          <p:spTgt spid="2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00"/>
                                        <p:tgtEl>
                                          <p:spTgt spid="2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00"/>
                                        <p:tgtEl>
                                          <p:spTgt spid="2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400"/>
                                        <p:tgtEl>
                                          <p:spTgt spid="29"/>
                                        </p:tgtEl>
                                      </p:cBhvr>
                                    </p:animEffect>
                                  </p:childTnLst>
                                </p:cTn>
                              </p:par>
                            </p:childTnLst>
                          </p:cTn>
                        </p:par>
                      </p:childTnLst>
                    </p:cTn>
                  </p:par>
                  <p:par>
                    <p:cTn id="75" fill="hold">
                      <p:stCondLst>
                        <p:cond delay="indefinite"/>
                      </p:stCondLst>
                      <p:childTnLst>
                        <p:par>
                          <p:cTn id="76"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00"/>
                                        <p:tgtEl>
                                          <p:spTgt spid="3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4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Graphic spid="12" grpId="0">
        <p:bldAsOne/>
      </p:bldGraphic>
      <p:bldP spid="13" grpId="0" animBg="1"/>
      <p:bldP spid="14" grpId="0" animBg="1"/>
      <p:bldP spid="15" grpId="0" animBg="1"/>
      <p:bldP spid="16" grpId="0" animBg="1"/>
      <p:bldP spid="17" grpId="0" animBg="1"/>
      <p:bldP spid="18" grpId="0" animBg="1"/>
      <p:bldP spid="19" grpId="0" animBg="1"/>
      <p:bldP spid="22" grpId="0" animBg="1"/>
      <p:bldP spid="23" grpId="0" animBg="1"/>
      <p:bldP spid="24" grpId="0" animBg="1"/>
      <p:bldP spid="25" grpId="0" animBg="1"/>
      <p:bldGraphic spid="5" grpId="0">
        <p:bldAsOne/>
      </p:bldGraphic>
      <p:bldP spid="21" grpId="0" animBg="1"/>
      <p:bldP spid="26" grpId="0" animBg="1"/>
      <p:bldP spid="27" grpId="0" animBg="1"/>
      <p:bldP spid="28" grpId="0" animBg="1"/>
      <p:bldP spid="29" grpId="0" animBg="1"/>
      <p:bldP spid="30" grpId="0" animBg="1"/>
      <p:bldP spid="31" grpId="0" animBg="1"/>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rogress"/>
          <p:cNvSpPr/>
          <p:nvPr/>
        </p:nvSpPr>
        <p:spPr>
          <a:xfrm>
            <a:off x="0" y="6743700"/>
            <a:ext cx="2322228"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Sanoat 60% ko‘p mahsulot berdi, lekin 4,6 mln ish o‘rni yo‘qoldi</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5</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Sanoat</a:t>
            </a:r>
            <a:endParaRPr lang="en-US" sz="1700" dirty="0"/>
          </a:p>
        </p:txBody>
      </p:sp>
      <p:sp>
        <p:nvSpPr>
          <p:cNvPr id="9" name="sign-lane"/>
          <p:cNvSpPr/>
          <p:nvPr/>
        </p:nvSpPr>
        <p:spPr>
          <a:xfrm>
            <a:off x="9994392" y="1225296"/>
            <a:ext cx="1517904" cy="50292"/>
          </a:xfrm>
          <a:prstGeom prst="rect">
            <a:avLst/>
          </a:prstGeom>
          <a:solidFill>
            <a:srgbClr val="1C3F94"/>
          </a:solidFill>
          <a:ln/>
        </p:spPr>
      </p:sp>
      <p:sp>
        <p:nvSpPr>
          <p:cNvPr id="10" name="birlik"/>
          <p:cNvSpPr txBox="1"/>
          <p:nvPr/>
        </p:nvSpPr>
        <p:spPr>
          <a:xfrm>
            <a:off x="571500" y="160020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indeks, 2000 = 100</a:t>
            </a:r>
            <a:endParaRPr lang="en-US" sz="1100" dirty="0"/>
          </a:p>
        </p:txBody>
      </p:sp>
      <p:graphicFrame>
        <p:nvGraphicFramePr>
          <p:cNvPr id="11" name="qaychi" descr=""/>
          <p:cNvGraphicFramePr/>
          <p:nvPr/>
        </p:nvGraphicFramePr>
        <p:xfrm>
          <a:off x="571500" y="1874520"/>
          <a:ext cx="6858000" cy="3886200"/>
        </p:xfrm>
        <a:graphic xmlns:a="http://schemas.openxmlformats.org/drawingml/2006/main">
          <a:graphicData uri="http://schemas.openxmlformats.org/drawingml/2006/chart">
            <c:chart xmlns:c="http://schemas.openxmlformats.org/drawingml/2006/chart" r:id="rId1"/>
          </a:graphicData>
        </a:graphic>
      </p:graphicFrame>
      <p:sp>
        <p:nvSpPr>
          <p:cNvPr id="12" name="yorliq"/>
          <p:cNvSpPr txBox="1"/>
          <p:nvPr/>
        </p:nvSpPr>
        <p:spPr>
          <a:xfrm>
            <a:off x="6012180" y="2480883"/>
            <a:ext cx="2011680" cy="420624"/>
          </a:xfrm>
          <a:prstGeom prst="rect">
            <a:avLst/>
          </a:prstGeom>
          <a:noFill/>
          <a:ln/>
        </p:spPr>
        <p:txBody>
          <a:bodyPr wrap="square" lIns="0" tIns="0" rIns="0" bIns="0" rtlCol="0" anchor="ctr"/>
          <a:lstStyle/>
          <a:p>
            <a:pPr algn="l" indent="0" marL="0">
              <a:buNone/>
            </a:pPr>
            <a:r>
              <a:rPr lang="en-US" sz="1100" b="1" dirty="0">
                <a:solidFill>
                  <a:srgbClr val="1C3F94"/>
                </a:solidFill>
                <a:latin typeface="+mj-lt" pitchFamily="34" charset="0"/>
                <a:ea typeface="+mj-lt" pitchFamily="34" charset="-122"/>
                <a:cs typeface="+mj-lt" pitchFamily="34" charset="-120"/>
              </a:rPr>
              <a:t>Real hajm</a:t>
            </a:r>
            <a:endParaRPr lang="en-US" sz="1100" dirty="0"/>
          </a:p>
          <a:p>
            <a:pPr algn="l" indent="0" marL="0">
              <a:buNone/>
            </a:pPr>
            <a:r>
              <a:rPr lang="en-US" sz="1100" b="1" dirty="0">
                <a:solidFill>
                  <a:srgbClr val="1C3F94"/>
                </a:solidFill>
                <a:latin typeface="+mj-lt" pitchFamily="34" charset="0"/>
                <a:ea typeface="+mj-lt" pitchFamily="34" charset="-122"/>
                <a:cs typeface="+mj-lt" pitchFamily="34" charset="-120"/>
              </a:rPr>
              <a:t>+59,8%</a:t>
            </a:r>
            <a:endParaRPr lang="en-US" sz="1100" dirty="0"/>
          </a:p>
        </p:txBody>
      </p:sp>
      <p:sp>
        <p:nvSpPr>
          <p:cNvPr id="13" name="yorliq"/>
          <p:cNvSpPr txBox="1"/>
          <p:nvPr/>
        </p:nvSpPr>
        <p:spPr>
          <a:xfrm>
            <a:off x="6012180" y="4882772"/>
            <a:ext cx="2011680" cy="420624"/>
          </a:xfrm>
          <a:prstGeom prst="rect">
            <a:avLst/>
          </a:prstGeom>
          <a:noFill/>
          <a:ln/>
        </p:spPr>
        <p:txBody>
          <a:bodyPr wrap="square" lIns="0" tIns="0" rIns="0" bIns="0" rtlCol="0" anchor="ctr"/>
          <a:lstStyle/>
          <a:p>
            <a:pPr algn="l" indent="0" marL="0">
              <a:buNone/>
            </a:pPr>
            <a:r>
              <a:rPr lang="en-US" sz="1100" b="1" dirty="0">
                <a:solidFill>
                  <a:srgbClr val="C92A2A"/>
                </a:solidFill>
                <a:latin typeface="+mj-lt" pitchFamily="34" charset="0"/>
                <a:ea typeface="+mj-lt" pitchFamily="34" charset="-122"/>
                <a:cs typeface="+mj-lt" pitchFamily="34" charset="-120"/>
              </a:rPr>
              <a:t>Bandlik</a:t>
            </a:r>
            <a:endParaRPr lang="en-US" sz="1100" dirty="0"/>
          </a:p>
          <a:p>
            <a:pPr algn="l" indent="0" marL="0">
              <a:buNone/>
            </a:pPr>
            <a:r>
              <a:rPr lang="en-US" sz="1100" b="1" dirty="0">
                <a:solidFill>
                  <a:srgbClr val="C92A2A"/>
                </a:solidFill>
                <a:latin typeface="+mj-lt" pitchFamily="34" charset="0"/>
                <a:ea typeface="+mj-lt" pitchFamily="34" charset="-122"/>
                <a:cs typeface="+mj-lt" pitchFamily="34" charset="-120"/>
              </a:rPr>
              <a:t>−25,5%</a:t>
            </a:r>
            <a:endParaRPr lang="en-US" sz="1100" dirty="0"/>
          </a:p>
        </p:txBody>
      </p:sp>
      <p:sp>
        <p:nvSpPr>
          <p:cNvPr id="14" name="yorliq"/>
          <p:cNvSpPr txBox="1"/>
          <p:nvPr/>
        </p:nvSpPr>
        <p:spPr>
          <a:xfrm>
            <a:off x="2610436" y="4503191"/>
            <a:ext cx="2743200" cy="237744"/>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4,6 mln ish o‘rni yo‘qoldi</a:t>
            </a:r>
            <a:endParaRPr lang="en-US" sz="1100" dirty="0"/>
          </a:p>
        </p:txBody>
      </p:sp>
      <p:graphicFrame>
        <p:nvGraphicFramePr>
          <p:cNvPr id="15" name="kompyutersiz" descr=""/>
          <p:cNvGraphicFramePr/>
          <p:nvPr/>
        </p:nvGraphicFramePr>
        <p:xfrm>
          <a:off x="571500" y="1874520"/>
          <a:ext cx="6858000" cy="3886200"/>
        </p:xfrm>
        <a:graphic xmlns:a="http://schemas.openxmlformats.org/drawingml/2006/main">
          <a:graphicData uri="http://schemas.openxmlformats.org/drawingml/2006/chart">
            <c:chart xmlns:c="http://schemas.openxmlformats.org/drawingml/2006/chart" r:id="rId2"/>
          </a:graphicData>
        </a:graphic>
      </p:graphicFrame>
      <p:sp>
        <p:nvSpPr>
          <p:cNvPr id="16" name="yorliq"/>
          <p:cNvSpPr txBox="1"/>
          <p:nvPr/>
        </p:nvSpPr>
        <p:spPr>
          <a:xfrm>
            <a:off x="6012180" y="3633182"/>
            <a:ext cx="2011680" cy="603504"/>
          </a:xfrm>
          <a:prstGeom prst="rect">
            <a:avLst/>
          </a:prstGeom>
          <a:noFill/>
          <a:ln/>
        </p:spPr>
        <p:txBody>
          <a:bodyPr wrap="square" lIns="0" tIns="0" rIns="0" bIns="0" rtlCol="0" anchor="ctr"/>
          <a:lstStyle/>
          <a:p>
            <a:pPr algn="l" indent="0" marL="0">
              <a:buNone/>
            </a:pPr>
            <a:r>
              <a:rPr lang="en-US" sz="1100" b="1" dirty="0">
                <a:solidFill>
                  <a:srgbClr val="1C3F94"/>
                </a:solidFill>
                <a:latin typeface="+mj-lt" pitchFamily="34" charset="0"/>
                <a:ea typeface="+mj-lt" pitchFamily="34" charset="-122"/>
                <a:cs typeface="+mj-lt" pitchFamily="34" charset="-120"/>
              </a:rPr>
              <a:t>Kompyuter va</a:t>
            </a:r>
            <a:endParaRPr lang="en-US" sz="1100" dirty="0"/>
          </a:p>
          <a:p>
            <a:pPr algn="l" indent="0" marL="0">
              <a:buNone/>
            </a:pPr>
            <a:r>
              <a:rPr lang="en-US" sz="1100" b="1" dirty="0">
                <a:solidFill>
                  <a:srgbClr val="1C3F94"/>
                </a:solidFill>
                <a:latin typeface="+mj-lt" pitchFamily="34" charset="0"/>
                <a:ea typeface="+mj-lt" pitchFamily="34" charset="-122"/>
                <a:cs typeface="+mj-lt" pitchFamily="34" charset="-120"/>
              </a:rPr>
              <a:t>elektronikasiz</a:t>
            </a:r>
            <a:endParaRPr lang="en-US" sz="1100" dirty="0"/>
          </a:p>
          <a:p>
            <a:pPr algn="l" indent="0" marL="0">
              <a:buNone/>
            </a:pPr>
            <a:r>
              <a:rPr lang="en-US" sz="1100" b="1" dirty="0">
                <a:solidFill>
                  <a:srgbClr val="1C3F94"/>
                </a:solidFill>
                <a:latin typeface="+mj-lt" pitchFamily="34" charset="0"/>
                <a:ea typeface="+mj-lt" pitchFamily="34" charset="-122"/>
                <a:cs typeface="+mj-lt" pitchFamily="34" charset="-120"/>
              </a:rPr>
              <a:t>+23%</a:t>
            </a:r>
            <a:endParaRPr lang="en-US" sz="1100" dirty="0"/>
          </a:p>
        </p:txBody>
      </p:sp>
      <p:sp>
        <p:nvSpPr>
          <p:cNvPr id="17" name="manba"/>
          <p:cNvSpPr txBox="1"/>
          <p:nvPr/>
        </p:nvSpPr>
        <p:spPr>
          <a:xfrm>
            <a:off x="571500" y="5815584"/>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a:t>
            </a:r>
            <a:endParaRPr lang="en-US" sz="1100" dirty="0"/>
          </a:p>
        </p:txBody>
      </p:sp>
      <p:sp>
        <p:nvSpPr>
          <p:cNvPr id="18" name="katta-raqam"/>
          <p:cNvSpPr txBox="1"/>
          <p:nvPr/>
        </p:nvSpPr>
        <p:spPr>
          <a:xfrm>
            <a:off x="7872984" y="1481328"/>
            <a:ext cx="1783080" cy="487680"/>
          </a:xfrm>
          <a:prstGeom prst="rect">
            <a:avLst/>
          </a:prstGeom>
          <a:noFill/>
          <a:ln/>
        </p:spPr>
        <p:txBody>
          <a:bodyPr wrap="square" lIns="0" tIns="0" rIns="0" bIns="0" rtlCol="0" anchor="b"/>
          <a:lstStyle/>
          <a:p>
            <a:pPr indent="0" marL="0">
              <a:buNone/>
            </a:pPr>
            <a:r>
              <a:rPr lang="en-US" sz="3200" b="1" dirty="0">
                <a:solidFill>
                  <a:srgbClr val="1C3F94"/>
                </a:solidFill>
                <a:latin typeface="+mj-lt" pitchFamily="34" charset="0"/>
                <a:ea typeface="+mj-lt" pitchFamily="34" charset="-122"/>
                <a:cs typeface="+mj-lt" pitchFamily="34" charset="-120"/>
              </a:rPr>
              <a:t>+59,8%</a:t>
            </a:r>
            <a:endParaRPr lang="en-US" sz="3200" dirty="0"/>
          </a:p>
        </p:txBody>
      </p:sp>
      <p:sp>
        <p:nvSpPr>
          <p:cNvPr id="19" name="katta-raqam-izoh"/>
          <p:cNvSpPr txBox="1"/>
          <p:nvPr/>
        </p:nvSpPr>
        <p:spPr>
          <a:xfrm>
            <a:off x="7872984" y="2005584"/>
            <a:ext cx="1783080"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real hajm</a:t>
            </a:r>
            <a:endParaRPr lang="en-US" sz="1200" dirty="0"/>
          </a:p>
        </p:txBody>
      </p:sp>
      <p:sp>
        <p:nvSpPr>
          <p:cNvPr id="20" name="katta-raqam"/>
          <p:cNvSpPr txBox="1"/>
          <p:nvPr/>
        </p:nvSpPr>
        <p:spPr>
          <a:xfrm>
            <a:off x="9747504" y="1481328"/>
            <a:ext cx="1828800" cy="487680"/>
          </a:xfrm>
          <a:prstGeom prst="rect">
            <a:avLst/>
          </a:prstGeom>
          <a:noFill/>
          <a:ln/>
        </p:spPr>
        <p:txBody>
          <a:bodyPr wrap="square" lIns="0" tIns="0" rIns="0" bIns="0" rtlCol="0" anchor="b"/>
          <a:lstStyle/>
          <a:p>
            <a:pPr indent="0" marL="0">
              <a:buNone/>
            </a:pPr>
            <a:r>
              <a:rPr lang="en-US" sz="3200" b="1" dirty="0">
                <a:solidFill>
                  <a:srgbClr val="C92A2A"/>
                </a:solidFill>
                <a:latin typeface="+mj-lt" pitchFamily="34" charset="0"/>
                <a:ea typeface="+mj-lt" pitchFamily="34" charset="-122"/>
                <a:cs typeface="+mj-lt" pitchFamily="34" charset="-120"/>
              </a:rPr>
              <a:t>−25,5%</a:t>
            </a:r>
            <a:endParaRPr lang="en-US" sz="3200" dirty="0"/>
          </a:p>
        </p:txBody>
      </p:sp>
      <p:sp>
        <p:nvSpPr>
          <p:cNvPr id="21" name="katta-raqam-izoh"/>
          <p:cNvSpPr txBox="1"/>
          <p:nvPr/>
        </p:nvSpPr>
        <p:spPr>
          <a:xfrm>
            <a:off x="9747504" y="2005584"/>
            <a:ext cx="1828800"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bandlik: 18,05 → 13,45 mln</a:t>
            </a:r>
            <a:endParaRPr lang="en-US" sz="1200" dirty="0"/>
          </a:p>
        </p:txBody>
      </p:sp>
      <p:sp>
        <p:nvSpPr>
          <p:cNvPr id="22" name="nega-belgi"/>
          <p:cNvSpPr/>
          <p:nvPr/>
        </p:nvSpPr>
        <p:spPr>
          <a:xfrm>
            <a:off x="7872984" y="2523744"/>
            <a:ext cx="274320" cy="274320"/>
          </a:xfrm>
          <a:prstGeom prst="diamond">
            <a:avLst/>
          </a:prstGeom>
          <a:solidFill>
            <a:srgbClr val="F5C400"/>
          </a:solidFill>
          <a:ln w="19050">
            <a:solidFill>
              <a:srgbClr val="141414"/>
            </a:solidFill>
            <a:prstDash val="solid"/>
          </a:ln>
        </p:spPr>
      </p:sp>
      <p:sp>
        <p:nvSpPr>
          <p:cNvPr id="23" name="nega-belgi-matn"/>
          <p:cNvSpPr txBox="1"/>
          <p:nvPr/>
        </p:nvSpPr>
        <p:spPr>
          <a:xfrm>
            <a:off x="7872984" y="252374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24" name="nega-sarlavha"/>
          <p:cNvSpPr txBox="1"/>
          <p:nvPr/>
        </p:nvSpPr>
        <p:spPr>
          <a:xfrm>
            <a:off x="8238744" y="251460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25" name="nega-matn"/>
          <p:cNvSpPr txBox="1"/>
          <p:nvPr/>
        </p:nvSpPr>
        <p:spPr>
          <a:xfrm>
            <a:off x="7872984" y="2898648"/>
            <a:ext cx="3730752" cy="24231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chemeClr val="tx1"/>
                </a:solidFill>
              </a:rPr>
              <a:t>Xitoy importi qisqarishning kamida 1/4 qismini tushuntiradi [4].</a:t>
            </a:r>
            <a:endParaRPr lang="en-US" sz="1300" dirty="0"/>
          </a:p>
          <a:p>
            <a:pPr marL="177800" indent="-177800">
              <a:lnSpc>
                <a:spcPct val="105000"/>
              </a:lnSpc>
              <a:spcAft>
                <a:spcPts val="600"/>
              </a:spcAft>
              <a:buSzPct val="100000"/>
              <a:buChar char="•"/>
            </a:pPr>
            <a:r>
              <a:rPr lang="en-US" sz="1300" dirty="0">
                <a:solidFill>
                  <a:schemeClr val="tx1"/>
                </a:solidFill>
              </a:rPr>
              <a:t>Avtomatlashtirish: o‘sishning katta qismi kompyuter va elektronikada — real hajm ×5,3 [5].</a:t>
            </a:r>
            <a:endParaRPr lang="en-US" sz="1300" dirty="0"/>
          </a:p>
          <a:p>
            <a:pPr marL="177800" indent="-177800">
              <a:lnSpc>
                <a:spcPct val="105000"/>
              </a:lnSpc>
              <a:spcAft>
                <a:spcPts val="600"/>
              </a:spcAft>
              <a:buSzPct val="100000"/>
              <a:buChar char="•"/>
            </a:pPr>
            <a:r>
              <a:rPr lang="en-US" sz="1300" dirty="0">
                <a:solidFill>
                  <a:schemeClr val="tx1"/>
                </a:solidFill>
              </a:rPr>
              <a:t>Energiya: slanets inqilobi — 2023-yilda 12,9 mln barrel/kun, rekord; arzon gaz zavodlarni jalb qildi [8].</a:t>
            </a:r>
            <a:endParaRPr lang="en-US" sz="1300" dirty="0"/>
          </a:p>
        </p:txBody>
      </p:sp>
      <p:sp>
        <p:nvSpPr>
          <p:cNvPr id="26" name="anglatadi-chiziq"/>
          <p:cNvSpPr/>
          <p:nvPr/>
        </p:nvSpPr>
        <p:spPr>
          <a:xfrm>
            <a:off x="7872984" y="5230368"/>
            <a:ext cx="64008" cy="868680"/>
          </a:xfrm>
          <a:prstGeom prst="rect">
            <a:avLst/>
          </a:prstGeom>
          <a:solidFill>
            <a:srgbClr val="1C3F94"/>
          </a:solidFill>
          <a:ln/>
        </p:spPr>
      </p:sp>
      <p:sp>
        <p:nvSpPr>
          <p:cNvPr id="27" name="anglatadi-sarlavha"/>
          <p:cNvSpPr txBox="1"/>
          <p:nvPr/>
        </p:nvSpPr>
        <p:spPr>
          <a:xfrm>
            <a:off x="8074152" y="5248656"/>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28" name="anglatadi-matn"/>
          <p:cNvSpPr txBox="1"/>
          <p:nvPr/>
        </p:nvSpPr>
        <p:spPr>
          <a:xfrm>
            <a:off x="8074152" y="5504688"/>
            <a:ext cx="3529584" cy="5760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Sanoat o‘sishi har doim ham yangi ish o‘rni yaratmaydi.</a:t>
            </a:r>
            <a:endParaRPr lang="en-US" sz="1700" dirty="0"/>
          </a:p>
        </p:txBody>
      </p:sp>
      <p:sp>
        <p:nvSpPr>
          <p:cNvPr id="29" name="speaker-dot"/>
          <p:cNvSpPr/>
          <p:nvPr/>
        </p:nvSpPr>
        <p:spPr>
          <a:xfrm>
            <a:off x="571500" y="6336792"/>
            <a:ext cx="77724" cy="77724"/>
          </a:xfrm>
          <a:prstGeom prst="ellipse">
            <a:avLst/>
          </a:prstGeom>
          <a:solidFill>
            <a:srgbClr val="1C3F94"/>
          </a:solidFill>
          <a:ln/>
        </p:spPr>
      </p:sp>
      <p:sp>
        <p:nvSpPr>
          <p:cNvPr id="30"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Otamurodov Muhammadali</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childTnLst>
                          </p:cTn>
                        </p:par>
                      </p:childTnLst>
                    </p:cTn>
                  </p:par>
                  <p:par>
                    <p:cTn id="55" fill="hold">
                      <p:stCondLst>
                        <p:cond delay="indefinite"/>
                      </p:stCondLst>
                      <p:childTnLst>
                        <p:par>
                          <p:cTn id="56"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4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00"/>
                                        <p:tgtEl>
                                          <p:spTgt spid="25"/>
                                        </p:tgtEl>
                                      </p:cBhvr>
                                    </p:animEffect>
                                  </p:childTnLst>
                                </p:cTn>
                              </p:par>
                            </p:childTnLst>
                          </p:cTn>
                        </p:par>
                      </p:childTnLst>
                    </p:cTn>
                  </p:par>
                  <p:par>
                    <p:cTn id="66" fill="hold">
                      <p:stCondLst>
                        <p:cond delay="indefinite"/>
                      </p:stCondLst>
                      <p:childTnLst>
                        <p:par>
                          <p:cTn id="67"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11" grpId="0">
        <p:bldAsOne/>
      </p:bldGraphic>
      <p:bldP spid="12" grpId="0" animBg="1"/>
      <p:bldP spid="13" grpId="0" animBg="1"/>
      <p:bldP spid="14" grpId="0" animBg="1"/>
      <p:bldP spid="17" grpId="0" animBg="1"/>
      <p:bldP spid="18" grpId="0" animBg="1"/>
      <p:bldP spid="19" grpId="0" animBg="1"/>
      <p:bldP spid="20" grpId="0" animBg="1"/>
      <p:bldP spid="21" grpId="0" animBg="1"/>
      <p:bldGraphic spid="15" grpId="0">
        <p:bldAsOne/>
      </p:bldGraphic>
      <p:bldP spid="16" grpId="0" animBg="1"/>
      <p:bldP spid="22" grpId="0" animBg="1"/>
      <p:bldP spid="23" grpId="0" animBg="1"/>
      <p:bldP spid="24" grpId="0" animBg="1"/>
      <p:bldP spid="25" grpId="0" animBg="1"/>
      <p:bldP spid="26" grpId="0" animBg="1"/>
      <p:bldP spid="27"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rogress"/>
          <p:cNvSpPr/>
          <p:nvPr/>
        </p:nvSpPr>
        <p:spPr>
          <a:xfrm>
            <a:off x="0" y="6743700"/>
            <a:ext cx="2902785"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Xizmatlar eng tez o‘sgan tarmoq: real o‘sish yiliga o‘rtacha 2,32%</a:t>
            </a:r>
            <a:endParaRPr lang="en-US" sz="3000" dirty="0"/>
          </a:p>
        </p:txBody>
      </p:sp>
      <p:sp>
        <p:nvSpPr>
          <p:cNvPr id="4" name="lede"/>
          <p:cNvSpPr txBox="1"/>
          <p:nvPr/>
        </p:nvSpPr>
        <p:spPr>
          <a:xfrm>
            <a:off x="571500" y="1298448"/>
            <a:ext cx="8412480" cy="310896"/>
          </a:xfrm>
          <a:prstGeom prst="rect">
            <a:avLst/>
          </a:prstGeom>
          <a:noFill/>
          <a:ln/>
        </p:spPr>
        <p:txBody>
          <a:bodyPr wrap="square" lIns="0" tIns="0" rIns="0" bIns="0" rtlCol="0" anchor="ctr"/>
          <a:lstStyle/>
          <a:p>
            <a:pPr indent="0" marL="0">
              <a:buNone/>
            </a:pPr>
            <a:r>
              <a:rPr lang="en-US" sz="1400" i="1" dirty="0">
                <a:solidFill>
                  <a:schemeClr val="tx2"/>
                </a:solidFill>
              </a:rPr>
              <a:t>Xizmatlar — savdo, transport, moliya, ko‘chmas mulk, sog‘liq, ta’lim, IT, mehmonxona va davlat sektori.</a:t>
            </a:r>
            <a:endParaRPr lang="en-US" sz="1400" dirty="0"/>
          </a:p>
        </p:txBody>
      </p:sp>
      <p:sp>
        <p:nvSpPr>
          <p:cNvPr id="5"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6"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6</a:t>
            </a:r>
            <a:endParaRPr lang="en-US" sz="1100" dirty="0"/>
          </a:p>
        </p:txBody>
      </p:sp>
      <p:sp>
        <p:nvSpPr>
          <p:cNvPr id="7" name="sign-outer"/>
          <p:cNvSpPr/>
          <p:nvPr/>
        </p:nvSpPr>
        <p:spPr>
          <a:xfrm>
            <a:off x="9848088" y="566928"/>
            <a:ext cx="1810512" cy="603504"/>
          </a:xfrm>
          <a:prstGeom prst="roundRect">
            <a:avLst>
              <a:gd name="adj" fmla="val 15152"/>
            </a:avLst>
          </a:prstGeom>
          <a:solidFill>
            <a:srgbClr val="00653A"/>
          </a:solidFill>
          <a:ln/>
        </p:spPr>
      </p:sp>
      <p:sp>
        <p:nvSpPr>
          <p:cNvPr id="8"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9"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Xizmatlar</a:t>
            </a:r>
            <a:endParaRPr lang="en-US" sz="1700" dirty="0"/>
          </a:p>
        </p:txBody>
      </p:sp>
      <p:sp>
        <p:nvSpPr>
          <p:cNvPr id="10" name="sign-lane"/>
          <p:cNvSpPr/>
          <p:nvPr/>
        </p:nvSpPr>
        <p:spPr>
          <a:xfrm>
            <a:off x="9994392" y="1225296"/>
            <a:ext cx="1517904" cy="50292"/>
          </a:xfrm>
          <a:prstGeom prst="rect">
            <a:avLst/>
          </a:prstGeom>
          <a:solidFill>
            <a:srgbClr val="F59F00"/>
          </a:solidFill>
          <a:ln/>
        </p:spPr>
      </p:sp>
      <p:graphicFrame>
        <p:nvGraphicFramePr>
          <p:cNvPr id="11" name="grafik" descr=""/>
          <p:cNvGraphicFramePr/>
          <p:nvPr/>
        </p:nvGraphicFramePr>
        <p:xfrm>
          <a:off x="571500" y="2011680"/>
          <a:ext cx="6858000" cy="2240280"/>
        </p:xfrm>
        <a:graphic xmlns:a="http://schemas.openxmlformats.org/drawingml/2006/main">
          <a:graphicData uri="http://schemas.openxmlformats.org/drawingml/2006/chart">
            <c:chart xmlns:c="http://schemas.openxmlformats.org/drawingml/2006/chart" r:id="rId1"/>
          </a:graphicData>
        </a:graphic>
      </p:graphicFrame>
      <p:sp>
        <p:nvSpPr>
          <p:cNvPr id="12" name="birlik"/>
          <p:cNvSpPr txBox="1"/>
          <p:nvPr/>
        </p:nvSpPr>
        <p:spPr>
          <a:xfrm>
            <a:off x="571500" y="173736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a:t>
            </a:r>
            <a:endParaRPr lang="en-US" sz="1100" dirty="0"/>
          </a:p>
        </p:txBody>
      </p:sp>
      <p:sp>
        <p:nvSpPr>
          <p:cNvPr id="13" name="yorliq"/>
          <p:cNvSpPr txBox="1"/>
          <p:nvPr/>
        </p:nvSpPr>
        <p:spPr>
          <a:xfrm>
            <a:off x="5806440" y="2092599"/>
            <a:ext cx="2011680" cy="420624"/>
          </a:xfrm>
          <a:prstGeom prst="rect">
            <a:avLst/>
          </a:prstGeom>
          <a:noFill/>
          <a:ln/>
        </p:spPr>
        <p:txBody>
          <a:bodyPr wrap="square" lIns="0" tIns="0" rIns="0" bIns="0" rtlCol="0" anchor="ctr"/>
          <a:lstStyle/>
          <a:p>
            <a:pPr algn="l" indent="0" marL="0">
              <a:buNone/>
            </a:pPr>
            <a:r>
              <a:rPr lang="en-US" sz="1100" b="1" dirty="0">
                <a:solidFill>
                  <a:srgbClr val="B86E00"/>
                </a:solidFill>
                <a:latin typeface="+mj-lt" pitchFamily="34" charset="0"/>
                <a:ea typeface="+mj-lt" pitchFamily="34" charset="-122"/>
                <a:cs typeface="+mj-lt" pitchFamily="34" charset="-120"/>
              </a:rPr>
              <a:t>Bandlikdagi ulush</a:t>
            </a:r>
            <a:endParaRPr lang="en-US" sz="1100" dirty="0"/>
          </a:p>
          <a:p>
            <a:pPr algn="l" indent="0" marL="0">
              <a:buNone/>
            </a:pPr>
            <a:r>
              <a:rPr lang="en-US" sz="1100" b="1" dirty="0">
                <a:solidFill>
                  <a:srgbClr val="B86E00"/>
                </a:solidFill>
                <a:latin typeface="+mj-lt" pitchFamily="34" charset="0"/>
                <a:ea typeface="+mj-lt" pitchFamily="34" charset="-122"/>
                <a:cs typeface="+mj-lt" pitchFamily="34" charset="-120"/>
              </a:rPr>
              <a:t>84,6%</a:t>
            </a:r>
            <a:endParaRPr lang="en-US" sz="1100" dirty="0"/>
          </a:p>
        </p:txBody>
      </p:sp>
      <p:sp>
        <p:nvSpPr>
          <p:cNvPr id="14" name="yorliq"/>
          <p:cNvSpPr txBox="1"/>
          <p:nvPr/>
        </p:nvSpPr>
        <p:spPr>
          <a:xfrm>
            <a:off x="5806440" y="2686553"/>
            <a:ext cx="2011680" cy="420624"/>
          </a:xfrm>
          <a:prstGeom prst="rect">
            <a:avLst/>
          </a:prstGeom>
          <a:noFill/>
          <a:ln/>
        </p:spPr>
        <p:txBody>
          <a:bodyPr wrap="square" lIns="0" tIns="0" rIns="0" bIns="0" rtlCol="0" anchor="ctr"/>
          <a:lstStyle/>
          <a:p>
            <a:pPr algn="l" indent="0" marL="0">
              <a:buNone/>
            </a:pPr>
            <a:r>
              <a:rPr lang="en-US" sz="1100" b="1" dirty="0">
                <a:solidFill>
                  <a:srgbClr val="B86E00"/>
                </a:solidFill>
                <a:latin typeface="+mj-lt" pitchFamily="34" charset="0"/>
                <a:ea typeface="+mj-lt" pitchFamily="34" charset="-122"/>
                <a:cs typeface="+mj-lt" pitchFamily="34" charset="-120"/>
              </a:rPr>
              <a:t>YaIMdagi ulush</a:t>
            </a:r>
            <a:endParaRPr lang="en-US" sz="1100" dirty="0"/>
          </a:p>
          <a:p>
            <a:pPr algn="l" indent="0" marL="0">
              <a:buNone/>
            </a:pPr>
            <a:r>
              <a:rPr lang="en-US" sz="1100" b="1" dirty="0">
                <a:solidFill>
                  <a:srgbClr val="B86E00"/>
                </a:solidFill>
                <a:latin typeface="+mj-lt" pitchFamily="34" charset="0"/>
                <a:ea typeface="+mj-lt" pitchFamily="34" charset="-122"/>
                <a:cs typeface="+mj-lt" pitchFamily="34" charset="-120"/>
              </a:rPr>
              <a:t>82,4%</a:t>
            </a:r>
            <a:endParaRPr lang="en-US" sz="1100" dirty="0"/>
          </a:p>
        </p:txBody>
      </p:sp>
      <p:sp>
        <p:nvSpPr>
          <p:cNvPr id="15" name="yorliq"/>
          <p:cNvSpPr txBox="1"/>
          <p:nvPr/>
        </p:nvSpPr>
        <p:spPr>
          <a:xfrm>
            <a:off x="1095522" y="3643242"/>
            <a:ext cx="2011680" cy="237744"/>
          </a:xfrm>
          <a:prstGeom prst="rect">
            <a:avLst/>
          </a:prstGeom>
          <a:noFill/>
          <a:ln/>
        </p:spPr>
        <p:txBody>
          <a:bodyPr wrap="square" lIns="0" tIns="0" rIns="0" bIns="0" rtlCol="0" anchor="ctr"/>
          <a:lstStyle/>
          <a:p>
            <a:pPr algn="l" indent="0" marL="0">
              <a:buNone/>
            </a:pPr>
            <a:r>
              <a:rPr lang="en-US" sz="1100" b="1" dirty="0">
                <a:solidFill>
                  <a:srgbClr val="B86E00"/>
                </a:solidFill>
                <a:latin typeface="+mj-lt" pitchFamily="34" charset="0"/>
                <a:ea typeface="+mj-lt" pitchFamily="34" charset="-122"/>
                <a:cs typeface="+mj-lt" pitchFamily="34" charset="-120"/>
              </a:rPr>
              <a:t>76,6</a:t>
            </a:r>
            <a:endParaRPr lang="en-US" sz="1100" dirty="0"/>
          </a:p>
        </p:txBody>
      </p:sp>
      <p:sp>
        <p:nvSpPr>
          <p:cNvPr id="16" name="manba"/>
          <p:cNvSpPr txBox="1"/>
          <p:nvPr/>
        </p:nvSpPr>
        <p:spPr>
          <a:xfrm>
            <a:off x="571500" y="429768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a:t>
            </a:r>
            <a:endParaRPr lang="en-US" sz="1100" dirty="0"/>
          </a:p>
        </p:txBody>
      </p:sp>
      <p:graphicFrame>
        <p:nvGraphicFramePr>
          <p:cNvPr id="7" name="jadval"/>
          <p:cNvGraphicFramePr>
            <a:graphicFrameLocks noGrp="1"/>
          </p:cNvGraphicFramePr>
          <p:nvPr>
            <p:extLst>
              <p:ext uri="{D42A27DB-BD31-4B8C-83A1-F6EECF244321}">
                <p14:modId xmlns:p14="http://schemas.microsoft.com/office/powerpoint/2010/main" val="1579011935"/>
              </p:ext>
            </p:extLst>
          </p:nvPr>
        </p:nvGraphicFramePr>
        <p:xfrm>
          <a:off x="571500" y="4599432"/>
          <a:ext cx="6858000" cy="914400"/>
        </p:xfrm>
        <a:graphic>
          <a:graphicData uri="http://schemas.openxmlformats.org/drawingml/2006/table">
            <a:tbl>
              <a:tblPr/>
              <a:tblGrid>
                <a:gridCol w="2194560"/>
                <a:gridCol w="777240"/>
                <a:gridCol w="777240"/>
                <a:gridCol w="777240"/>
                <a:gridCol w="777240"/>
                <a:gridCol w="777240"/>
                <a:gridCol w="777240"/>
              </a:tblGrid>
              <a:tr h="283464">
                <a:tc>
                  <a:txBody>
                    <a:bodyPr/>
                    <a:lstStyle/>
                    <a:p>
                      <a:pPr algn="l" indent="0" marL="0">
                        <a:buNone/>
                      </a:pP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2010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2015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Qo‘shilgan qiymat, mlrd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7 850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10 142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12 004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14 764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17 547</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25 429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YaIMdagi ulush,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76,6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77,8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79,8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80,7</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82,1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82,4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Real hajm, 2000 = 100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114,8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122,6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137,2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148,4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177,5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Bandlik, mln kishi</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97,5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102,0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101,6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111,3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112,1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124,9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8" name="manba"/>
          <p:cNvSpPr txBox="1"/>
          <p:nvPr/>
        </p:nvSpPr>
        <p:spPr>
          <a:xfrm>
            <a:off x="571500" y="603504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a:t>
            </a:r>
            <a:endParaRPr lang="en-US" sz="1100" dirty="0"/>
          </a:p>
        </p:txBody>
      </p:sp>
      <p:sp>
        <p:nvSpPr>
          <p:cNvPr id="19" name="katta-raqam"/>
          <p:cNvSpPr txBox="1"/>
          <p:nvPr/>
        </p:nvSpPr>
        <p:spPr>
          <a:xfrm>
            <a:off x="7872984" y="1737360"/>
            <a:ext cx="3730752" cy="548640"/>
          </a:xfrm>
          <a:prstGeom prst="rect">
            <a:avLst/>
          </a:prstGeom>
          <a:noFill/>
          <a:ln/>
        </p:spPr>
        <p:txBody>
          <a:bodyPr wrap="square" lIns="0" tIns="0" rIns="0" bIns="0" rtlCol="0" anchor="b"/>
          <a:lstStyle/>
          <a:p>
            <a:pPr indent="0" marL="0">
              <a:buNone/>
            </a:pPr>
            <a:r>
              <a:rPr lang="en-US" sz="3600" b="1" dirty="0">
                <a:solidFill>
                  <a:srgbClr val="B86E00"/>
                </a:solidFill>
                <a:latin typeface="+mj-lt" pitchFamily="34" charset="0"/>
                <a:ea typeface="+mj-lt" pitchFamily="34" charset="-122"/>
                <a:cs typeface="+mj-lt" pitchFamily="34" charset="-120"/>
              </a:rPr>
              <a:t>+223,9%</a:t>
            </a:r>
            <a:endParaRPr lang="en-US" sz="3600" dirty="0"/>
          </a:p>
        </p:txBody>
      </p:sp>
      <p:sp>
        <p:nvSpPr>
          <p:cNvPr id="20" name="katta-raqam-izoh"/>
          <p:cNvSpPr txBox="1"/>
          <p:nvPr/>
        </p:nvSpPr>
        <p:spPr>
          <a:xfrm>
            <a:off x="7872984" y="2322576"/>
            <a:ext cx="3730752"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qo‘shilgan qiymat: 7 850 → 25 429 mlrd $</a:t>
            </a:r>
            <a:endParaRPr lang="en-US" sz="1200" dirty="0"/>
          </a:p>
        </p:txBody>
      </p:sp>
      <p:sp>
        <p:nvSpPr>
          <p:cNvPr id="21" name="katta-raqam"/>
          <p:cNvSpPr txBox="1"/>
          <p:nvPr/>
        </p:nvSpPr>
        <p:spPr>
          <a:xfrm>
            <a:off x="7872984" y="2743200"/>
            <a:ext cx="3730752" cy="457200"/>
          </a:xfrm>
          <a:prstGeom prst="rect">
            <a:avLst/>
          </a:prstGeom>
          <a:noFill/>
          <a:ln/>
        </p:spPr>
        <p:txBody>
          <a:bodyPr wrap="square" lIns="0" tIns="0" rIns="0" bIns="0" rtlCol="0" anchor="b"/>
          <a:lstStyle/>
          <a:p>
            <a:pPr indent="0" marL="0">
              <a:buNone/>
            </a:pPr>
            <a:r>
              <a:rPr lang="en-US" sz="3000" b="1" dirty="0">
                <a:solidFill>
                  <a:srgbClr val="B86E00"/>
                </a:solidFill>
                <a:latin typeface="+mj-lt" pitchFamily="34" charset="0"/>
                <a:ea typeface="+mj-lt" pitchFamily="34" charset="-122"/>
                <a:cs typeface="+mj-lt" pitchFamily="34" charset="-120"/>
              </a:rPr>
              <a:t>84,6%</a:t>
            </a:r>
            <a:endParaRPr lang="en-US" sz="3000" dirty="0"/>
          </a:p>
        </p:txBody>
      </p:sp>
      <p:sp>
        <p:nvSpPr>
          <p:cNvPr id="22" name="katta-raqam-izoh"/>
          <p:cNvSpPr txBox="1"/>
          <p:nvPr/>
        </p:nvSpPr>
        <p:spPr>
          <a:xfrm>
            <a:off x="7872984" y="3236976"/>
            <a:ext cx="3730752"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bandlikdagi ulush, 2025</a:t>
            </a:r>
            <a:endParaRPr lang="en-US" sz="1200" dirty="0"/>
          </a:p>
        </p:txBody>
      </p:sp>
      <p:sp>
        <p:nvSpPr>
          <p:cNvPr id="23" name="nega-belgi"/>
          <p:cNvSpPr/>
          <p:nvPr/>
        </p:nvSpPr>
        <p:spPr>
          <a:xfrm>
            <a:off x="7872984" y="3621024"/>
            <a:ext cx="274320" cy="274320"/>
          </a:xfrm>
          <a:prstGeom prst="diamond">
            <a:avLst/>
          </a:prstGeom>
          <a:solidFill>
            <a:srgbClr val="F5C400"/>
          </a:solidFill>
          <a:ln w="19050">
            <a:solidFill>
              <a:srgbClr val="141414"/>
            </a:solidFill>
            <a:prstDash val="solid"/>
          </a:ln>
        </p:spPr>
      </p:sp>
      <p:sp>
        <p:nvSpPr>
          <p:cNvPr id="24" name="nega-belgi-matn"/>
          <p:cNvSpPr txBox="1"/>
          <p:nvPr/>
        </p:nvSpPr>
        <p:spPr>
          <a:xfrm>
            <a:off x="7872984" y="362102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25" name="nega-sarlavha"/>
          <p:cNvSpPr txBox="1"/>
          <p:nvPr/>
        </p:nvSpPr>
        <p:spPr>
          <a:xfrm>
            <a:off x="8238744" y="361188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26" name="nega-matn"/>
          <p:cNvSpPr txBox="1"/>
          <p:nvPr/>
        </p:nvSpPr>
        <p:spPr>
          <a:xfrm>
            <a:off x="7872984" y="3995928"/>
            <a:ext cx="3730752" cy="146304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Odamlar boyigan sari pulni ko‘proq xizmatlarga sarflaydi. Shifokor, o‘qituvchi yoki sotuvchini mashina bilan almashtirish qiyin, shuning uchun o‘sish ish o‘rni bilan birga keladi: real o‘sgan 23 yilning 22 tasida bandlik ham oshdi.</a:t>
            </a:r>
            <a:endParaRPr lang="en-US" sz="1300" dirty="0"/>
          </a:p>
        </p:txBody>
      </p:sp>
      <p:sp>
        <p:nvSpPr>
          <p:cNvPr id="27" name="anglatadi-chiziq"/>
          <p:cNvSpPr/>
          <p:nvPr/>
        </p:nvSpPr>
        <p:spPr>
          <a:xfrm>
            <a:off x="7872984" y="5440680"/>
            <a:ext cx="64008" cy="685800"/>
          </a:xfrm>
          <a:prstGeom prst="rect">
            <a:avLst/>
          </a:prstGeom>
          <a:solidFill>
            <a:srgbClr val="F59F00"/>
          </a:solidFill>
          <a:ln/>
        </p:spPr>
      </p:sp>
      <p:sp>
        <p:nvSpPr>
          <p:cNvPr id="28" name="anglatadi-sarlavha"/>
          <p:cNvSpPr txBox="1"/>
          <p:nvPr/>
        </p:nvSpPr>
        <p:spPr>
          <a:xfrm>
            <a:off x="8074152" y="545896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29" name="anglatadi-matn"/>
          <p:cNvSpPr txBox="1"/>
          <p:nvPr/>
        </p:nvSpPr>
        <p:spPr>
          <a:xfrm>
            <a:off x="8074152" y="5715000"/>
            <a:ext cx="3529584" cy="39319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AQSh mehnat bozori endi asosan xizmatlar bozori.</a:t>
            </a:r>
            <a:endParaRPr lang="en-US" sz="1700" dirty="0"/>
          </a:p>
        </p:txBody>
      </p:sp>
      <p:sp>
        <p:nvSpPr>
          <p:cNvPr id="30" name="speaker-dot"/>
          <p:cNvSpPr/>
          <p:nvPr/>
        </p:nvSpPr>
        <p:spPr>
          <a:xfrm>
            <a:off x="571500" y="6336792"/>
            <a:ext cx="77724" cy="77724"/>
          </a:xfrm>
          <a:prstGeom prst="ellipse">
            <a:avLst/>
          </a:prstGeom>
          <a:solidFill>
            <a:srgbClr val="F59F00"/>
          </a:solidFill>
          <a:ln/>
        </p:spPr>
      </p:sp>
      <p:sp>
        <p:nvSpPr>
          <p:cNvPr id="31"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Qahramonov Zafarbek</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400"/>
                                        <p:tgtEl>
                                          <p:spTgt spid="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childTnLst>
                          </p:cTn>
                        </p:par>
                      </p:childTnLst>
                    </p:cTn>
                  </p:par>
                  <p:par>
                    <p:cTn id="55" fill="hold">
                      <p:stCondLst>
                        <p:cond delay="indefinite"/>
                      </p:stCondLst>
                      <p:childTnLst>
                        <p:par>
                          <p:cTn id="56"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00"/>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00"/>
                                        <p:tgtEl>
                                          <p:spTgt spid="26"/>
                                        </p:tgtEl>
                                      </p:cBhvr>
                                    </p:animEffect>
                                  </p:childTnLst>
                                </p:cTn>
                              </p:par>
                            </p:childTnLst>
                          </p:cTn>
                        </p:par>
                      </p:childTnLst>
                    </p:cTn>
                  </p:par>
                  <p:par>
                    <p:cTn id="66" fill="hold">
                      <p:stCondLst>
                        <p:cond delay="indefinite"/>
                      </p:stCondLst>
                      <p:childTnLst>
                        <p:par>
                          <p:cTn id="67"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P spid="12" grpId="0" animBg="1"/>
      <p:bldP spid="13" grpId="0" animBg="1"/>
      <p:bldP spid="14" grpId="0" animBg="1"/>
      <p:bldP spid="15" grpId="0" animBg="1"/>
      <p:bldP spid="16" grpId="0" animBg="1"/>
      <p:bldP spid="19" grpId="0" animBg="1"/>
      <p:bldP spid="20" grpId="0" animBg="1"/>
      <p:bldP spid="21" grpId="0" animBg="1"/>
      <p:bldP spid="22" grpId="0" animBg="1"/>
      <p:bldGraphic spid="7" grpId="0">
        <p:bldAsOne/>
      </p:bldGraphic>
      <p:bldP spid="18" grpId="0" animBg="1"/>
      <p:bldP spid="23" grpId="0" animBg="1"/>
      <p:bldP spid="24" grpId="0" animBg="1"/>
      <p:bldP spid="25" grpId="0" animBg="1"/>
      <p:bldP spid="26" grpId="0" animBg="1"/>
      <p:bldP spid="27" grpId="0" animBg="1"/>
      <p:bldP spid="28" grpId="0" animBg="1"/>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rogress"/>
          <p:cNvSpPr/>
          <p:nvPr/>
        </p:nvSpPr>
        <p:spPr>
          <a:xfrm>
            <a:off x="0" y="6743700"/>
            <a:ext cx="3483341"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Internet xizmatlarni o‘stirdi, pandemiya esa ularni bir oyda keskin qisqartirdi</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7</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Xizmatlar</a:t>
            </a:r>
            <a:endParaRPr lang="en-US" sz="1700" dirty="0"/>
          </a:p>
        </p:txBody>
      </p:sp>
      <p:sp>
        <p:nvSpPr>
          <p:cNvPr id="9" name="sign-lane"/>
          <p:cNvSpPr/>
          <p:nvPr/>
        </p:nvSpPr>
        <p:spPr>
          <a:xfrm>
            <a:off x="9994392" y="1225296"/>
            <a:ext cx="1517904" cy="50292"/>
          </a:xfrm>
          <a:prstGeom prst="rect">
            <a:avLst/>
          </a:prstGeom>
          <a:solidFill>
            <a:srgbClr val="F59F00"/>
          </a:solidFill>
          <a:ln/>
        </p:spPr>
      </p:sp>
      <p:sp>
        <p:nvSpPr>
          <p:cNvPr id="10" name="birlik"/>
          <p:cNvSpPr txBox="1"/>
          <p:nvPr/>
        </p:nvSpPr>
        <p:spPr>
          <a:xfrm>
            <a:off x="571500" y="160020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bandlik, mln kishi (o‘q 80 dan boshlanadi)</a:t>
            </a:r>
            <a:endParaRPr lang="en-US" sz="1100" dirty="0"/>
          </a:p>
        </p:txBody>
      </p:sp>
      <p:graphicFrame>
        <p:nvGraphicFramePr>
          <p:cNvPr id="11" name="grafik" descr=""/>
          <p:cNvGraphicFramePr/>
          <p:nvPr/>
        </p:nvGraphicFramePr>
        <p:xfrm>
          <a:off x="571500" y="1874520"/>
          <a:ext cx="6858000" cy="388620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2020" descr=""/>
          <p:cNvGraphicFramePr/>
          <p:nvPr/>
        </p:nvGraphicFramePr>
        <p:xfrm>
          <a:off x="571500" y="1874520"/>
          <a:ext cx="6858000" cy="3886200"/>
        </p:xfrm>
        <a:graphic xmlns:a="http://schemas.openxmlformats.org/drawingml/2006/main">
          <a:graphicData uri="http://schemas.openxmlformats.org/drawingml/2006/chart">
            <c:chart xmlns:c="http://schemas.openxmlformats.org/drawingml/2006/chart" r:id="rId2"/>
          </a:graphicData>
        </a:graphic>
      </p:graphicFrame>
      <p:sp>
        <p:nvSpPr>
          <p:cNvPr id="13" name="yorliq"/>
          <p:cNvSpPr txBox="1"/>
          <p:nvPr/>
        </p:nvSpPr>
        <p:spPr>
          <a:xfrm>
            <a:off x="1061847" y="3943880"/>
            <a:ext cx="2011680" cy="237744"/>
          </a:xfrm>
          <a:prstGeom prst="rect">
            <a:avLst/>
          </a:prstGeom>
          <a:noFill/>
          <a:ln/>
        </p:spPr>
        <p:txBody>
          <a:bodyPr wrap="square" lIns="0" tIns="0" rIns="0" bIns="0" rtlCol="0" anchor="ctr"/>
          <a:lstStyle/>
          <a:p>
            <a:pPr algn="l" indent="0" marL="0">
              <a:buNone/>
            </a:pPr>
            <a:r>
              <a:rPr lang="en-US" sz="1100" b="1" dirty="0">
                <a:solidFill>
                  <a:srgbClr val="141414"/>
                </a:solidFill>
                <a:latin typeface="+mj-lt" pitchFamily="34" charset="0"/>
                <a:ea typeface="+mj-lt" pitchFamily="34" charset="-122"/>
                <a:cs typeface="+mj-lt" pitchFamily="34" charset="-120"/>
              </a:rPr>
              <a:t>97,5</a:t>
            </a:r>
            <a:endParaRPr lang="en-US" sz="1100" dirty="0"/>
          </a:p>
        </p:txBody>
      </p:sp>
      <p:sp>
        <p:nvSpPr>
          <p:cNvPr id="14" name="izoh-chiziq"/>
          <p:cNvSpPr/>
          <p:nvPr/>
        </p:nvSpPr>
        <p:spPr>
          <a:xfrm>
            <a:off x="5972175" y="2527127"/>
            <a:ext cx="0" cy="656006"/>
          </a:xfrm>
          <a:prstGeom prst="line">
            <a:avLst/>
          </a:prstGeom>
          <a:noFill/>
          <a:ln w="15875">
            <a:solidFill>
              <a:srgbClr val="C92A2A"/>
            </a:solidFill>
            <a:prstDash val="solid"/>
          </a:ln>
        </p:spPr>
      </p:sp>
      <p:sp>
        <p:nvSpPr>
          <p:cNvPr id="15" name="yorliq"/>
          <p:cNvSpPr txBox="1"/>
          <p:nvPr/>
        </p:nvSpPr>
        <p:spPr>
          <a:xfrm>
            <a:off x="4070223" y="2316815"/>
            <a:ext cx="2011680" cy="237744"/>
          </a:xfrm>
          <a:prstGeom prst="rect">
            <a:avLst/>
          </a:prstGeom>
          <a:noFill/>
          <a:ln/>
        </p:spPr>
        <p:txBody>
          <a:bodyPr wrap="square" lIns="0" tIns="0" rIns="0" bIns="0" rtlCol="0" anchor="ctr"/>
          <a:lstStyle/>
          <a:p>
            <a:pPr algn="r" indent="0" marL="0">
              <a:buNone/>
            </a:pPr>
            <a:r>
              <a:rPr lang="en-US" sz="1100" b="1" dirty="0">
                <a:solidFill>
                  <a:srgbClr val="C92A2A"/>
                </a:solidFill>
                <a:latin typeface="+mj-lt" pitchFamily="34" charset="0"/>
                <a:ea typeface="+mj-lt" pitchFamily="34" charset="-122"/>
                <a:cs typeface="+mj-lt" pitchFamily="34" charset="-120"/>
              </a:rPr>
              <a:t>2020: pandemiya</a:t>
            </a:r>
            <a:endParaRPr lang="en-US" sz="1100" dirty="0"/>
          </a:p>
        </p:txBody>
      </p:sp>
      <p:sp>
        <p:nvSpPr>
          <p:cNvPr id="16" name="izoh-chiziq"/>
          <p:cNvSpPr/>
          <p:nvPr/>
        </p:nvSpPr>
        <p:spPr>
          <a:xfrm>
            <a:off x="6212205" y="2216076"/>
            <a:ext cx="0" cy="713550"/>
          </a:xfrm>
          <a:prstGeom prst="line">
            <a:avLst/>
          </a:prstGeom>
          <a:noFill/>
          <a:ln w="15875">
            <a:solidFill>
              <a:srgbClr val="141414"/>
            </a:solidFill>
            <a:prstDash val="solid"/>
          </a:ln>
        </p:spPr>
      </p:sp>
      <p:sp>
        <p:nvSpPr>
          <p:cNvPr id="17" name="yorliq"/>
          <p:cNvSpPr txBox="1"/>
          <p:nvPr/>
        </p:nvSpPr>
        <p:spPr>
          <a:xfrm>
            <a:off x="6102477" y="2005764"/>
            <a:ext cx="1737360" cy="237744"/>
          </a:xfrm>
          <a:prstGeom prst="rect">
            <a:avLst/>
          </a:prstGeom>
          <a:noFill/>
          <a:ln/>
        </p:spPr>
        <p:txBody>
          <a:bodyPr wrap="square" lIns="0" tIns="0" rIns="0" bIns="0" rtlCol="0" anchor="ctr"/>
          <a:lstStyle/>
          <a:p>
            <a:pPr algn="l" indent="0" marL="0">
              <a:buNone/>
            </a:pPr>
            <a:r>
              <a:rPr lang="en-US" sz="1100" b="1" dirty="0">
                <a:solidFill>
                  <a:srgbClr val="141414"/>
                </a:solidFill>
                <a:latin typeface="+mj-lt" pitchFamily="34" charset="0"/>
                <a:ea typeface="+mj-lt" pitchFamily="34" charset="-122"/>
                <a:cs typeface="+mj-lt" pitchFamily="34" charset="-120"/>
              </a:rPr>
              <a:t>2021: real +6,7%</a:t>
            </a:r>
            <a:endParaRPr lang="en-US" sz="1100" dirty="0"/>
          </a:p>
        </p:txBody>
      </p:sp>
      <p:sp>
        <p:nvSpPr>
          <p:cNvPr id="18" name="manba"/>
          <p:cNvSpPr txBox="1"/>
          <p:nvPr/>
        </p:nvSpPr>
        <p:spPr>
          <a:xfrm>
            <a:off x="571500" y="5815584"/>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[2]</a:t>
            </a:r>
            <a:endParaRPr lang="en-US" sz="1100" dirty="0"/>
          </a:p>
        </p:txBody>
      </p:sp>
      <p:sp>
        <p:nvSpPr>
          <p:cNvPr id="19" name="katta-raqam"/>
          <p:cNvSpPr txBox="1"/>
          <p:nvPr/>
        </p:nvSpPr>
        <p:spPr>
          <a:xfrm>
            <a:off x="7872984" y="1481328"/>
            <a:ext cx="3730752" cy="548640"/>
          </a:xfrm>
          <a:prstGeom prst="rect">
            <a:avLst/>
          </a:prstGeom>
          <a:noFill/>
          <a:ln/>
        </p:spPr>
        <p:txBody>
          <a:bodyPr wrap="square" lIns="0" tIns="0" rIns="0" bIns="0" rtlCol="0" anchor="b"/>
          <a:lstStyle/>
          <a:p>
            <a:pPr indent="0" marL="0">
              <a:buNone/>
            </a:pPr>
            <a:r>
              <a:rPr lang="en-US" sz="3600" b="1" dirty="0">
                <a:solidFill>
                  <a:srgbClr val="C92A2A"/>
                </a:solidFill>
                <a:latin typeface="+mj-lt" pitchFamily="34" charset="0"/>
                <a:ea typeface="+mj-lt" pitchFamily="34" charset="-122"/>
                <a:cs typeface="+mj-lt" pitchFamily="34" charset="-120"/>
              </a:rPr>
              <a:t>−20,5 mln</a:t>
            </a:r>
            <a:endParaRPr lang="en-US" sz="3600" dirty="0"/>
          </a:p>
        </p:txBody>
      </p:sp>
      <p:sp>
        <p:nvSpPr>
          <p:cNvPr id="20" name="katta-raqam-izoh"/>
          <p:cNvSpPr txBox="1"/>
          <p:nvPr/>
        </p:nvSpPr>
        <p:spPr>
          <a:xfrm>
            <a:off x="7872984" y="2066544"/>
            <a:ext cx="3730752"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ish o‘rni, faqat 2020-yil aprelida [7]</a:t>
            </a:r>
            <a:endParaRPr lang="en-US" sz="1200" dirty="0"/>
          </a:p>
        </p:txBody>
      </p:sp>
      <p:sp>
        <p:nvSpPr>
          <p:cNvPr id="21" name="nega-belgi"/>
          <p:cNvSpPr/>
          <p:nvPr/>
        </p:nvSpPr>
        <p:spPr>
          <a:xfrm>
            <a:off x="7872984" y="2615184"/>
            <a:ext cx="274320" cy="274320"/>
          </a:xfrm>
          <a:prstGeom prst="diamond">
            <a:avLst/>
          </a:prstGeom>
          <a:solidFill>
            <a:srgbClr val="F5C400"/>
          </a:solidFill>
          <a:ln w="19050">
            <a:solidFill>
              <a:srgbClr val="141414"/>
            </a:solidFill>
            <a:prstDash val="solid"/>
          </a:ln>
        </p:spPr>
      </p:sp>
      <p:sp>
        <p:nvSpPr>
          <p:cNvPr id="22" name="nega-belgi-matn"/>
          <p:cNvSpPr txBox="1"/>
          <p:nvPr/>
        </p:nvSpPr>
        <p:spPr>
          <a:xfrm>
            <a:off x="7872984" y="261518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23" name="nega-sarlavha"/>
          <p:cNvSpPr txBox="1"/>
          <p:nvPr/>
        </p:nvSpPr>
        <p:spPr>
          <a:xfrm>
            <a:off x="8238744" y="260604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24" name="nega-matn"/>
          <p:cNvSpPr txBox="1"/>
          <p:nvPr/>
        </p:nvSpPr>
        <p:spPr>
          <a:xfrm>
            <a:off x="7872984" y="2990088"/>
            <a:ext cx="3730752" cy="237744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chemeClr val="tx1"/>
                </a:solidFill>
              </a:rPr>
              <a:t>Keng polosali internet: kattalarning 1% → 78% ida [11].</a:t>
            </a:r>
            <a:endParaRPr lang="en-US" sz="1300" dirty="0"/>
          </a:p>
          <a:p>
            <a:pPr marL="177800" indent="-177800">
              <a:lnSpc>
                <a:spcPct val="105000"/>
              </a:lnSpc>
              <a:spcAft>
                <a:spcPts val="600"/>
              </a:spcAft>
              <a:buSzPct val="100000"/>
              <a:buChar char="•"/>
            </a:pPr>
            <a:r>
              <a:rPr lang="en-US" sz="1300" dirty="0">
                <a:solidFill>
                  <a:schemeClr val="tx1"/>
                </a:solidFill>
              </a:rPr>
              <a:t>Elektron savdo: chakana savdodagi ulushi 0,7% → 16,4% [10].</a:t>
            </a:r>
            <a:endParaRPr lang="en-US" sz="1300" dirty="0"/>
          </a:p>
          <a:p>
            <a:pPr marL="177800" indent="-177800">
              <a:lnSpc>
                <a:spcPct val="105000"/>
              </a:lnSpc>
              <a:spcAft>
                <a:spcPts val="600"/>
              </a:spcAft>
              <a:buSzPct val="100000"/>
              <a:buChar char="•"/>
            </a:pPr>
            <a:r>
              <a:rPr lang="en-US" sz="1300" dirty="0">
                <a:solidFill>
                  <a:schemeClr val="tx1"/>
                </a:solidFill>
              </a:rPr>
              <a:t>Axborot sohasi 471 → 1 766 mlrd $; yetkazib beruvchi transport ×3,3 [1].</a:t>
            </a:r>
            <a:endParaRPr lang="en-US" sz="1300" dirty="0"/>
          </a:p>
          <a:p>
            <a:pPr marL="177800" indent="-177800">
              <a:lnSpc>
                <a:spcPct val="105000"/>
              </a:lnSpc>
              <a:spcAft>
                <a:spcPts val="600"/>
              </a:spcAft>
              <a:buSzPct val="100000"/>
              <a:buChar char="•"/>
            </a:pPr>
            <a:r>
              <a:rPr lang="en-US" sz="1300" dirty="0">
                <a:solidFill>
                  <a:schemeClr val="tx1"/>
                </a:solidFill>
              </a:rPr>
              <a:t>Tiklanish ham tez bo‘ldi: 2021-yilda real o‘sish +6,7%.</a:t>
            </a:r>
            <a:endParaRPr lang="en-US" sz="1300" dirty="0"/>
          </a:p>
        </p:txBody>
      </p:sp>
      <p:sp>
        <p:nvSpPr>
          <p:cNvPr id="25" name="anglatadi-chiziq"/>
          <p:cNvSpPr/>
          <p:nvPr/>
        </p:nvSpPr>
        <p:spPr>
          <a:xfrm>
            <a:off x="7872984" y="5230368"/>
            <a:ext cx="64008" cy="868680"/>
          </a:xfrm>
          <a:prstGeom prst="rect">
            <a:avLst/>
          </a:prstGeom>
          <a:solidFill>
            <a:srgbClr val="F59F00"/>
          </a:solidFill>
          <a:ln/>
        </p:spPr>
      </p:sp>
      <p:sp>
        <p:nvSpPr>
          <p:cNvPr id="26" name="anglatadi-sarlavha"/>
          <p:cNvSpPr txBox="1"/>
          <p:nvPr/>
        </p:nvSpPr>
        <p:spPr>
          <a:xfrm>
            <a:off x="8074152" y="5248656"/>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27" name="anglatadi-matn"/>
          <p:cNvSpPr txBox="1"/>
          <p:nvPr/>
        </p:nvSpPr>
        <p:spPr>
          <a:xfrm>
            <a:off x="8074152" y="5504688"/>
            <a:ext cx="3529584" cy="5760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Xizmatlar eng ko‘p ish o‘rni beradi, lekin inqirozga eng sezgir.</a:t>
            </a:r>
            <a:endParaRPr lang="en-US" sz="1700" dirty="0"/>
          </a:p>
        </p:txBody>
      </p:sp>
      <p:sp>
        <p:nvSpPr>
          <p:cNvPr id="28" name="speaker-dot"/>
          <p:cNvSpPr/>
          <p:nvPr/>
        </p:nvSpPr>
        <p:spPr>
          <a:xfrm>
            <a:off x="571500" y="6336792"/>
            <a:ext cx="77724" cy="77724"/>
          </a:xfrm>
          <a:prstGeom prst="ellipse">
            <a:avLst/>
          </a:prstGeom>
          <a:solidFill>
            <a:srgbClr val="F59F00"/>
          </a:solidFill>
          <a:ln/>
        </p:spPr>
      </p:sp>
      <p:sp>
        <p:nvSpPr>
          <p:cNvPr id="29"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Qahramonov Zafarbek</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childTnLst>
                          </p:cTn>
                        </p:par>
                      </p:childTnLst>
                    </p:cTn>
                  </p:par>
                  <p:par>
                    <p:cTn id="38" fill="hold">
                      <p:stCondLst>
                        <p:cond delay="indefinite"/>
                      </p:stCondLst>
                      <p:childTnLst>
                        <p:par>
                          <p:cTn id="39"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childTnLst>
                          </p:cTn>
                        </p:par>
                      </p:childTnLst>
                    </p:cTn>
                  </p:par>
                  <p:par>
                    <p:cTn id="52" fill="hold">
                      <p:stCondLst>
                        <p:cond delay="indefinite"/>
                      </p:stCondLst>
                      <p:childTnLst>
                        <p:par>
                          <p:cTn id="53"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4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00"/>
                                        <p:tgtEl>
                                          <p:spTgt spid="24"/>
                                        </p:tgtEl>
                                      </p:cBhvr>
                                    </p:animEffect>
                                  </p:childTnLst>
                                </p:cTn>
                              </p:par>
                            </p:childTnLst>
                          </p:cTn>
                        </p:par>
                      </p:childTnLst>
                    </p:cTn>
                  </p:par>
                  <p:par>
                    <p:cTn id="63" fill="hold">
                      <p:stCondLst>
                        <p:cond delay="indefinite"/>
                      </p:stCondLst>
                      <p:childTnLst>
                        <p:par>
                          <p:cTn id="64"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11" grpId="0">
        <p:bldAsOne/>
      </p:bldGraphic>
      <p:bldP spid="13" grpId="0" animBg="1"/>
      <p:bldP spid="18" grpId="0" animBg="1"/>
      <p:bldGraphic spid="12" grpId="0">
        <p:bldAsOne/>
      </p:bldGraphic>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rogress"/>
          <p:cNvSpPr/>
          <p:nvPr/>
        </p:nvSpPr>
        <p:spPr>
          <a:xfrm>
            <a:off x="0" y="6743700"/>
            <a:ext cx="4063898"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Qishloq xo‘jaligi YaIMning atigi 0,83% ini beradi, lekin butun mamlakatni boqadi</a:t>
            </a:r>
            <a:endParaRPr lang="en-US" sz="3000" dirty="0"/>
          </a:p>
        </p:txBody>
      </p:sp>
      <p:sp>
        <p:nvSpPr>
          <p:cNvPr id="4" name="lede"/>
          <p:cNvSpPr txBox="1"/>
          <p:nvPr/>
        </p:nvSpPr>
        <p:spPr>
          <a:xfrm>
            <a:off x="571500" y="1298448"/>
            <a:ext cx="8412480" cy="310896"/>
          </a:xfrm>
          <a:prstGeom prst="rect">
            <a:avLst/>
          </a:prstGeom>
          <a:noFill/>
          <a:ln/>
        </p:spPr>
        <p:txBody>
          <a:bodyPr wrap="square" lIns="0" tIns="0" rIns="0" bIns="0" rtlCol="0" anchor="ctr"/>
          <a:lstStyle/>
          <a:p>
            <a:pPr indent="0" marL="0">
              <a:buNone/>
            </a:pPr>
            <a:r>
              <a:rPr lang="en-US" sz="1400" i="1" dirty="0">
                <a:solidFill>
                  <a:schemeClr val="tx2"/>
                </a:solidFill>
              </a:rPr>
              <a:t>Qishloq xo‘jaligi — dehqonchilik, chorvachilik, o‘rmon va baliq xo‘jaligi.</a:t>
            </a:r>
            <a:endParaRPr lang="en-US" sz="1400" dirty="0"/>
          </a:p>
        </p:txBody>
      </p:sp>
      <p:sp>
        <p:nvSpPr>
          <p:cNvPr id="5"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6"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8</a:t>
            </a:r>
            <a:endParaRPr lang="en-US" sz="1100" dirty="0"/>
          </a:p>
        </p:txBody>
      </p:sp>
      <p:sp>
        <p:nvSpPr>
          <p:cNvPr id="7" name="sign-outer"/>
          <p:cNvSpPr/>
          <p:nvPr/>
        </p:nvSpPr>
        <p:spPr>
          <a:xfrm>
            <a:off x="8997696" y="566928"/>
            <a:ext cx="2660904" cy="603504"/>
          </a:xfrm>
          <a:prstGeom prst="roundRect">
            <a:avLst>
              <a:gd name="adj" fmla="val 15152"/>
            </a:avLst>
          </a:prstGeom>
          <a:solidFill>
            <a:srgbClr val="00653A"/>
          </a:solidFill>
          <a:ln/>
        </p:spPr>
      </p:sp>
      <p:sp>
        <p:nvSpPr>
          <p:cNvPr id="8" name="sign-panel"/>
          <p:cNvSpPr/>
          <p:nvPr/>
        </p:nvSpPr>
        <p:spPr>
          <a:xfrm>
            <a:off x="9034272" y="603504"/>
            <a:ext cx="2587752" cy="530352"/>
          </a:xfrm>
          <a:prstGeom prst="roundRect">
            <a:avLst>
              <a:gd name="adj" fmla="val 13793"/>
            </a:avLst>
          </a:prstGeom>
          <a:solidFill>
            <a:srgbClr val="00653A"/>
          </a:solidFill>
          <a:ln w="25400">
            <a:solidFill>
              <a:srgbClr val="FFFFFF"/>
            </a:solidFill>
            <a:prstDash val="solid"/>
          </a:ln>
        </p:spPr>
      </p:sp>
      <p:sp>
        <p:nvSpPr>
          <p:cNvPr id="9" name="sign-name"/>
          <p:cNvSpPr txBox="1"/>
          <p:nvPr/>
        </p:nvSpPr>
        <p:spPr>
          <a:xfrm>
            <a:off x="9034272" y="603504"/>
            <a:ext cx="25877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Qishloq xo‘jaligi</a:t>
            </a:r>
            <a:endParaRPr lang="en-US" sz="1700" dirty="0"/>
          </a:p>
        </p:txBody>
      </p:sp>
      <p:sp>
        <p:nvSpPr>
          <p:cNvPr id="10" name="sign-lane"/>
          <p:cNvSpPr/>
          <p:nvPr/>
        </p:nvSpPr>
        <p:spPr>
          <a:xfrm>
            <a:off x="9144000" y="1225296"/>
            <a:ext cx="2368296" cy="50292"/>
          </a:xfrm>
          <a:prstGeom prst="rect">
            <a:avLst/>
          </a:prstGeom>
          <a:solidFill>
            <a:srgbClr val="2F9E44"/>
          </a:solidFill>
          <a:ln/>
        </p:spPr>
      </p:sp>
      <p:graphicFrame>
        <p:nvGraphicFramePr>
          <p:cNvPr id="11" name="grafik" descr=""/>
          <p:cNvGraphicFramePr/>
          <p:nvPr/>
        </p:nvGraphicFramePr>
        <p:xfrm>
          <a:off x="571500" y="2011680"/>
          <a:ext cx="6858000" cy="2240280"/>
        </p:xfrm>
        <a:graphic xmlns:a="http://schemas.openxmlformats.org/drawingml/2006/main">
          <a:graphicData uri="http://schemas.openxmlformats.org/drawingml/2006/chart">
            <c:chart xmlns:c="http://schemas.openxmlformats.org/drawingml/2006/chart" r:id="rId1"/>
          </a:graphicData>
        </a:graphic>
      </p:graphicFrame>
      <p:sp>
        <p:nvSpPr>
          <p:cNvPr id="12" name="birlik"/>
          <p:cNvSpPr txBox="1"/>
          <p:nvPr/>
        </p:nvSpPr>
        <p:spPr>
          <a:xfrm>
            <a:off x="571500" y="173736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indeks, 2000 = 100</a:t>
            </a:r>
            <a:endParaRPr lang="en-US" sz="1100" dirty="0"/>
          </a:p>
        </p:txBody>
      </p:sp>
      <p:sp>
        <p:nvSpPr>
          <p:cNvPr id="13" name="yorliq"/>
          <p:cNvSpPr txBox="1"/>
          <p:nvPr/>
        </p:nvSpPr>
        <p:spPr>
          <a:xfrm>
            <a:off x="6012180" y="2365740"/>
            <a:ext cx="2011680" cy="420624"/>
          </a:xfrm>
          <a:prstGeom prst="rect">
            <a:avLst/>
          </a:prstGeom>
          <a:noFill/>
          <a:ln/>
        </p:spPr>
        <p:txBody>
          <a:bodyPr wrap="square" lIns="0" tIns="0" rIns="0" bIns="0" rtlCol="0" anchor="ctr"/>
          <a:lstStyle/>
          <a:p>
            <a:pPr algn="l" indent="0" marL="0">
              <a:buNone/>
            </a:pPr>
            <a:r>
              <a:rPr lang="en-US" sz="1100" b="1" dirty="0">
                <a:solidFill>
                  <a:srgbClr val="237A34"/>
                </a:solidFill>
                <a:latin typeface="+mj-lt" pitchFamily="34" charset="0"/>
                <a:ea typeface="+mj-lt" pitchFamily="34" charset="-122"/>
                <a:cs typeface="+mj-lt" pitchFamily="34" charset="-120"/>
              </a:rPr>
              <a:t>Joriy narxda</a:t>
            </a:r>
            <a:endParaRPr lang="en-US" sz="1100" dirty="0"/>
          </a:p>
          <a:p>
            <a:pPr algn="l" indent="0" marL="0">
              <a:buNone/>
            </a:pPr>
            <a:r>
              <a:rPr lang="en-US" sz="1100" b="1" dirty="0">
                <a:solidFill>
                  <a:srgbClr val="237A34"/>
                </a:solidFill>
                <a:latin typeface="+mj-lt" pitchFamily="34" charset="0"/>
                <a:ea typeface="+mj-lt" pitchFamily="34" charset="-122"/>
                <a:cs typeface="+mj-lt" pitchFamily="34" charset="-120"/>
              </a:rPr>
              <a:t>+158,7%</a:t>
            </a:r>
            <a:endParaRPr lang="en-US" sz="1100" dirty="0"/>
          </a:p>
        </p:txBody>
      </p:sp>
      <p:sp>
        <p:nvSpPr>
          <p:cNvPr id="14" name="yorliq"/>
          <p:cNvSpPr txBox="1"/>
          <p:nvPr/>
        </p:nvSpPr>
        <p:spPr>
          <a:xfrm>
            <a:off x="6012180" y="3534479"/>
            <a:ext cx="2011680" cy="420624"/>
          </a:xfrm>
          <a:prstGeom prst="rect">
            <a:avLst/>
          </a:prstGeom>
          <a:noFill/>
          <a:ln/>
        </p:spPr>
        <p:txBody>
          <a:bodyPr wrap="square" lIns="0" tIns="0" rIns="0" bIns="0" rtlCol="0" anchor="ctr"/>
          <a:lstStyle/>
          <a:p>
            <a:pPr algn="l" indent="0" marL="0">
              <a:buNone/>
            </a:pPr>
            <a:r>
              <a:rPr lang="en-US" sz="1100" b="1" dirty="0">
                <a:solidFill>
                  <a:srgbClr val="237A34"/>
                </a:solidFill>
                <a:latin typeface="+mj-lt" pitchFamily="34" charset="0"/>
                <a:ea typeface="+mj-lt" pitchFamily="34" charset="-122"/>
                <a:cs typeface="+mj-lt" pitchFamily="34" charset="-120"/>
              </a:rPr>
              <a:t>Real hajm</a:t>
            </a:r>
            <a:endParaRPr lang="en-US" sz="1100" dirty="0"/>
          </a:p>
          <a:p>
            <a:pPr algn="l" indent="0" marL="0">
              <a:buNone/>
            </a:pPr>
            <a:r>
              <a:rPr lang="en-US" sz="1100" b="1" dirty="0">
                <a:solidFill>
                  <a:srgbClr val="237A34"/>
                </a:solidFill>
                <a:latin typeface="+mj-lt" pitchFamily="34" charset="0"/>
                <a:ea typeface="+mj-lt" pitchFamily="34" charset="-122"/>
                <a:cs typeface="+mj-lt" pitchFamily="34" charset="-120"/>
              </a:rPr>
              <a:t>+43%</a:t>
            </a:r>
            <a:endParaRPr lang="en-US" sz="1100" dirty="0"/>
          </a:p>
        </p:txBody>
      </p:sp>
      <p:sp>
        <p:nvSpPr>
          <p:cNvPr id="15" name="manba"/>
          <p:cNvSpPr txBox="1"/>
          <p:nvPr/>
        </p:nvSpPr>
        <p:spPr>
          <a:xfrm>
            <a:off x="571500" y="429768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a:t>
            </a:r>
            <a:endParaRPr lang="en-US" sz="1100" dirty="0"/>
          </a:p>
        </p:txBody>
      </p:sp>
      <p:graphicFrame>
        <p:nvGraphicFramePr>
          <p:cNvPr id="9" name="jadval"/>
          <p:cNvGraphicFramePr>
            <a:graphicFrameLocks noGrp="1"/>
          </p:cNvGraphicFramePr>
          <p:nvPr>
            <p:extLst>
              <p:ext uri="{D42A27DB-BD31-4B8C-83A1-F6EECF244321}">
                <p14:modId xmlns:p14="http://schemas.microsoft.com/office/powerpoint/2010/main" val="1579011935"/>
              </p:ext>
            </p:extLst>
          </p:nvPr>
        </p:nvGraphicFramePr>
        <p:xfrm>
          <a:off x="571500" y="4599432"/>
          <a:ext cx="6858000" cy="914400"/>
        </p:xfrm>
        <a:graphic>
          <a:graphicData uri="http://schemas.openxmlformats.org/drawingml/2006/table">
            <a:tbl>
              <a:tblPr/>
              <a:tblGrid>
                <a:gridCol w="2194560"/>
                <a:gridCol w="777240"/>
                <a:gridCol w="777240"/>
                <a:gridCol w="777240"/>
                <a:gridCol w="777240"/>
                <a:gridCol w="777240"/>
                <a:gridCol w="777240"/>
              </a:tblGrid>
              <a:tr h="283464">
                <a:tc>
                  <a:txBody>
                    <a:bodyPr/>
                    <a:lstStyle/>
                    <a:p>
                      <a:pPr algn="l" indent="0" marL="0">
                        <a:buNone/>
                      </a:pP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2010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2015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Qo‘shilgan qiymat, mlrd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98,9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130,2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145,7</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182,1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164,4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255,9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YaIMdagi ulush,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0,96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0,97</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0,77</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0,83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Real hajm, 2000 = 100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122,8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120,1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132,1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137,0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143,3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Bandlik, mln kishi</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1,17</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1,10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1,19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1,20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7" name="manba"/>
          <p:cNvSpPr txBox="1"/>
          <p:nvPr/>
        </p:nvSpPr>
        <p:spPr>
          <a:xfrm>
            <a:off x="571500" y="603504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a:t>
            </a:r>
            <a:endParaRPr lang="en-US" sz="1100" dirty="0"/>
          </a:p>
        </p:txBody>
      </p:sp>
      <p:sp>
        <p:nvSpPr>
          <p:cNvPr id="18" name="katta-raqam"/>
          <p:cNvSpPr txBox="1"/>
          <p:nvPr/>
        </p:nvSpPr>
        <p:spPr>
          <a:xfrm>
            <a:off x="7872984" y="1737360"/>
            <a:ext cx="2011680" cy="548640"/>
          </a:xfrm>
          <a:prstGeom prst="rect">
            <a:avLst/>
          </a:prstGeom>
          <a:noFill/>
          <a:ln/>
        </p:spPr>
        <p:txBody>
          <a:bodyPr wrap="square" lIns="0" tIns="0" rIns="0" bIns="0" rtlCol="0" anchor="b"/>
          <a:lstStyle/>
          <a:p>
            <a:pPr indent="0" marL="0">
              <a:buNone/>
            </a:pPr>
            <a:r>
              <a:rPr lang="en-US" sz="3600" b="1" dirty="0">
                <a:solidFill>
                  <a:srgbClr val="237A34"/>
                </a:solidFill>
                <a:latin typeface="+mj-lt" pitchFamily="34" charset="0"/>
                <a:ea typeface="+mj-lt" pitchFamily="34" charset="-122"/>
                <a:cs typeface="+mj-lt" pitchFamily="34" charset="-120"/>
              </a:rPr>
              <a:t>+158,7%</a:t>
            </a:r>
            <a:endParaRPr lang="en-US" sz="3600" dirty="0"/>
          </a:p>
        </p:txBody>
      </p:sp>
      <p:sp>
        <p:nvSpPr>
          <p:cNvPr id="19" name="katta-raqam-izoh"/>
          <p:cNvSpPr txBox="1"/>
          <p:nvPr/>
        </p:nvSpPr>
        <p:spPr>
          <a:xfrm>
            <a:off x="7872984" y="2322576"/>
            <a:ext cx="2011680"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qo‘shilgan qiymat, joriy narxda</a:t>
            </a:r>
            <a:endParaRPr lang="en-US" sz="1200" dirty="0"/>
          </a:p>
        </p:txBody>
      </p:sp>
      <p:sp>
        <p:nvSpPr>
          <p:cNvPr id="20" name="katta-raqam"/>
          <p:cNvSpPr txBox="1"/>
          <p:nvPr/>
        </p:nvSpPr>
        <p:spPr>
          <a:xfrm>
            <a:off x="10021824" y="1737360"/>
            <a:ext cx="1554480" cy="548640"/>
          </a:xfrm>
          <a:prstGeom prst="rect">
            <a:avLst/>
          </a:prstGeom>
          <a:noFill/>
          <a:ln/>
        </p:spPr>
        <p:txBody>
          <a:bodyPr wrap="square" lIns="0" tIns="0" rIns="0" bIns="0" rtlCol="0" anchor="b"/>
          <a:lstStyle/>
          <a:p>
            <a:pPr indent="0" marL="0">
              <a:buNone/>
            </a:pPr>
            <a:r>
              <a:rPr lang="en-US" sz="3600" b="1" dirty="0">
                <a:solidFill>
                  <a:srgbClr val="237A34"/>
                </a:solidFill>
                <a:latin typeface="+mj-lt" pitchFamily="34" charset="0"/>
                <a:ea typeface="+mj-lt" pitchFamily="34" charset="-122"/>
                <a:cs typeface="+mj-lt" pitchFamily="34" charset="-120"/>
              </a:rPr>
              <a:t>+43%</a:t>
            </a:r>
            <a:endParaRPr lang="en-US" sz="3600" dirty="0"/>
          </a:p>
        </p:txBody>
      </p:sp>
      <p:sp>
        <p:nvSpPr>
          <p:cNvPr id="21" name="katta-raqam-izoh"/>
          <p:cNvSpPr txBox="1"/>
          <p:nvPr/>
        </p:nvSpPr>
        <p:spPr>
          <a:xfrm>
            <a:off x="10021824" y="2322576"/>
            <a:ext cx="1554480"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real hajm</a:t>
            </a:r>
            <a:endParaRPr lang="en-US" sz="1200" dirty="0"/>
          </a:p>
        </p:txBody>
      </p:sp>
      <p:sp>
        <p:nvSpPr>
          <p:cNvPr id="22" name="nega-belgi"/>
          <p:cNvSpPr/>
          <p:nvPr/>
        </p:nvSpPr>
        <p:spPr>
          <a:xfrm>
            <a:off x="7872984" y="2935224"/>
            <a:ext cx="274320" cy="274320"/>
          </a:xfrm>
          <a:prstGeom prst="diamond">
            <a:avLst/>
          </a:prstGeom>
          <a:solidFill>
            <a:srgbClr val="F5C400"/>
          </a:solidFill>
          <a:ln w="19050">
            <a:solidFill>
              <a:srgbClr val="141414"/>
            </a:solidFill>
            <a:prstDash val="solid"/>
          </a:ln>
        </p:spPr>
      </p:sp>
      <p:sp>
        <p:nvSpPr>
          <p:cNvPr id="23" name="nega-belgi-matn"/>
          <p:cNvSpPr txBox="1"/>
          <p:nvPr/>
        </p:nvSpPr>
        <p:spPr>
          <a:xfrm>
            <a:off x="7872984" y="293522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24" name="nega-sarlavha"/>
          <p:cNvSpPr txBox="1"/>
          <p:nvPr/>
        </p:nvSpPr>
        <p:spPr>
          <a:xfrm>
            <a:off x="8238744" y="292608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 ulushi kichik?</a:t>
            </a:r>
            <a:endParaRPr lang="en-US" sz="1500" dirty="0"/>
          </a:p>
        </p:txBody>
      </p:sp>
      <p:sp>
        <p:nvSpPr>
          <p:cNvPr id="25" name="nega-matn"/>
          <p:cNvSpPr txBox="1"/>
          <p:nvPr/>
        </p:nvSpPr>
        <p:spPr>
          <a:xfrm>
            <a:off x="7872984" y="3310128"/>
            <a:ext cx="3730752" cy="2011680"/>
          </a:xfrm>
          <a:prstGeom prst="rect">
            <a:avLst/>
          </a:prstGeom>
          <a:noFill/>
          <a:ln/>
        </p:spPr>
        <p:txBody>
          <a:bodyPr wrap="square" lIns="0" tIns="0" rIns="0" bIns="0" rtlCol="0" anchor="t"/>
          <a:lstStyle/>
          <a:p>
            <a:pPr indent="0" marL="0">
              <a:lnSpc>
                <a:spcPct val="105000"/>
              </a:lnSpc>
              <a:spcAft>
                <a:spcPts val="800"/>
              </a:spcAft>
              <a:buNone/>
            </a:pPr>
            <a:r>
              <a:rPr lang="en-US" sz="1300" dirty="0">
                <a:solidFill>
                  <a:schemeClr val="tx1"/>
                </a:solidFill>
              </a:rPr>
              <a:t>Unumdorlik juda yuqori: oz odam butun mamlakatni boqadi va eksport ham qiladi. Oziq-ovqatga talab esa daromad bilan birga tez o‘smaydi.</a:t>
            </a:r>
            <a:endParaRPr lang="en-US" sz="1300" dirty="0"/>
          </a:p>
          <a:p>
            <a:pPr indent="0" marL="0">
              <a:lnSpc>
                <a:spcPct val="105000"/>
              </a:lnSpc>
              <a:buNone/>
            </a:pPr>
            <a:r>
              <a:rPr lang="en-US" sz="1200" dirty="0">
                <a:solidFill>
                  <a:srgbClr val="55524B"/>
                </a:solidFill>
              </a:rPr>
              <a:t>Bandlik: FTE ~1,2 mln — o‘zini o‘zi band qilgan fermerlarsiz. Ular bilan birga Jahon banki bahosi: 2,4% → 1,5% [3].</a:t>
            </a:r>
            <a:endParaRPr lang="en-US" sz="1300" dirty="0"/>
          </a:p>
        </p:txBody>
      </p:sp>
      <p:sp>
        <p:nvSpPr>
          <p:cNvPr id="26" name="anglatadi-chiziq"/>
          <p:cNvSpPr/>
          <p:nvPr/>
        </p:nvSpPr>
        <p:spPr>
          <a:xfrm>
            <a:off x="7872984" y="5349240"/>
            <a:ext cx="64008" cy="731520"/>
          </a:xfrm>
          <a:prstGeom prst="rect">
            <a:avLst/>
          </a:prstGeom>
          <a:solidFill>
            <a:srgbClr val="2F9E44"/>
          </a:solidFill>
          <a:ln/>
        </p:spPr>
      </p:sp>
      <p:sp>
        <p:nvSpPr>
          <p:cNvPr id="27" name="anglatadi-sarlavha"/>
          <p:cNvSpPr txBox="1"/>
          <p:nvPr/>
        </p:nvSpPr>
        <p:spPr>
          <a:xfrm>
            <a:off x="8074152" y="536752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28" name="anglatadi-matn"/>
          <p:cNvSpPr txBox="1"/>
          <p:nvPr/>
        </p:nvSpPr>
        <p:spPr>
          <a:xfrm>
            <a:off x="8074152" y="5623560"/>
            <a:ext cx="3529584" cy="43891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Kichik ulush — kichik ahamiyat degani emas.</a:t>
            </a:r>
            <a:endParaRPr lang="en-US" sz="1700" dirty="0"/>
          </a:p>
        </p:txBody>
      </p:sp>
      <p:sp>
        <p:nvSpPr>
          <p:cNvPr id="29" name="speaker-dot"/>
          <p:cNvSpPr/>
          <p:nvPr/>
        </p:nvSpPr>
        <p:spPr>
          <a:xfrm>
            <a:off x="571500" y="6336792"/>
            <a:ext cx="77724" cy="77724"/>
          </a:xfrm>
          <a:prstGeom prst="ellipse">
            <a:avLst/>
          </a:prstGeom>
          <a:solidFill>
            <a:srgbClr val="2F9E44"/>
          </a:solidFill>
          <a:ln/>
        </p:spPr>
      </p:sp>
      <p:sp>
        <p:nvSpPr>
          <p:cNvPr id="30"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Saitmurodova Visola</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childTnLst>
                          </p:cTn>
                        </p:par>
                      </p:childTnLst>
                    </p:cTn>
                  </p:par>
                  <p:par>
                    <p:cTn id="38" fill="hold">
                      <p:stCondLst>
                        <p:cond delay="indefinite"/>
                      </p:stCondLst>
                      <p:childTnLst>
                        <p:par>
                          <p:cTn id="39"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00"/>
                                        <p:tgtEl>
                                          <p:spTgt spid="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childTnLst>
                                </p:cTn>
                              </p:par>
                            </p:childTnLst>
                          </p:cTn>
                        </p:par>
                      </p:childTnLst>
                    </p:cTn>
                  </p:par>
                  <p:par>
                    <p:cTn id="52" fill="hold">
                      <p:stCondLst>
                        <p:cond delay="indefinite"/>
                      </p:stCondLst>
                      <p:childTnLst>
                        <p:par>
                          <p:cTn id="53"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00"/>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00"/>
                                        <p:tgtEl>
                                          <p:spTgt spid="25"/>
                                        </p:tgtEl>
                                      </p:cBhvr>
                                    </p:animEffect>
                                  </p:childTnLst>
                                </p:cTn>
                              </p:par>
                            </p:childTnLst>
                          </p:cTn>
                        </p:par>
                      </p:childTnLst>
                    </p:cTn>
                  </p:par>
                  <p:par>
                    <p:cTn id="63" fill="hold">
                      <p:stCondLst>
                        <p:cond delay="indefinite"/>
                      </p:stCondLst>
                      <p:childTnLst>
                        <p:par>
                          <p:cTn id="64"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P spid="12" grpId="0" animBg="1"/>
      <p:bldP spid="13" grpId="0" animBg="1"/>
      <p:bldP spid="14" grpId="0" animBg="1"/>
      <p:bldP spid="15" grpId="0" animBg="1"/>
      <p:bldP spid="18" grpId="0" animBg="1"/>
      <p:bldP spid="19" grpId="0" animBg="1"/>
      <p:bldP spid="20" grpId="0" animBg="1"/>
      <p:bldP spid="21" grpId="0" animBg="1"/>
      <p:bldGraphic spid="9" grpId="0">
        <p:bldAsOne/>
      </p:bldGraphic>
      <p:bldP spid="17" grpId="0" animBg="1"/>
      <p:bldP spid="22" grpId="0" animBg="1"/>
      <p:bldP spid="23" grpId="0" animBg="1"/>
      <p:bldP spid="24" grpId="0" animBg="1"/>
      <p:bldP spid="25" grpId="0" animBg="1"/>
      <p:bldP spid="26"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rogress"/>
          <p:cNvSpPr/>
          <p:nvPr/>
        </p:nvSpPr>
        <p:spPr>
          <a:xfrm>
            <a:off x="0" y="6743700"/>
            <a:ext cx="4644455"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Qishloq xo‘jaligi — eng beqaror tarmoq: ob‑havo, narx va siyosatga bog‘liq</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9</a:t>
            </a:r>
            <a:endParaRPr lang="en-US" sz="1100" dirty="0"/>
          </a:p>
        </p:txBody>
      </p:sp>
      <p:sp>
        <p:nvSpPr>
          <p:cNvPr id="6" name="sign-outer"/>
          <p:cNvSpPr/>
          <p:nvPr/>
        </p:nvSpPr>
        <p:spPr>
          <a:xfrm>
            <a:off x="8997696" y="566928"/>
            <a:ext cx="2660904" cy="603504"/>
          </a:xfrm>
          <a:prstGeom prst="roundRect">
            <a:avLst>
              <a:gd name="adj" fmla="val 15152"/>
            </a:avLst>
          </a:prstGeom>
          <a:solidFill>
            <a:srgbClr val="00653A"/>
          </a:solidFill>
          <a:ln/>
        </p:spPr>
      </p:sp>
      <p:sp>
        <p:nvSpPr>
          <p:cNvPr id="7" name="sign-panel"/>
          <p:cNvSpPr/>
          <p:nvPr/>
        </p:nvSpPr>
        <p:spPr>
          <a:xfrm>
            <a:off x="9034272" y="603504"/>
            <a:ext cx="2587752"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034272" y="603504"/>
            <a:ext cx="25877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Qishloq xo‘jaligi</a:t>
            </a:r>
            <a:endParaRPr lang="en-US" sz="1700" dirty="0"/>
          </a:p>
        </p:txBody>
      </p:sp>
      <p:sp>
        <p:nvSpPr>
          <p:cNvPr id="9" name="sign-lane"/>
          <p:cNvSpPr/>
          <p:nvPr/>
        </p:nvSpPr>
        <p:spPr>
          <a:xfrm>
            <a:off x="9144000" y="1225296"/>
            <a:ext cx="2368296" cy="50292"/>
          </a:xfrm>
          <a:prstGeom prst="rect">
            <a:avLst/>
          </a:prstGeom>
          <a:solidFill>
            <a:srgbClr val="2F9E44"/>
          </a:solidFill>
          <a:ln/>
        </p:spPr>
      </p:sp>
      <p:sp>
        <p:nvSpPr>
          <p:cNvPr id="10" name="birlik"/>
          <p:cNvSpPr txBox="1"/>
          <p:nvPr/>
        </p:nvSpPr>
        <p:spPr>
          <a:xfrm>
            <a:off x="571500" y="160020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real o‘sish, oldingi yilga nisbatan, %</a:t>
            </a:r>
            <a:endParaRPr lang="en-US" sz="1100" dirty="0"/>
          </a:p>
        </p:txBody>
      </p:sp>
      <p:graphicFrame>
        <p:nvGraphicFramePr>
          <p:cNvPr id="11" name="grafik" descr=""/>
          <p:cNvGraphicFramePr/>
          <p:nvPr/>
        </p:nvGraphicFramePr>
        <p:xfrm>
          <a:off x="571500" y="1874520"/>
          <a:ext cx="6858000" cy="2743200"/>
        </p:xfrm>
        <a:graphic xmlns:a="http://schemas.openxmlformats.org/drawingml/2006/main">
          <a:graphicData uri="http://schemas.openxmlformats.org/drawingml/2006/chart">
            <c:chart xmlns:c="http://schemas.openxmlformats.org/drawingml/2006/chart" r:id="rId1"/>
          </a:graphicData>
        </a:graphic>
      </p:graphicFrame>
      <p:sp>
        <p:nvSpPr>
          <p:cNvPr id="12" name="yorliq"/>
          <p:cNvSpPr txBox="1"/>
          <p:nvPr/>
        </p:nvSpPr>
        <p:spPr>
          <a:xfrm>
            <a:off x="1888588" y="3916129"/>
            <a:ext cx="1828800" cy="237744"/>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−10,6</a:t>
            </a:r>
            <a:endParaRPr lang="en-US" sz="1100" dirty="0"/>
          </a:p>
        </p:txBody>
      </p:sp>
      <p:sp>
        <p:nvSpPr>
          <p:cNvPr id="13" name="yorliq"/>
          <p:cNvSpPr txBox="1"/>
          <p:nvPr/>
        </p:nvSpPr>
        <p:spPr>
          <a:xfrm>
            <a:off x="2373923" y="1798779"/>
            <a:ext cx="1828800" cy="237744"/>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+11,0</a:t>
            </a:r>
            <a:endParaRPr lang="en-US" sz="1100" dirty="0"/>
          </a:p>
        </p:txBody>
      </p:sp>
      <p:sp>
        <p:nvSpPr>
          <p:cNvPr id="14" name="yorliq"/>
          <p:cNvSpPr txBox="1"/>
          <p:nvPr/>
        </p:nvSpPr>
        <p:spPr>
          <a:xfrm>
            <a:off x="3101926" y="3280062"/>
            <a:ext cx="1828800" cy="237744"/>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qurg‘oqchilik −3,0</a:t>
            </a:r>
            <a:endParaRPr lang="en-US" sz="1100" dirty="0"/>
          </a:p>
        </p:txBody>
      </p:sp>
      <p:sp>
        <p:nvSpPr>
          <p:cNvPr id="15" name="yorliq"/>
          <p:cNvSpPr txBox="1"/>
          <p:nvPr/>
        </p:nvSpPr>
        <p:spPr>
          <a:xfrm>
            <a:off x="3344594" y="1876307"/>
            <a:ext cx="1828800" cy="237744"/>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+10,1</a:t>
            </a:r>
            <a:endParaRPr lang="en-US" sz="1100" dirty="0"/>
          </a:p>
        </p:txBody>
      </p:sp>
      <p:sp>
        <p:nvSpPr>
          <p:cNvPr id="16" name="yorliq"/>
          <p:cNvSpPr txBox="1"/>
          <p:nvPr/>
        </p:nvSpPr>
        <p:spPr>
          <a:xfrm>
            <a:off x="4800600" y="3555107"/>
            <a:ext cx="1828800" cy="237744"/>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toshqin −6,3</a:t>
            </a:r>
            <a:endParaRPr lang="en-US" sz="1100" dirty="0"/>
          </a:p>
        </p:txBody>
      </p:sp>
      <p:sp>
        <p:nvSpPr>
          <p:cNvPr id="17" name="manba"/>
          <p:cNvSpPr txBox="1"/>
          <p:nvPr/>
        </p:nvSpPr>
        <p:spPr>
          <a:xfrm>
            <a:off x="571500" y="4681728"/>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a:t>
            </a:r>
            <a:endParaRPr lang="en-US" sz="1100" dirty="0"/>
          </a:p>
        </p:txBody>
      </p:sp>
      <p:sp>
        <p:nvSpPr>
          <p:cNvPr id="18" name="infra-chiziq"/>
          <p:cNvSpPr/>
          <p:nvPr/>
        </p:nvSpPr>
        <p:spPr>
          <a:xfrm>
            <a:off x="571500" y="5029200"/>
            <a:ext cx="3291840" cy="45720"/>
          </a:xfrm>
          <a:prstGeom prst="rect">
            <a:avLst/>
          </a:prstGeom>
          <a:solidFill>
            <a:srgbClr val="2F9E44"/>
          </a:solidFill>
          <a:ln/>
        </p:spPr>
      </p:sp>
      <p:sp>
        <p:nvSpPr>
          <p:cNvPr id="19" name="infra-raqam"/>
          <p:cNvSpPr txBox="1"/>
          <p:nvPr/>
        </p:nvSpPr>
        <p:spPr>
          <a:xfrm>
            <a:off x="571500" y="5120640"/>
            <a:ext cx="3291840" cy="384048"/>
          </a:xfrm>
          <a:prstGeom prst="rect">
            <a:avLst/>
          </a:prstGeom>
          <a:noFill/>
          <a:ln/>
        </p:spPr>
        <p:txBody>
          <a:bodyPr wrap="square" lIns="0" tIns="0" rIns="0" bIns="0" rtlCol="0" anchor="ctr"/>
          <a:lstStyle/>
          <a:p>
            <a:pPr indent="0" marL="0">
              <a:buNone/>
            </a:pPr>
            <a:r>
              <a:rPr lang="en-US" sz="2200" b="1" dirty="0">
                <a:solidFill>
                  <a:srgbClr val="237A34"/>
                </a:solidFill>
                <a:latin typeface="+mj-lt" pitchFamily="34" charset="0"/>
                <a:ea typeface="+mj-lt" pitchFamily="34" charset="-122"/>
                <a:cs typeface="+mj-lt" pitchFamily="34" charset="-120"/>
              </a:rPr>
              <a:t>&lt;17% → &gt;50%</a:t>
            </a:r>
            <a:endParaRPr lang="en-US" sz="2200" dirty="0"/>
          </a:p>
        </p:txBody>
      </p:sp>
      <p:sp>
        <p:nvSpPr>
          <p:cNvPr id="20" name="infra-matn"/>
          <p:cNvSpPr txBox="1"/>
          <p:nvPr/>
        </p:nvSpPr>
        <p:spPr>
          <a:xfrm>
            <a:off x="571500" y="5522976"/>
            <a:ext cx="3291840" cy="594360"/>
          </a:xfrm>
          <a:prstGeom prst="rect">
            <a:avLst/>
          </a:prstGeom>
          <a:noFill/>
          <a:ln/>
        </p:spPr>
        <p:txBody>
          <a:bodyPr wrap="square" lIns="0" tIns="0" rIns="0" bIns="0" rtlCol="0" anchor="t"/>
          <a:lstStyle/>
          <a:p>
            <a:pPr indent="0" marL="0">
              <a:buNone/>
            </a:pPr>
            <a:r>
              <a:rPr lang="en-US" sz="1200" dirty="0">
                <a:solidFill>
                  <a:srgbClr val="141414"/>
                </a:solidFill>
              </a:rPr>
              <a:t>sug‘oriladigan yer hosil maydonining 17% idan kam, lekin ekin sotuvi qiymatining yarmidan ko‘pini beradi [9]</a:t>
            </a:r>
            <a:endParaRPr lang="en-US" sz="1200" dirty="0"/>
          </a:p>
        </p:txBody>
      </p:sp>
      <p:sp>
        <p:nvSpPr>
          <p:cNvPr id="21" name="infra-chiziq"/>
          <p:cNvSpPr/>
          <p:nvPr/>
        </p:nvSpPr>
        <p:spPr>
          <a:xfrm>
            <a:off x="4091940" y="5029200"/>
            <a:ext cx="3291840" cy="45720"/>
          </a:xfrm>
          <a:prstGeom prst="rect">
            <a:avLst/>
          </a:prstGeom>
          <a:solidFill>
            <a:srgbClr val="2F9E44"/>
          </a:solidFill>
          <a:ln/>
        </p:spPr>
      </p:sp>
      <p:sp>
        <p:nvSpPr>
          <p:cNvPr id="22" name="infra-raqam"/>
          <p:cNvSpPr txBox="1"/>
          <p:nvPr/>
        </p:nvSpPr>
        <p:spPr>
          <a:xfrm>
            <a:off x="4091940" y="5120640"/>
            <a:ext cx="3291840" cy="384048"/>
          </a:xfrm>
          <a:prstGeom prst="rect">
            <a:avLst/>
          </a:prstGeom>
          <a:noFill/>
          <a:ln/>
        </p:spPr>
        <p:txBody>
          <a:bodyPr wrap="square" lIns="0" tIns="0" rIns="0" bIns="0" rtlCol="0" anchor="ctr"/>
          <a:lstStyle/>
          <a:p>
            <a:pPr indent="0" marL="0">
              <a:buNone/>
            </a:pPr>
            <a:r>
              <a:rPr lang="en-US" sz="2200" b="1" dirty="0">
                <a:solidFill>
                  <a:srgbClr val="237A34"/>
                </a:solidFill>
                <a:latin typeface="+mj-lt" pitchFamily="34" charset="0"/>
                <a:ea typeface="+mj-lt" pitchFamily="34" charset="-122"/>
                <a:cs typeface="+mj-lt" pitchFamily="34" charset="-120"/>
              </a:rPr>
              <a:t>~60%</a:t>
            </a:r>
            <a:endParaRPr lang="en-US" sz="2200" dirty="0"/>
          </a:p>
        </p:txBody>
      </p:sp>
      <p:sp>
        <p:nvSpPr>
          <p:cNvPr id="23" name="infra-matn"/>
          <p:cNvSpPr txBox="1"/>
          <p:nvPr/>
        </p:nvSpPr>
        <p:spPr>
          <a:xfrm>
            <a:off x="4091940" y="5522976"/>
            <a:ext cx="3291840" cy="594360"/>
          </a:xfrm>
          <a:prstGeom prst="rect">
            <a:avLst/>
          </a:prstGeom>
          <a:noFill/>
          <a:ln/>
        </p:spPr>
        <p:txBody>
          <a:bodyPr wrap="square" lIns="0" tIns="0" rIns="0" bIns="0" rtlCol="0" anchor="t"/>
          <a:lstStyle/>
          <a:p>
            <a:pPr indent="0" marL="0">
              <a:buNone/>
            </a:pPr>
            <a:r>
              <a:rPr lang="en-US" sz="1200" dirty="0">
                <a:solidFill>
                  <a:srgbClr val="141414"/>
                </a:solidFill>
              </a:rPr>
              <a:t>don eksporti Missisipi daryosida barjalarda tashiladi [9]</a:t>
            </a:r>
            <a:endParaRPr lang="en-US" sz="1200" dirty="0"/>
          </a:p>
        </p:txBody>
      </p:sp>
      <p:sp>
        <p:nvSpPr>
          <p:cNvPr id="24" name="nega-belgi"/>
          <p:cNvSpPr/>
          <p:nvPr/>
        </p:nvSpPr>
        <p:spPr>
          <a:xfrm>
            <a:off x="7872984" y="1609344"/>
            <a:ext cx="274320" cy="274320"/>
          </a:xfrm>
          <a:prstGeom prst="diamond">
            <a:avLst/>
          </a:prstGeom>
          <a:solidFill>
            <a:srgbClr val="F5C400"/>
          </a:solidFill>
          <a:ln w="19050">
            <a:solidFill>
              <a:srgbClr val="141414"/>
            </a:solidFill>
            <a:prstDash val="solid"/>
          </a:ln>
        </p:spPr>
      </p:sp>
      <p:sp>
        <p:nvSpPr>
          <p:cNvPr id="25" name="nega-belgi-matn"/>
          <p:cNvSpPr txBox="1"/>
          <p:nvPr/>
        </p:nvSpPr>
        <p:spPr>
          <a:xfrm>
            <a:off x="7872984" y="160934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26" name="nega-sarlavha"/>
          <p:cNvSpPr txBox="1"/>
          <p:nvPr/>
        </p:nvSpPr>
        <p:spPr>
          <a:xfrm>
            <a:off x="8238744" y="160020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27" name="nega-matn"/>
          <p:cNvSpPr txBox="1"/>
          <p:nvPr/>
        </p:nvSpPr>
        <p:spPr>
          <a:xfrm>
            <a:off x="7872984" y="1984248"/>
            <a:ext cx="3730752" cy="2926080"/>
          </a:xfrm>
          <a:prstGeom prst="rect">
            <a:avLst/>
          </a:prstGeom>
          <a:noFill/>
          <a:ln/>
        </p:spPr>
        <p:txBody>
          <a:bodyPr wrap="square" lIns="0" tIns="0" rIns="0" bIns="0" rtlCol="0" anchor="t"/>
          <a:lstStyle/>
          <a:p>
            <a:pPr indent="0" marL="0">
              <a:lnSpc>
                <a:spcPct val="105000"/>
              </a:lnSpc>
              <a:spcAft>
                <a:spcPts val="800"/>
              </a:spcAft>
              <a:buNone/>
            </a:pPr>
            <a:r>
              <a:rPr lang="en-US" sz="1300" dirty="0">
                <a:solidFill>
                  <a:schemeClr val="tx1"/>
                </a:solidFill>
              </a:rPr>
              <a:t>Qo‘shilgan qiymat = mahsulot − xarajatlar (yem, yoqilg‘i, o‘g‘it). Shuning uchun kichik o‘zgarish katta sakrash beradi.</a:t>
            </a:r>
            <a:endParaRPr lang="en-US" sz="1300" dirty="0"/>
          </a:p>
          <a:p>
            <a:pPr marL="177800" indent="-177800">
              <a:lnSpc>
                <a:spcPct val="105000"/>
              </a:lnSpc>
              <a:spcAft>
                <a:spcPts val="600"/>
              </a:spcAft>
              <a:buSzPct val="100000"/>
              <a:buChar char="•"/>
            </a:pPr>
            <a:r>
              <a:rPr lang="en-US" sz="1300" dirty="0">
                <a:solidFill>
                  <a:schemeClr val="tx1"/>
                </a:solidFill>
              </a:rPr>
              <a:t>2012 — qurg‘oqchilik: makkajo‘xori hosildorligi 1995-yildan beri eng past.</a:t>
            </a:r>
            <a:endParaRPr lang="en-US" sz="1300" dirty="0"/>
          </a:p>
          <a:p>
            <a:pPr marL="177800" indent="-177800">
              <a:lnSpc>
                <a:spcPct val="105000"/>
              </a:lnSpc>
              <a:spcAft>
                <a:spcPts val="600"/>
              </a:spcAft>
              <a:buSzPct val="100000"/>
              <a:buChar char="•"/>
            </a:pPr>
            <a:r>
              <a:rPr lang="en-US" sz="1300" dirty="0">
                <a:solidFill>
                  <a:schemeClr val="tx1"/>
                </a:solidFill>
              </a:rPr>
              <a:t>2019 — toshqin: rekord 18,8 mln akr yer ekilmay qoldi.</a:t>
            </a:r>
            <a:endParaRPr lang="en-US" sz="1300" dirty="0"/>
          </a:p>
          <a:p>
            <a:pPr marL="177800" indent="-177800">
              <a:lnSpc>
                <a:spcPct val="105000"/>
              </a:lnSpc>
              <a:buSzPct val="100000"/>
              <a:buChar char="•"/>
            </a:pPr>
            <a:r>
              <a:rPr lang="en-US" sz="1300" dirty="0">
                <a:solidFill>
                  <a:schemeClr val="tx1"/>
                </a:solidFill>
              </a:rPr>
              <a:t>Savdo urushi: fermerlarga 23 mlrd $ kompensatsiya [9].</a:t>
            </a:r>
            <a:endParaRPr lang="en-US" sz="1300" dirty="0"/>
          </a:p>
        </p:txBody>
      </p:sp>
      <p:sp>
        <p:nvSpPr>
          <p:cNvPr id="28" name="anglatadi-chiziq"/>
          <p:cNvSpPr/>
          <p:nvPr/>
        </p:nvSpPr>
        <p:spPr>
          <a:xfrm>
            <a:off x="7872984" y="5120640"/>
            <a:ext cx="64008" cy="960120"/>
          </a:xfrm>
          <a:prstGeom prst="rect">
            <a:avLst/>
          </a:prstGeom>
          <a:solidFill>
            <a:srgbClr val="2F9E44"/>
          </a:solidFill>
          <a:ln/>
        </p:spPr>
      </p:sp>
      <p:sp>
        <p:nvSpPr>
          <p:cNvPr id="29" name="anglatadi-sarlavha"/>
          <p:cNvSpPr txBox="1"/>
          <p:nvPr/>
        </p:nvSpPr>
        <p:spPr>
          <a:xfrm>
            <a:off x="8074152" y="513892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30" name="anglatadi-matn"/>
          <p:cNvSpPr txBox="1"/>
          <p:nvPr/>
        </p:nvSpPr>
        <p:spPr>
          <a:xfrm>
            <a:off x="8074152" y="5394960"/>
            <a:ext cx="3529584" cy="66751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Suv va ishonchli transport — fermerning ob-havoga qarshi sug‘urtasi.</a:t>
            </a:r>
            <a:endParaRPr lang="en-US" sz="1700" dirty="0"/>
          </a:p>
        </p:txBody>
      </p:sp>
      <p:sp>
        <p:nvSpPr>
          <p:cNvPr id="31" name="speaker-dot"/>
          <p:cNvSpPr/>
          <p:nvPr/>
        </p:nvSpPr>
        <p:spPr>
          <a:xfrm>
            <a:off x="571500" y="6336792"/>
            <a:ext cx="77724" cy="77724"/>
          </a:xfrm>
          <a:prstGeom prst="ellipse">
            <a:avLst/>
          </a:prstGeom>
          <a:solidFill>
            <a:srgbClr val="2F9E44"/>
          </a:solidFill>
          <a:ln/>
        </p:spPr>
      </p:sp>
      <p:sp>
        <p:nvSpPr>
          <p:cNvPr id="32"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Saitmurodova Visola</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72" fill="hold">
                      <p:stCondLst>
                        <p:cond delay="indefinite"/>
                      </p:stCondLst>
                      <p:childTnLst>
                        <p:par>
                          <p:cTn id="73"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11" grpId="0">
        <p:bldAsOne/>
      </p:bldGraphic>
      <p:bldP spid="12" grpId="0" animBg="1"/>
      <p:bldP spid="13" grpId="0" animBg="1"/>
      <p:bldP spid="14" grpId="0" animBg="1"/>
      <p:bldP spid="15" grpId="0" animBg="1"/>
      <p:bldP spid="16" grpId="0" animBg="1"/>
      <p:bldP spid="17" grpId="0" animBg="1"/>
      <p:bldP spid="24" grpId="0" animBg="1"/>
      <p:bldP spid="25" grpId="0" animBg="1"/>
      <p:bldP spid="26" grpId="0" animBg="1"/>
      <p:bldP spid="27" grpId="0" animBg="1"/>
      <p:bldP spid="18" grpId="0" animBg="1"/>
      <p:bldP spid="19" grpId="0" animBg="1"/>
      <p:bldP spid="20" grpId="0" animBg="1"/>
      <p:bldP spid="21" grpId="0" animBg="1"/>
      <p:bldP spid="22" grpId="0" animBg="1"/>
      <p:bldP spid="23" grpId="0" animBg="1"/>
      <p:bldP spid="28" grpId="0" animBg="1"/>
      <p:bldP spid="29" grpId="0" animBg="1"/>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rogress"/>
          <p:cNvSpPr/>
          <p:nvPr/>
        </p:nvSpPr>
        <p:spPr>
          <a:xfrm>
            <a:off x="0" y="6743700"/>
            <a:ext cx="5225012"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Qurilishda pul ko‘paydi, hajm emas: real hajm 2000-yildagidan past</a:t>
            </a:r>
            <a:endParaRPr lang="en-US" sz="3000" dirty="0"/>
          </a:p>
        </p:txBody>
      </p:sp>
      <p:sp>
        <p:nvSpPr>
          <p:cNvPr id="4" name="lede"/>
          <p:cNvSpPr txBox="1"/>
          <p:nvPr/>
        </p:nvSpPr>
        <p:spPr>
          <a:xfrm>
            <a:off x="571500" y="1298448"/>
            <a:ext cx="8412480" cy="310896"/>
          </a:xfrm>
          <a:prstGeom prst="rect">
            <a:avLst/>
          </a:prstGeom>
          <a:noFill/>
          <a:ln/>
        </p:spPr>
        <p:txBody>
          <a:bodyPr wrap="square" lIns="0" tIns="0" rIns="0" bIns="0" rtlCol="0" anchor="ctr"/>
          <a:lstStyle/>
          <a:p>
            <a:pPr indent="0" marL="0">
              <a:buNone/>
            </a:pPr>
            <a:r>
              <a:rPr lang="en-US" sz="1400" i="1" dirty="0">
                <a:solidFill>
                  <a:schemeClr val="tx2"/>
                </a:solidFill>
              </a:rPr>
              <a:t>Qurilish — uy-joy, yo‘l, zavod va boshqa inshootlarni barpo etish.</a:t>
            </a:r>
            <a:endParaRPr lang="en-US" sz="1400" dirty="0"/>
          </a:p>
        </p:txBody>
      </p:sp>
      <p:sp>
        <p:nvSpPr>
          <p:cNvPr id="5"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6"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10</a:t>
            </a:r>
            <a:endParaRPr lang="en-US" sz="1100" dirty="0"/>
          </a:p>
        </p:txBody>
      </p:sp>
      <p:sp>
        <p:nvSpPr>
          <p:cNvPr id="7" name="sign-outer"/>
          <p:cNvSpPr/>
          <p:nvPr/>
        </p:nvSpPr>
        <p:spPr>
          <a:xfrm>
            <a:off x="9848088" y="566928"/>
            <a:ext cx="1810512" cy="603504"/>
          </a:xfrm>
          <a:prstGeom prst="roundRect">
            <a:avLst>
              <a:gd name="adj" fmla="val 15152"/>
            </a:avLst>
          </a:prstGeom>
          <a:solidFill>
            <a:srgbClr val="00653A"/>
          </a:solidFill>
          <a:ln/>
        </p:spPr>
      </p:sp>
      <p:sp>
        <p:nvSpPr>
          <p:cNvPr id="8"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9"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Qurilish</a:t>
            </a:r>
            <a:endParaRPr lang="en-US" sz="1700" dirty="0"/>
          </a:p>
        </p:txBody>
      </p:sp>
      <p:sp>
        <p:nvSpPr>
          <p:cNvPr id="10" name="sign-lane"/>
          <p:cNvSpPr/>
          <p:nvPr/>
        </p:nvSpPr>
        <p:spPr>
          <a:xfrm>
            <a:off x="9994392" y="1225296"/>
            <a:ext cx="1517904" cy="50292"/>
          </a:xfrm>
          <a:prstGeom prst="rect">
            <a:avLst/>
          </a:prstGeom>
          <a:solidFill>
            <a:srgbClr val="9C36B5"/>
          </a:solidFill>
          <a:ln/>
        </p:spPr>
      </p:sp>
      <p:graphicFrame>
        <p:nvGraphicFramePr>
          <p:cNvPr id="11" name="narx-maydoni" descr=""/>
          <p:cNvGraphicFramePr/>
          <p:nvPr/>
        </p:nvGraphicFramePr>
        <p:xfrm>
          <a:off x="571500" y="2011680"/>
          <a:ext cx="6858000"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grafik" descr=""/>
          <p:cNvGraphicFramePr/>
          <p:nvPr/>
        </p:nvGraphicFramePr>
        <p:xfrm>
          <a:off x="571500" y="2011680"/>
          <a:ext cx="6858000" cy="2240280"/>
        </p:xfrm>
        <a:graphic xmlns:a="http://schemas.openxmlformats.org/drawingml/2006/main">
          <a:graphicData uri="http://schemas.openxmlformats.org/drawingml/2006/chart">
            <c:chart xmlns:c="http://schemas.openxmlformats.org/drawingml/2006/chart" r:id="rId2"/>
          </a:graphicData>
        </a:graphic>
      </p:graphicFrame>
      <p:sp>
        <p:nvSpPr>
          <p:cNvPr id="13" name="birlik"/>
          <p:cNvSpPr txBox="1"/>
          <p:nvPr/>
        </p:nvSpPr>
        <p:spPr>
          <a:xfrm>
            <a:off x="571500" y="173736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indeks, 2000 = 100</a:t>
            </a:r>
            <a:endParaRPr lang="en-US" sz="1100" dirty="0"/>
          </a:p>
        </p:txBody>
      </p:sp>
      <p:sp>
        <p:nvSpPr>
          <p:cNvPr id="14" name="yorliq"/>
          <p:cNvSpPr txBox="1"/>
          <p:nvPr/>
        </p:nvSpPr>
        <p:spPr>
          <a:xfrm>
            <a:off x="3697605" y="3144564"/>
            <a:ext cx="2011680" cy="237744"/>
          </a:xfrm>
          <a:prstGeom prst="rect">
            <a:avLst/>
          </a:prstGeom>
          <a:noFill/>
          <a:ln/>
        </p:spPr>
        <p:txBody>
          <a:bodyPr wrap="square" lIns="0" tIns="0" rIns="0" bIns="0" rtlCol="0" anchor="ctr"/>
          <a:lstStyle/>
          <a:p>
            <a:pPr algn="ctr" indent="0" marL="0">
              <a:buNone/>
            </a:pPr>
            <a:r>
              <a:rPr lang="en-US" sz="1100" b="1" dirty="0">
                <a:solidFill>
                  <a:srgbClr val="9C36B5"/>
                </a:solidFill>
                <a:latin typeface="+mj-lt" pitchFamily="34" charset="0"/>
                <a:ea typeface="+mj-lt" pitchFamily="34" charset="-122"/>
                <a:cs typeface="+mj-lt" pitchFamily="34" charset="-120"/>
              </a:rPr>
              <a:t>narx o‘sishi</a:t>
            </a:r>
            <a:endParaRPr lang="en-US" sz="1100" dirty="0"/>
          </a:p>
        </p:txBody>
      </p:sp>
      <p:sp>
        <p:nvSpPr>
          <p:cNvPr id="15" name="yorliq"/>
          <p:cNvSpPr txBox="1"/>
          <p:nvPr/>
        </p:nvSpPr>
        <p:spPr>
          <a:xfrm>
            <a:off x="6012180" y="2101568"/>
            <a:ext cx="2011680" cy="420624"/>
          </a:xfrm>
          <a:prstGeom prst="rect">
            <a:avLst/>
          </a:prstGeom>
          <a:noFill/>
          <a:ln/>
        </p:spPr>
        <p:txBody>
          <a:bodyPr wrap="square" lIns="0" tIns="0" rIns="0" bIns="0" rtlCol="0" anchor="ctr"/>
          <a:lstStyle/>
          <a:p>
            <a:pPr algn="l" indent="0" marL="0">
              <a:buNone/>
            </a:pPr>
            <a:r>
              <a:rPr lang="en-US" sz="1100" b="1" dirty="0">
                <a:solidFill>
                  <a:srgbClr val="9C36B5"/>
                </a:solidFill>
                <a:latin typeface="+mj-lt" pitchFamily="34" charset="0"/>
                <a:ea typeface="+mj-lt" pitchFamily="34" charset="-122"/>
                <a:cs typeface="+mj-lt" pitchFamily="34" charset="-120"/>
              </a:rPr>
              <a:t>Joriy narxda</a:t>
            </a:r>
            <a:endParaRPr lang="en-US" sz="1100" dirty="0"/>
          </a:p>
          <a:p>
            <a:pPr algn="l" indent="0" marL="0">
              <a:buNone/>
            </a:pPr>
            <a:r>
              <a:rPr lang="en-US" sz="1100" b="1" dirty="0">
                <a:solidFill>
                  <a:srgbClr val="9C36B5"/>
                </a:solidFill>
                <a:latin typeface="+mj-lt" pitchFamily="34" charset="0"/>
                <a:ea typeface="+mj-lt" pitchFamily="34" charset="-122"/>
                <a:cs typeface="+mj-lt" pitchFamily="34" charset="-120"/>
              </a:rPr>
              <a:t>+190,5%</a:t>
            </a:r>
            <a:endParaRPr lang="en-US" sz="1100" dirty="0"/>
          </a:p>
        </p:txBody>
      </p:sp>
      <p:sp>
        <p:nvSpPr>
          <p:cNvPr id="16" name="yorliq"/>
          <p:cNvSpPr txBox="1"/>
          <p:nvPr/>
        </p:nvSpPr>
        <p:spPr>
          <a:xfrm>
            <a:off x="6012180" y="3748190"/>
            <a:ext cx="2011680" cy="420624"/>
          </a:xfrm>
          <a:prstGeom prst="rect">
            <a:avLst/>
          </a:prstGeom>
          <a:noFill/>
          <a:ln/>
        </p:spPr>
        <p:txBody>
          <a:bodyPr wrap="square" lIns="0" tIns="0" rIns="0" bIns="0" rtlCol="0" anchor="ctr"/>
          <a:lstStyle/>
          <a:p>
            <a:pPr algn="l" indent="0" marL="0">
              <a:buNone/>
            </a:pPr>
            <a:r>
              <a:rPr lang="en-US" sz="1100" b="1" dirty="0">
                <a:solidFill>
                  <a:srgbClr val="9C36B5"/>
                </a:solidFill>
                <a:latin typeface="+mj-lt" pitchFamily="34" charset="0"/>
                <a:ea typeface="+mj-lt" pitchFamily="34" charset="-122"/>
                <a:cs typeface="+mj-lt" pitchFamily="34" charset="-120"/>
              </a:rPr>
              <a:t>Real hajm</a:t>
            </a:r>
            <a:endParaRPr lang="en-US" sz="1100" dirty="0"/>
          </a:p>
          <a:p>
            <a:pPr algn="l" indent="0" marL="0">
              <a:buNone/>
            </a:pPr>
            <a:r>
              <a:rPr lang="en-US" sz="1100" b="1" dirty="0">
                <a:solidFill>
                  <a:srgbClr val="9C36B5"/>
                </a:solidFill>
                <a:latin typeface="+mj-lt" pitchFamily="34" charset="0"/>
                <a:ea typeface="+mj-lt" pitchFamily="34" charset="-122"/>
                <a:cs typeface="+mj-lt" pitchFamily="34" charset="-120"/>
              </a:rPr>
              <a:t>−6,7%</a:t>
            </a:r>
            <a:endParaRPr lang="en-US" sz="1100" dirty="0"/>
          </a:p>
        </p:txBody>
      </p:sp>
      <p:sp>
        <p:nvSpPr>
          <p:cNvPr id="17" name="manba"/>
          <p:cNvSpPr txBox="1"/>
          <p:nvPr/>
        </p:nvSpPr>
        <p:spPr>
          <a:xfrm>
            <a:off x="571500" y="429768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a:t>
            </a:r>
            <a:endParaRPr lang="en-US" sz="1100" dirty="0"/>
          </a:p>
        </p:txBody>
      </p:sp>
      <p:graphicFrame>
        <p:nvGraphicFramePr>
          <p:cNvPr id="11" name="jadval"/>
          <p:cNvGraphicFramePr>
            <a:graphicFrameLocks noGrp="1"/>
          </p:cNvGraphicFramePr>
          <p:nvPr>
            <p:extLst>
              <p:ext uri="{D42A27DB-BD31-4B8C-83A1-F6EECF244321}">
                <p14:modId xmlns:p14="http://schemas.microsoft.com/office/powerpoint/2010/main" val="1579011935"/>
              </p:ext>
            </p:extLst>
          </p:nvPr>
        </p:nvGraphicFramePr>
        <p:xfrm>
          <a:off x="571500" y="4599432"/>
          <a:ext cx="6858000" cy="914400"/>
        </p:xfrm>
        <a:graphic>
          <a:graphicData uri="http://schemas.openxmlformats.org/drawingml/2006/table">
            <a:tbl>
              <a:tblPr/>
              <a:tblGrid>
                <a:gridCol w="2194560"/>
                <a:gridCol w="777240"/>
                <a:gridCol w="777240"/>
                <a:gridCol w="777240"/>
                <a:gridCol w="777240"/>
                <a:gridCol w="777240"/>
                <a:gridCol w="777240"/>
              </a:tblGrid>
              <a:tr h="283464">
                <a:tc>
                  <a:txBody>
                    <a:bodyPr/>
                    <a:lstStyle/>
                    <a:p>
                      <a:pPr algn="l" indent="0" marL="0">
                        <a:buNone/>
                      </a:pP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2005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2010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2015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2025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Qo‘shilgan qiymat, mlrd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461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652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526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715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959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1 340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YaIMdagi ulush,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4,5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5,0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3,5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3,9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4,5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4,3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Real hajm, 2000 = 100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100,0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100,9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71,0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82,6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93,3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93,3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83464">
                <a:tc>
                  <a:txBody>
                    <a:bodyPr/>
                    <a:lstStyle/>
                    <a:p>
                      <a:pPr algn="l" indent="0" marL="0">
                        <a:buNone/>
                      </a:pPr>
                      <a:r>
                        <a:rPr lang="en-US" sz="1200" dirty="0">
                          <a:solidFill>
                            <a:srgbClr val="55524B"/>
                          </a:solidFill>
                          <a:latin typeface="+mj-lt" pitchFamily="34" charset="0"/>
                          <a:ea typeface="+mj-lt" pitchFamily="34" charset="-122"/>
                          <a:cs typeface="+mj-lt" pitchFamily="34" charset="-120"/>
                        </a:rPr>
                        <a:t>Bandlik, mln kishi</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6,66</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7,31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5,40</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6,38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7,13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8,13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9" name="manba"/>
          <p:cNvSpPr txBox="1"/>
          <p:nvPr/>
        </p:nvSpPr>
        <p:spPr>
          <a:xfrm>
            <a:off x="571500" y="603504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a:t>
            </a:r>
            <a:endParaRPr lang="en-US" sz="1100" dirty="0"/>
          </a:p>
        </p:txBody>
      </p:sp>
      <p:sp>
        <p:nvSpPr>
          <p:cNvPr id="20" name="katta-raqam"/>
          <p:cNvSpPr txBox="1"/>
          <p:nvPr/>
        </p:nvSpPr>
        <p:spPr>
          <a:xfrm>
            <a:off x="7872984" y="1737360"/>
            <a:ext cx="2011680" cy="548640"/>
          </a:xfrm>
          <a:prstGeom prst="rect">
            <a:avLst/>
          </a:prstGeom>
          <a:noFill/>
          <a:ln/>
        </p:spPr>
        <p:txBody>
          <a:bodyPr wrap="square" lIns="0" tIns="0" rIns="0" bIns="0" rtlCol="0" anchor="b"/>
          <a:lstStyle/>
          <a:p>
            <a:pPr indent="0" marL="0">
              <a:buNone/>
            </a:pPr>
            <a:r>
              <a:rPr lang="en-US" sz="3600" b="1" dirty="0">
                <a:solidFill>
                  <a:srgbClr val="9C36B5"/>
                </a:solidFill>
                <a:latin typeface="+mj-lt" pitchFamily="34" charset="0"/>
                <a:ea typeface="+mj-lt" pitchFamily="34" charset="-122"/>
                <a:cs typeface="+mj-lt" pitchFamily="34" charset="-120"/>
              </a:rPr>
              <a:t>+190,5%</a:t>
            </a:r>
            <a:endParaRPr lang="en-US" sz="3600" dirty="0"/>
          </a:p>
        </p:txBody>
      </p:sp>
      <p:sp>
        <p:nvSpPr>
          <p:cNvPr id="21" name="katta-raqam-izoh"/>
          <p:cNvSpPr txBox="1"/>
          <p:nvPr/>
        </p:nvSpPr>
        <p:spPr>
          <a:xfrm>
            <a:off x="7872984" y="2322576"/>
            <a:ext cx="2011680"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qo‘shilgan qiymat, joriy narxda</a:t>
            </a:r>
            <a:endParaRPr lang="en-US" sz="1200" dirty="0"/>
          </a:p>
        </p:txBody>
      </p:sp>
      <p:sp>
        <p:nvSpPr>
          <p:cNvPr id="22" name="katta-raqam"/>
          <p:cNvSpPr txBox="1"/>
          <p:nvPr/>
        </p:nvSpPr>
        <p:spPr>
          <a:xfrm>
            <a:off x="10021824" y="1737360"/>
            <a:ext cx="1554480" cy="548640"/>
          </a:xfrm>
          <a:prstGeom prst="rect">
            <a:avLst/>
          </a:prstGeom>
          <a:noFill/>
          <a:ln/>
        </p:spPr>
        <p:txBody>
          <a:bodyPr wrap="square" lIns="0" tIns="0" rIns="0" bIns="0" rtlCol="0" anchor="b"/>
          <a:lstStyle/>
          <a:p>
            <a:pPr indent="0" marL="0">
              <a:buNone/>
            </a:pPr>
            <a:r>
              <a:rPr lang="en-US" sz="3600" b="1" dirty="0">
                <a:solidFill>
                  <a:srgbClr val="C92A2A"/>
                </a:solidFill>
                <a:latin typeface="+mj-lt" pitchFamily="34" charset="0"/>
                <a:ea typeface="+mj-lt" pitchFamily="34" charset="-122"/>
                <a:cs typeface="+mj-lt" pitchFamily="34" charset="-120"/>
              </a:rPr>
              <a:t>−6,7%</a:t>
            </a:r>
            <a:endParaRPr lang="en-US" sz="3600" dirty="0"/>
          </a:p>
        </p:txBody>
      </p:sp>
      <p:sp>
        <p:nvSpPr>
          <p:cNvPr id="23" name="katta-raqam-izoh"/>
          <p:cNvSpPr txBox="1"/>
          <p:nvPr/>
        </p:nvSpPr>
        <p:spPr>
          <a:xfrm>
            <a:off x="10021824" y="2322576"/>
            <a:ext cx="1554480"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real hajm</a:t>
            </a:r>
            <a:endParaRPr lang="en-US" sz="1200" dirty="0"/>
          </a:p>
        </p:txBody>
      </p:sp>
      <p:sp>
        <p:nvSpPr>
          <p:cNvPr id="24" name="katta-raqam"/>
          <p:cNvSpPr txBox="1"/>
          <p:nvPr/>
        </p:nvSpPr>
        <p:spPr>
          <a:xfrm>
            <a:off x="7872984" y="2697480"/>
            <a:ext cx="3730752" cy="487680"/>
          </a:xfrm>
          <a:prstGeom prst="rect">
            <a:avLst/>
          </a:prstGeom>
          <a:noFill/>
          <a:ln/>
        </p:spPr>
        <p:txBody>
          <a:bodyPr wrap="square" lIns="0" tIns="0" rIns="0" bIns="0" rtlCol="0" anchor="b"/>
          <a:lstStyle/>
          <a:p>
            <a:pPr indent="0" marL="0">
              <a:buNone/>
            </a:pPr>
            <a:r>
              <a:rPr lang="en-US" sz="3200" b="1" dirty="0">
                <a:solidFill>
                  <a:srgbClr val="9C36B5"/>
                </a:solidFill>
                <a:latin typeface="+mj-lt" pitchFamily="34" charset="0"/>
                <a:ea typeface="+mj-lt" pitchFamily="34" charset="-122"/>
                <a:cs typeface="+mj-lt" pitchFamily="34" charset="-120"/>
              </a:rPr>
              <a:t>×3,1</a:t>
            </a:r>
            <a:endParaRPr lang="en-US" sz="3200" dirty="0"/>
          </a:p>
        </p:txBody>
      </p:sp>
      <p:sp>
        <p:nvSpPr>
          <p:cNvPr id="25" name="katta-raqam-izoh"/>
          <p:cNvSpPr txBox="1"/>
          <p:nvPr/>
        </p:nvSpPr>
        <p:spPr>
          <a:xfrm>
            <a:off x="7872984" y="3221736"/>
            <a:ext cx="3730752"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qurilish narxlari, 25 yilda</a:t>
            </a:r>
            <a:endParaRPr lang="en-US" sz="1200" dirty="0"/>
          </a:p>
        </p:txBody>
      </p:sp>
      <p:sp>
        <p:nvSpPr>
          <p:cNvPr id="26" name="nega-belgi"/>
          <p:cNvSpPr/>
          <p:nvPr/>
        </p:nvSpPr>
        <p:spPr>
          <a:xfrm>
            <a:off x="7872984" y="3621024"/>
            <a:ext cx="274320" cy="274320"/>
          </a:xfrm>
          <a:prstGeom prst="diamond">
            <a:avLst/>
          </a:prstGeom>
          <a:solidFill>
            <a:srgbClr val="F5C400"/>
          </a:solidFill>
          <a:ln w="19050">
            <a:solidFill>
              <a:srgbClr val="141414"/>
            </a:solidFill>
            <a:prstDash val="solid"/>
          </a:ln>
        </p:spPr>
      </p:sp>
      <p:sp>
        <p:nvSpPr>
          <p:cNvPr id="27" name="nega-belgi-matn"/>
          <p:cNvSpPr txBox="1"/>
          <p:nvPr/>
        </p:nvSpPr>
        <p:spPr>
          <a:xfrm>
            <a:off x="7872984" y="362102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28" name="nega-sarlavha"/>
          <p:cNvSpPr txBox="1"/>
          <p:nvPr/>
        </p:nvSpPr>
        <p:spPr>
          <a:xfrm>
            <a:off x="8238744" y="361188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29" name="nega-matn"/>
          <p:cNvSpPr txBox="1"/>
          <p:nvPr/>
        </p:nvSpPr>
        <p:spPr>
          <a:xfrm>
            <a:off x="7872984" y="3995928"/>
            <a:ext cx="3730752" cy="137160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Qurilish narxlari tez oshdi, unumdorlik esa o‘nlab yillar davomida pasaydi. Goolsbee va Syverson buni faqat o‘lchash xatosi bilan tushuntirib bo‘lmasligini ko‘rsatgan [6].</a:t>
            </a:r>
            <a:endParaRPr lang="en-US" sz="1300" dirty="0"/>
          </a:p>
        </p:txBody>
      </p:sp>
      <p:sp>
        <p:nvSpPr>
          <p:cNvPr id="30" name="anglatadi-chiziq"/>
          <p:cNvSpPr/>
          <p:nvPr/>
        </p:nvSpPr>
        <p:spPr>
          <a:xfrm>
            <a:off x="7872984" y="5349240"/>
            <a:ext cx="64008" cy="731520"/>
          </a:xfrm>
          <a:prstGeom prst="rect">
            <a:avLst/>
          </a:prstGeom>
          <a:solidFill>
            <a:srgbClr val="9C36B5"/>
          </a:solidFill>
          <a:ln/>
        </p:spPr>
      </p:sp>
      <p:sp>
        <p:nvSpPr>
          <p:cNvPr id="31" name="anglatadi-sarlavha"/>
          <p:cNvSpPr txBox="1"/>
          <p:nvPr/>
        </p:nvSpPr>
        <p:spPr>
          <a:xfrm>
            <a:off x="8074152" y="536752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32" name="anglatadi-matn"/>
          <p:cNvSpPr txBox="1"/>
          <p:nvPr/>
        </p:nvSpPr>
        <p:spPr>
          <a:xfrm>
            <a:off x="8074152" y="5623560"/>
            <a:ext cx="3529584" cy="43891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Pul hisobidagi o‘sish har doim ham real o‘sish emas.</a:t>
            </a:r>
            <a:endParaRPr lang="en-US" sz="1700" dirty="0"/>
          </a:p>
        </p:txBody>
      </p:sp>
      <p:sp>
        <p:nvSpPr>
          <p:cNvPr id="33" name="speaker-dot"/>
          <p:cNvSpPr/>
          <p:nvPr/>
        </p:nvSpPr>
        <p:spPr>
          <a:xfrm>
            <a:off x="571500" y="6336792"/>
            <a:ext cx="77724" cy="77724"/>
          </a:xfrm>
          <a:prstGeom prst="ellipse">
            <a:avLst/>
          </a:prstGeom>
          <a:solidFill>
            <a:srgbClr val="9C36B5"/>
          </a:solidFill>
          <a:ln/>
        </p:spPr>
      </p:sp>
      <p:sp>
        <p:nvSpPr>
          <p:cNvPr id="34"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Qo‘ziboyev Aslbek</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400"/>
                                        <p:tgtEl>
                                          <p:spTgt spid="2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00"/>
                                        <p:tgtEl>
                                          <p:spTgt spid="23"/>
                                        </p:tgtEl>
                                      </p:cBhvr>
                                    </p:animEffect>
                                  </p:childTnLst>
                                </p:cTn>
                              </p:par>
                            </p:childTnLst>
                          </p:cTn>
                        </p:par>
                      </p:childTnLst>
                    </p:cTn>
                  </p:par>
                  <p:par>
                    <p:cTn id="44" fill="hold">
                      <p:stCondLst>
                        <p:cond delay="indefinite"/>
                      </p:stCondLst>
                      <p:childTnLst>
                        <p:par>
                          <p:cTn id="45"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00"/>
                                        <p:tgtEl>
                                          <p:spTgt spid="2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00"/>
                                        <p:tgtEl>
                                          <p:spTgt spid="25"/>
                                        </p:tgtEl>
                                      </p:cBhvr>
                                    </p:animEffect>
                                  </p:childTnLst>
                                </p:cTn>
                              </p:par>
                            </p:childTnLst>
                          </p:cTn>
                        </p:par>
                      </p:childTnLst>
                    </p:cTn>
                  </p:par>
                  <p:par>
                    <p:cTn id="52" fill="hold">
                      <p:stCondLst>
                        <p:cond delay="indefinite"/>
                      </p:stCondLst>
                      <p:childTnLst>
                        <p:par>
                          <p:cTn id="53"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childTnLst>
                          </p:cTn>
                        </p:par>
                      </p:childTnLst>
                    </p:cTn>
                  </p:par>
                  <p:par>
                    <p:cTn id="66" fill="hold">
                      <p:stCondLst>
                        <p:cond delay="indefinite"/>
                      </p:stCondLst>
                      <p:childTnLst>
                        <p:par>
                          <p:cTn id="67"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00"/>
                                        <p:tgtEl>
                                          <p:spTgt spid="29"/>
                                        </p:tgtEl>
                                      </p:cBhvr>
                                    </p:animEffect>
                                  </p:childTnLst>
                                </p:cTn>
                              </p:par>
                            </p:childTnLst>
                          </p:cTn>
                        </p:par>
                      </p:childTnLst>
                    </p:cTn>
                  </p:par>
                  <p:par>
                    <p:cTn id="77" fill="hold">
                      <p:stCondLst>
                        <p:cond delay="indefinite"/>
                      </p:stCondLst>
                      <p:childTnLst>
                        <p:par>
                          <p:cTn id="78"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13" grpId="0" animBg="1"/>
      <p:bldP spid="15" grpId="0" animBg="1"/>
      <p:bldP spid="16" grpId="0" animBg="1"/>
      <p:bldP spid="17" grpId="0" animBg="1"/>
      <p:bldP spid="20" grpId="0" animBg="1"/>
      <p:bldP spid="21" grpId="0" animBg="1"/>
      <p:bldP spid="22" grpId="0" animBg="1"/>
      <p:bldP spid="23" grpId="0" animBg="1"/>
      <p:bldGraphic spid="11" grpId="0">
        <p:bldAsOne/>
      </p:bldGraphic>
      <p:bldP spid="14" grpId="0" animBg="1"/>
      <p:bldP spid="24" grpId="0" animBg="1"/>
      <p:bldP spid="25" grpId="0" animBg="1"/>
      <p:bldGraphic spid="11" grpId="0">
        <p:bldAsOne/>
      </p:bldGraphic>
      <p:bldP spid="19" grpId="0" animBg="1"/>
      <p:bldP spid="26" grpId="0" animBg="1"/>
      <p:bldP spid="27" grpId="0" animBg="1"/>
      <p:bldP spid="28" grpId="0" animBg="1"/>
      <p:bldP spid="29" grpId="0" animBg="1"/>
      <p:bldP spid="30" grpId="0" animBg="1"/>
      <p:bldP spid="31" grpId="0" animBg="1"/>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rogress"/>
          <p:cNvSpPr/>
          <p:nvPr/>
        </p:nvSpPr>
        <p:spPr>
          <a:xfrm>
            <a:off x="0" y="6743700"/>
            <a:ext cx="5805569"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Qurilish — foiz stavkalari va davlat siyosatining barometri</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11</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Qurilish</a:t>
            </a:r>
            <a:endParaRPr lang="en-US" sz="1700" dirty="0"/>
          </a:p>
        </p:txBody>
      </p:sp>
      <p:sp>
        <p:nvSpPr>
          <p:cNvPr id="9" name="sign-lane"/>
          <p:cNvSpPr/>
          <p:nvPr/>
        </p:nvSpPr>
        <p:spPr>
          <a:xfrm>
            <a:off x="9994392" y="1225296"/>
            <a:ext cx="1517904" cy="50292"/>
          </a:xfrm>
          <a:prstGeom prst="rect">
            <a:avLst/>
          </a:prstGeom>
          <a:solidFill>
            <a:srgbClr val="9C36B5"/>
          </a:solidFill>
          <a:ln/>
        </p:spPr>
      </p:sp>
      <p:sp>
        <p:nvSpPr>
          <p:cNvPr id="10" name="birlik"/>
          <p:cNvSpPr txBox="1"/>
          <p:nvPr/>
        </p:nvSpPr>
        <p:spPr>
          <a:xfrm>
            <a:off x="571500" y="150876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bandlik, mln kishi</a:t>
            </a:r>
            <a:endParaRPr lang="en-US" sz="1100" dirty="0"/>
          </a:p>
        </p:txBody>
      </p:sp>
      <p:sp>
        <p:nvSpPr>
          <p:cNvPr id="11" name="zona"/>
          <p:cNvSpPr/>
          <p:nvPr/>
        </p:nvSpPr>
        <p:spPr>
          <a:xfrm>
            <a:off x="2386232" y="1883664"/>
            <a:ext cx="981222" cy="2087118"/>
          </a:xfrm>
          <a:prstGeom prst="rect">
            <a:avLst/>
          </a:prstGeom>
          <a:solidFill>
            <a:srgbClr val="C92A2A">
              <a:alpha val="14000"/>
            </a:srgbClr>
          </a:solidFill>
          <a:ln/>
        </p:spPr>
      </p:sp>
      <p:sp>
        <p:nvSpPr>
          <p:cNvPr id="12" name="yorliq"/>
          <p:cNvSpPr txBox="1"/>
          <p:nvPr/>
        </p:nvSpPr>
        <p:spPr>
          <a:xfrm>
            <a:off x="2145323" y="2008289"/>
            <a:ext cx="1463040" cy="237744"/>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uy-joy pufagi</a:t>
            </a:r>
            <a:endParaRPr lang="en-US" sz="1100" dirty="0"/>
          </a:p>
        </p:txBody>
      </p:sp>
      <p:sp>
        <p:nvSpPr>
          <p:cNvPr id="13" name="zona"/>
          <p:cNvSpPr/>
          <p:nvPr/>
        </p:nvSpPr>
        <p:spPr>
          <a:xfrm>
            <a:off x="6311118" y="1883664"/>
            <a:ext cx="245305" cy="2087118"/>
          </a:xfrm>
          <a:prstGeom prst="rect">
            <a:avLst/>
          </a:prstGeom>
          <a:solidFill>
            <a:srgbClr val="C92A2A">
              <a:alpha val="14000"/>
            </a:srgbClr>
          </a:solidFill>
          <a:ln/>
        </p:spPr>
      </p:sp>
      <p:sp>
        <p:nvSpPr>
          <p:cNvPr id="14" name="yorliq"/>
          <p:cNvSpPr txBox="1"/>
          <p:nvPr/>
        </p:nvSpPr>
        <p:spPr>
          <a:xfrm>
            <a:off x="4793214" y="2008289"/>
            <a:ext cx="1463040" cy="237744"/>
          </a:xfrm>
          <a:prstGeom prst="rect">
            <a:avLst/>
          </a:prstGeom>
          <a:noFill/>
          <a:ln/>
        </p:spPr>
        <p:txBody>
          <a:bodyPr wrap="square" lIns="0" tIns="0" rIns="0" bIns="0" rtlCol="0" anchor="ctr"/>
          <a:lstStyle/>
          <a:p>
            <a:pPr algn="r" indent="0" marL="0">
              <a:buNone/>
            </a:pPr>
            <a:r>
              <a:rPr lang="en-US" sz="1100" b="1" dirty="0">
                <a:solidFill>
                  <a:srgbClr val="141414"/>
                </a:solidFill>
                <a:latin typeface="+mj-lt" pitchFamily="34" charset="0"/>
                <a:ea typeface="+mj-lt" pitchFamily="34" charset="-122"/>
                <a:cs typeface="+mj-lt" pitchFamily="34" charset="-120"/>
              </a:rPr>
              <a:t>foiz shoki</a:t>
            </a:r>
            <a:endParaRPr lang="en-US" sz="1100" dirty="0"/>
          </a:p>
        </p:txBody>
      </p:sp>
      <p:sp>
        <p:nvSpPr>
          <p:cNvPr id="15" name="zona"/>
          <p:cNvSpPr/>
          <p:nvPr/>
        </p:nvSpPr>
        <p:spPr>
          <a:xfrm>
            <a:off x="6556424" y="1883664"/>
            <a:ext cx="490611" cy="2087118"/>
          </a:xfrm>
          <a:prstGeom prst="rect">
            <a:avLst/>
          </a:prstGeom>
          <a:solidFill>
            <a:srgbClr val="2F9E44">
              <a:alpha val="14000"/>
            </a:srgbClr>
          </a:solidFill>
          <a:ln/>
        </p:spPr>
      </p:sp>
      <p:sp>
        <p:nvSpPr>
          <p:cNvPr id="16" name="yorliq"/>
          <p:cNvSpPr txBox="1"/>
          <p:nvPr/>
        </p:nvSpPr>
        <p:spPr>
          <a:xfrm>
            <a:off x="6070209" y="2008289"/>
            <a:ext cx="1463040" cy="237744"/>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zavodlar</a:t>
            </a:r>
            <a:endParaRPr lang="en-US" sz="1100" dirty="0"/>
          </a:p>
        </p:txBody>
      </p:sp>
      <p:graphicFrame>
        <p:nvGraphicFramePr>
          <p:cNvPr id="17" name="grafik" descr=""/>
          <p:cNvGraphicFramePr/>
          <p:nvPr/>
        </p:nvGraphicFramePr>
        <p:xfrm>
          <a:off x="571500" y="1783080"/>
          <a:ext cx="6858000" cy="2514600"/>
        </p:xfrm>
        <a:graphic xmlns:a="http://schemas.openxmlformats.org/drawingml/2006/main">
          <a:graphicData uri="http://schemas.openxmlformats.org/drawingml/2006/chart">
            <c:chart xmlns:c="http://schemas.openxmlformats.org/drawingml/2006/chart" r:id="rId1"/>
          </a:graphicData>
        </a:graphic>
      </p:graphicFrame>
      <p:sp>
        <p:nvSpPr>
          <p:cNvPr id="18" name="yorliq"/>
          <p:cNvSpPr txBox="1"/>
          <p:nvPr/>
        </p:nvSpPr>
        <p:spPr>
          <a:xfrm>
            <a:off x="927325" y="2529141"/>
            <a:ext cx="2011680" cy="237744"/>
          </a:xfrm>
          <a:prstGeom prst="rect">
            <a:avLst/>
          </a:prstGeom>
          <a:noFill/>
          <a:ln/>
        </p:spPr>
        <p:txBody>
          <a:bodyPr wrap="square" lIns="0" tIns="0" rIns="0" bIns="0" rtlCol="0" anchor="ctr"/>
          <a:lstStyle/>
          <a:p>
            <a:pPr algn="l" indent="0" marL="0">
              <a:buNone/>
            </a:pPr>
            <a:r>
              <a:rPr lang="en-US" sz="1100" b="1" dirty="0">
                <a:solidFill>
                  <a:srgbClr val="141414"/>
                </a:solidFill>
                <a:latin typeface="+mj-lt" pitchFamily="34" charset="0"/>
                <a:ea typeface="+mj-lt" pitchFamily="34" charset="-122"/>
                <a:cs typeface="+mj-lt" pitchFamily="34" charset="-120"/>
              </a:rPr>
              <a:t>6,66</a:t>
            </a:r>
            <a:endParaRPr lang="en-US" sz="1100" dirty="0"/>
          </a:p>
        </p:txBody>
      </p:sp>
      <p:sp>
        <p:nvSpPr>
          <p:cNvPr id="19" name="yorliq"/>
          <p:cNvSpPr txBox="1"/>
          <p:nvPr/>
        </p:nvSpPr>
        <p:spPr>
          <a:xfrm>
            <a:off x="5286023" y="2273469"/>
            <a:ext cx="2011680" cy="237744"/>
          </a:xfrm>
          <a:prstGeom prst="rect">
            <a:avLst/>
          </a:prstGeom>
          <a:noFill/>
          <a:ln/>
        </p:spPr>
        <p:txBody>
          <a:bodyPr wrap="square" lIns="0" tIns="0" rIns="0" bIns="0" rtlCol="0" anchor="ctr"/>
          <a:lstStyle/>
          <a:p>
            <a:pPr algn="r" indent="0" marL="0">
              <a:buNone/>
            </a:pPr>
            <a:r>
              <a:rPr lang="en-US" sz="1100" b="1" dirty="0">
                <a:solidFill>
                  <a:srgbClr val="141414"/>
                </a:solidFill>
                <a:latin typeface="+mj-lt" pitchFamily="34" charset="0"/>
                <a:ea typeface="+mj-lt" pitchFamily="34" charset="-122"/>
                <a:cs typeface="+mj-lt" pitchFamily="34" charset="-120"/>
              </a:rPr>
              <a:t>8,13</a:t>
            </a:r>
            <a:endParaRPr lang="en-US" sz="1100" dirty="0"/>
          </a:p>
        </p:txBody>
      </p:sp>
      <p:sp>
        <p:nvSpPr>
          <p:cNvPr id="20" name="manba"/>
          <p:cNvSpPr txBox="1"/>
          <p:nvPr/>
        </p:nvSpPr>
        <p:spPr>
          <a:xfrm>
            <a:off x="571500" y="434340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[2]</a:t>
            </a:r>
            <a:endParaRPr lang="en-US" sz="1100" dirty="0"/>
          </a:p>
        </p:txBody>
      </p:sp>
      <p:sp>
        <p:nvSpPr>
          <p:cNvPr id="21" name="voqea-chiziq"/>
          <p:cNvSpPr/>
          <p:nvPr/>
        </p:nvSpPr>
        <p:spPr>
          <a:xfrm>
            <a:off x="571500" y="4709160"/>
            <a:ext cx="2148840" cy="45720"/>
          </a:xfrm>
          <a:prstGeom prst="rect">
            <a:avLst/>
          </a:prstGeom>
          <a:solidFill>
            <a:srgbClr val="9C36B5"/>
          </a:solidFill>
          <a:ln/>
        </p:spPr>
      </p:sp>
      <p:sp>
        <p:nvSpPr>
          <p:cNvPr id="22" name="voqea"/>
          <p:cNvSpPr txBox="1"/>
          <p:nvPr/>
        </p:nvSpPr>
        <p:spPr>
          <a:xfrm>
            <a:off x="571500" y="4800600"/>
            <a:ext cx="2148840" cy="1325880"/>
          </a:xfrm>
          <a:prstGeom prst="rect">
            <a:avLst/>
          </a:prstGeom>
          <a:noFill/>
          <a:ln/>
        </p:spPr>
        <p:txBody>
          <a:bodyPr wrap="square" lIns="0" tIns="0" rIns="0" bIns="0" rtlCol="0" anchor="t"/>
          <a:lstStyle/>
          <a:p>
            <a:pPr indent="0" marL="0">
              <a:spcAft>
                <a:spcPts val="200"/>
              </a:spcAft>
              <a:buNone/>
            </a:pPr>
            <a:r>
              <a:rPr lang="en-US" sz="1500" b="1" dirty="0">
                <a:solidFill>
                  <a:srgbClr val="9C36B5"/>
                </a:solidFill>
                <a:latin typeface="+mj-lt" pitchFamily="34" charset="0"/>
                <a:ea typeface="+mj-lt" pitchFamily="34" charset="-122"/>
                <a:cs typeface="+mj-lt" pitchFamily="34" charset="-120"/>
              </a:rPr>
              <a:t>2006–2009</a:t>
            </a:r>
            <a:endParaRPr lang="en-US" sz="1500" dirty="0"/>
          </a:p>
          <a:p>
            <a:pPr indent="0" marL="0">
              <a:spcAft>
                <a:spcPts val="200"/>
              </a:spcAft>
              <a:buNone/>
            </a:pPr>
            <a:r>
              <a:rPr lang="en-US" sz="1300" b="1" dirty="0">
                <a:solidFill>
                  <a:srgbClr val="141414"/>
                </a:solidFill>
                <a:latin typeface="+mj-lt" pitchFamily="34" charset="0"/>
                <a:ea typeface="+mj-lt" pitchFamily="34" charset="-122"/>
                <a:cs typeface="+mj-lt" pitchFamily="34" charset="-120"/>
              </a:rPr>
              <a:t>Uy-joy pufagi yorildi</a:t>
            </a:r>
            <a:endParaRPr lang="en-US" sz="1500" dirty="0"/>
          </a:p>
          <a:p>
            <a:pPr indent="0" marL="0">
              <a:spcAft>
                <a:spcPts val="200"/>
              </a:spcAft>
              <a:buNone/>
            </a:pPr>
            <a:r>
              <a:rPr lang="en-US" sz="1200" dirty="0">
                <a:solidFill>
                  <a:srgbClr val="141414"/>
                </a:solidFill>
              </a:rPr>
              <a:t>Qurilishda 1,9 mln ish o‘rni yo‘qoldi [7].</a:t>
            </a:r>
            <a:endParaRPr lang="en-US" sz="1500" dirty="0"/>
          </a:p>
        </p:txBody>
      </p:sp>
      <p:sp>
        <p:nvSpPr>
          <p:cNvPr id="23" name="voqea-chiziq"/>
          <p:cNvSpPr/>
          <p:nvPr/>
        </p:nvSpPr>
        <p:spPr>
          <a:xfrm>
            <a:off x="2903220" y="4709160"/>
            <a:ext cx="2148840" cy="45720"/>
          </a:xfrm>
          <a:prstGeom prst="rect">
            <a:avLst/>
          </a:prstGeom>
          <a:solidFill>
            <a:srgbClr val="9C36B5"/>
          </a:solidFill>
          <a:ln/>
        </p:spPr>
      </p:sp>
      <p:sp>
        <p:nvSpPr>
          <p:cNvPr id="24" name="voqea"/>
          <p:cNvSpPr txBox="1"/>
          <p:nvPr/>
        </p:nvSpPr>
        <p:spPr>
          <a:xfrm>
            <a:off x="2903220" y="4800600"/>
            <a:ext cx="2148840" cy="1325880"/>
          </a:xfrm>
          <a:prstGeom prst="rect">
            <a:avLst/>
          </a:prstGeom>
          <a:noFill/>
          <a:ln/>
        </p:spPr>
        <p:txBody>
          <a:bodyPr wrap="square" lIns="0" tIns="0" rIns="0" bIns="0" rtlCol="0" anchor="t"/>
          <a:lstStyle/>
          <a:p>
            <a:pPr indent="0" marL="0">
              <a:spcAft>
                <a:spcPts val="200"/>
              </a:spcAft>
              <a:buNone/>
            </a:pPr>
            <a:r>
              <a:rPr lang="en-US" sz="1500" b="1" dirty="0">
                <a:solidFill>
                  <a:srgbClr val="9C36B5"/>
                </a:solidFill>
                <a:latin typeface="+mj-lt" pitchFamily="34" charset="0"/>
                <a:ea typeface="+mj-lt" pitchFamily="34" charset="-122"/>
                <a:cs typeface="+mj-lt" pitchFamily="34" charset="-120"/>
              </a:rPr>
              <a:t>2022</a:t>
            </a:r>
            <a:endParaRPr lang="en-US" sz="1500" dirty="0"/>
          </a:p>
          <a:p>
            <a:pPr indent="0" marL="0">
              <a:spcAft>
                <a:spcPts val="200"/>
              </a:spcAft>
              <a:buNone/>
            </a:pPr>
            <a:r>
              <a:rPr lang="en-US" sz="1300" b="1" dirty="0">
                <a:solidFill>
                  <a:srgbClr val="141414"/>
                </a:solidFill>
                <a:latin typeface="+mj-lt" pitchFamily="34" charset="0"/>
                <a:ea typeface="+mj-lt" pitchFamily="34" charset="-122"/>
                <a:cs typeface="+mj-lt" pitchFamily="34" charset="-120"/>
              </a:rPr>
              <a:t>Foiz shoki</a:t>
            </a:r>
            <a:endParaRPr lang="en-US" sz="1500" dirty="0"/>
          </a:p>
          <a:p>
            <a:pPr indent="0" marL="0">
              <a:spcAft>
                <a:spcPts val="200"/>
              </a:spcAft>
              <a:buNone/>
            </a:pPr>
            <a:r>
              <a:rPr lang="en-US" sz="1200" dirty="0">
                <a:solidFill>
                  <a:srgbClr val="141414"/>
                </a:solidFill>
              </a:rPr>
              <a:t>Fed stavkasi 5,25–5,50% gacha, ipoteka 7,79% [11]. Real hajm −6,3%.</a:t>
            </a:r>
            <a:endParaRPr lang="en-US" sz="1500" dirty="0"/>
          </a:p>
        </p:txBody>
      </p:sp>
      <p:sp>
        <p:nvSpPr>
          <p:cNvPr id="25" name="voqea-chiziq"/>
          <p:cNvSpPr/>
          <p:nvPr/>
        </p:nvSpPr>
        <p:spPr>
          <a:xfrm>
            <a:off x="5234940" y="4709160"/>
            <a:ext cx="2148840" cy="45720"/>
          </a:xfrm>
          <a:prstGeom prst="rect">
            <a:avLst/>
          </a:prstGeom>
          <a:solidFill>
            <a:srgbClr val="9C36B5"/>
          </a:solidFill>
          <a:ln/>
        </p:spPr>
      </p:sp>
      <p:sp>
        <p:nvSpPr>
          <p:cNvPr id="26" name="voqea"/>
          <p:cNvSpPr txBox="1"/>
          <p:nvPr/>
        </p:nvSpPr>
        <p:spPr>
          <a:xfrm>
            <a:off x="5234940" y="4800600"/>
            <a:ext cx="2148840" cy="1325880"/>
          </a:xfrm>
          <a:prstGeom prst="rect">
            <a:avLst/>
          </a:prstGeom>
          <a:noFill/>
          <a:ln/>
        </p:spPr>
        <p:txBody>
          <a:bodyPr wrap="square" lIns="0" tIns="0" rIns="0" bIns="0" rtlCol="0" anchor="t"/>
          <a:lstStyle/>
          <a:p>
            <a:pPr indent="0" marL="0">
              <a:spcAft>
                <a:spcPts val="200"/>
              </a:spcAft>
              <a:buNone/>
            </a:pPr>
            <a:r>
              <a:rPr lang="en-US" sz="1500" b="1" dirty="0">
                <a:solidFill>
                  <a:srgbClr val="9C36B5"/>
                </a:solidFill>
                <a:latin typeface="+mj-lt" pitchFamily="34" charset="0"/>
                <a:ea typeface="+mj-lt" pitchFamily="34" charset="-122"/>
                <a:cs typeface="+mj-lt" pitchFamily="34" charset="-120"/>
              </a:rPr>
              <a:t>2023–2024</a:t>
            </a:r>
            <a:endParaRPr lang="en-US" sz="1500" dirty="0"/>
          </a:p>
          <a:p>
            <a:pPr indent="0" marL="0">
              <a:spcAft>
                <a:spcPts val="200"/>
              </a:spcAft>
              <a:buNone/>
            </a:pPr>
            <a:r>
              <a:rPr lang="en-US" sz="1300" b="1" dirty="0">
                <a:solidFill>
                  <a:srgbClr val="141414"/>
                </a:solidFill>
                <a:latin typeface="+mj-lt" pitchFamily="34" charset="0"/>
                <a:ea typeface="+mj-lt" pitchFamily="34" charset="-122"/>
                <a:cs typeface="+mj-lt" pitchFamily="34" charset="-120"/>
              </a:rPr>
              <a:t>Zavodlar bumi</a:t>
            </a:r>
            <a:endParaRPr lang="en-US" sz="1500" dirty="0"/>
          </a:p>
          <a:p>
            <a:pPr indent="0" marL="0">
              <a:spcAft>
                <a:spcPts val="200"/>
              </a:spcAft>
              <a:buNone/>
            </a:pPr>
            <a:r>
              <a:rPr lang="en-US" sz="1200" dirty="0">
                <a:solidFill>
                  <a:srgbClr val="141414"/>
                </a:solidFill>
              </a:rPr>
              <a:t>CHIPS qonuni: 52,7 mlrd $. Zavod qurilishi 233,2 mlrd $ (+20,4%) [10].</a:t>
            </a:r>
            <a:endParaRPr lang="en-US" sz="1500" dirty="0"/>
          </a:p>
        </p:txBody>
      </p:sp>
      <p:sp>
        <p:nvSpPr>
          <p:cNvPr id="27" name="katta-raqam"/>
          <p:cNvSpPr txBox="1"/>
          <p:nvPr/>
        </p:nvSpPr>
        <p:spPr>
          <a:xfrm>
            <a:off x="7872984" y="1481328"/>
            <a:ext cx="3730752" cy="548640"/>
          </a:xfrm>
          <a:prstGeom prst="rect">
            <a:avLst/>
          </a:prstGeom>
          <a:noFill/>
          <a:ln/>
        </p:spPr>
        <p:txBody>
          <a:bodyPr wrap="square" lIns="0" tIns="0" rIns="0" bIns="0" rtlCol="0" anchor="b"/>
          <a:lstStyle/>
          <a:p>
            <a:pPr indent="0" marL="0">
              <a:buNone/>
            </a:pPr>
            <a:r>
              <a:rPr lang="en-US" sz="3600" b="1" dirty="0">
                <a:solidFill>
                  <a:srgbClr val="C92A2A"/>
                </a:solidFill>
                <a:latin typeface="+mj-lt" pitchFamily="34" charset="0"/>
                <a:ea typeface="+mj-lt" pitchFamily="34" charset="-122"/>
                <a:cs typeface="+mj-lt" pitchFamily="34" charset="-120"/>
              </a:rPr>
              <a:t>−14,3%</a:t>
            </a:r>
            <a:endParaRPr lang="en-US" sz="3600" dirty="0"/>
          </a:p>
        </p:txBody>
      </p:sp>
      <p:sp>
        <p:nvSpPr>
          <p:cNvPr id="28" name="katta-raqam-izoh"/>
          <p:cNvSpPr txBox="1"/>
          <p:nvPr/>
        </p:nvSpPr>
        <p:spPr>
          <a:xfrm>
            <a:off x="7872984" y="2066544"/>
            <a:ext cx="3730752"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real hajm, 2009</a:t>
            </a:r>
            <a:endParaRPr lang="en-US" sz="1200" dirty="0"/>
          </a:p>
        </p:txBody>
      </p:sp>
      <p:sp>
        <p:nvSpPr>
          <p:cNvPr id="29" name="katta-raqam"/>
          <p:cNvSpPr txBox="1"/>
          <p:nvPr/>
        </p:nvSpPr>
        <p:spPr>
          <a:xfrm>
            <a:off x="7872984" y="2395728"/>
            <a:ext cx="3730752" cy="548640"/>
          </a:xfrm>
          <a:prstGeom prst="rect">
            <a:avLst/>
          </a:prstGeom>
          <a:noFill/>
          <a:ln/>
        </p:spPr>
        <p:txBody>
          <a:bodyPr wrap="square" lIns="0" tIns="0" rIns="0" bIns="0" rtlCol="0" anchor="b"/>
          <a:lstStyle/>
          <a:p>
            <a:pPr indent="0" marL="0">
              <a:buNone/>
            </a:pPr>
            <a:r>
              <a:rPr lang="en-US" sz="3600" b="1" dirty="0">
                <a:solidFill>
                  <a:srgbClr val="C92A2A"/>
                </a:solidFill>
                <a:latin typeface="+mj-lt" pitchFamily="34" charset="0"/>
                <a:ea typeface="+mj-lt" pitchFamily="34" charset="-122"/>
                <a:cs typeface="+mj-lt" pitchFamily="34" charset="-120"/>
              </a:rPr>
              <a:t>−17,6%</a:t>
            </a:r>
            <a:endParaRPr lang="en-US" sz="3600" dirty="0"/>
          </a:p>
        </p:txBody>
      </p:sp>
      <p:sp>
        <p:nvSpPr>
          <p:cNvPr id="30" name="katta-raqam-izoh"/>
          <p:cNvSpPr txBox="1"/>
          <p:nvPr/>
        </p:nvSpPr>
        <p:spPr>
          <a:xfrm>
            <a:off x="7872984" y="2980944"/>
            <a:ext cx="3730752" cy="384048"/>
          </a:xfrm>
          <a:prstGeom prst="rect">
            <a:avLst/>
          </a:prstGeom>
          <a:noFill/>
          <a:ln/>
        </p:spPr>
        <p:txBody>
          <a:bodyPr wrap="square" lIns="0" tIns="0" rIns="0" bIns="0" rtlCol="0" anchor="t"/>
          <a:lstStyle/>
          <a:p>
            <a:pPr indent="0" marL="0">
              <a:buNone/>
            </a:pPr>
            <a:r>
              <a:rPr lang="en-US" sz="1200" dirty="0">
                <a:solidFill>
                  <a:schemeClr val="tx2"/>
                </a:solidFill>
                <a:latin typeface="+mj-lt" pitchFamily="34" charset="0"/>
                <a:ea typeface="+mj-lt" pitchFamily="34" charset="-122"/>
                <a:cs typeface="+mj-lt" pitchFamily="34" charset="-120"/>
              </a:rPr>
              <a:t>bandlik, 2009 — 25 yildagi eng katta pasayish</a:t>
            </a:r>
            <a:endParaRPr lang="en-US" sz="1200" dirty="0"/>
          </a:p>
        </p:txBody>
      </p:sp>
      <p:sp>
        <p:nvSpPr>
          <p:cNvPr id="31" name="nega-belgi"/>
          <p:cNvSpPr/>
          <p:nvPr/>
        </p:nvSpPr>
        <p:spPr>
          <a:xfrm>
            <a:off x="7872984" y="3346704"/>
            <a:ext cx="274320" cy="274320"/>
          </a:xfrm>
          <a:prstGeom prst="diamond">
            <a:avLst/>
          </a:prstGeom>
          <a:solidFill>
            <a:srgbClr val="F5C400"/>
          </a:solidFill>
          <a:ln w="19050">
            <a:solidFill>
              <a:srgbClr val="141414"/>
            </a:solidFill>
            <a:prstDash val="solid"/>
          </a:ln>
        </p:spPr>
      </p:sp>
      <p:sp>
        <p:nvSpPr>
          <p:cNvPr id="32" name="nega-belgi-matn"/>
          <p:cNvSpPr txBox="1"/>
          <p:nvPr/>
        </p:nvSpPr>
        <p:spPr>
          <a:xfrm>
            <a:off x="7872984" y="334670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33" name="nega-sarlavha"/>
          <p:cNvSpPr txBox="1"/>
          <p:nvPr/>
        </p:nvSpPr>
        <p:spPr>
          <a:xfrm>
            <a:off x="8238744" y="3337560"/>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34" name="nega-matn"/>
          <p:cNvSpPr txBox="1"/>
          <p:nvPr/>
        </p:nvSpPr>
        <p:spPr>
          <a:xfrm>
            <a:off x="7872984" y="3721608"/>
            <a:ext cx="3730752" cy="160020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Qurilish qarzga quriladi: foiz arzon bo‘lsa — bum, qimmat bo‘lsa — to‘xtash. Davlat dasturlari yangi buyurtma beradi. Hajm va bandlik birga harakat qiladi: real o‘sgan 13 yilning 12 tasida.</a:t>
            </a:r>
            <a:endParaRPr lang="en-US" sz="1300" dirty="0"/>
          </a:p>
        </p:txBody>
      </p:sp>
      <p:sp>
        <p:nvSpPr>
          <p:cNvPr id="35" name="anglatadi-chiziq"/>
          <p:cNvSpPr/>
          <p:nvPr/>
        </p:nvSpPr>
        <p:spPr>
          <a:xfrm>
            <a:off x="7872984" y="5230368"/>
            <a:ext cx="64008" cy="868680"/>
          </a:xfrm>
          <a:prstGeom prst="rect">
            <a:avLst/>
          </a:prstGeom>
          <a:solidFill>
            <a:srgbClr val="9C36B5"/>
          </a:solidFill>
          <a:ln/>
        </p:spPr>
      </p:sp>
      <p:sp>
        <p:nvSpPr>
          <p:cNvPr id="36" name="anglatadi-sarlavha"/>
          <p:cNvSpPr txBox="1"/>
          <p:nvPr/>
        </p:nvSpPr>
        <p:spPr>
          <a:xfrm>
            <a:off x="8074152" y="5248656"/>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37" name="anglatadi-matn"/>
          <p:cNvSpPr txBox="1"/>
          <p:nvPr/>
        </p:nvSpPr>
        <p:spPr>
          <a:xfrm>
            <a:off x="8074152" y="5504688"/>
            <a:ext cx="3529584" cy="5760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Qurilishga qarab iqtisodiyotning keyingi qadamini oldindan ko‘rish mumkin.</a:t>
            </a:r>
            <a:endParaRPr lang="en-US" sz="1700" dirty="0"/>
          </a:p>
        </p:txBody>
      </p:sp>
      <p:sp>
        <p:nvSpPr>
          <p:cNvPr id="38" name="speaker-dot"/>
          <p:cNvSpPr/>
          <p:nvPr/>
        </p:nvSpPr>
        <p:spPr>
          <a:xfrm>
            <a:off x="571500" y="6336792"/>
            <a:ext cx="77724" cy="77724"/>
          </a:xfrm>
          <a:prstGeom prst="ellipse">
            <a:avLst/>
          </a:prstGeom>
          <a:solidFill>
            <a:srgbClr val="9C36B5"/>
          </a:solidFill>
          <a:ln/>
        </p:spPr>
      </p:sp>
      <p:sp>
        <p:nvSpPr>
          <p:cNvPr id="39"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Qo‘ziboyev Aslbek</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44" fill="hold">
                      <p:stCondLst>
                        <p:cond delay="indefinite"/>
                      </p:stCondLst>
                      <p:childTnLst>
                        <p:par>
                          <p:cTn id="45"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4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childTnLst>
                          </p:cTn>
                        </p:par>
                      </p:childTnLst>
                    </p:cTn>
                  </p:par>
                  <p:par>
                    <p:cTn id="58" fill="hold">
                      <p:stCondLst>
                        <p:cond delay="indefinite"/>
                      </p:stCondLst>
                      <p:childTnLst>
                        <p:par>
                          <p:cTn id="59"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4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4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400"/>
                                        <p:tgtEl>
                                          <p:spTgt spid="24"/>
                                        </p:tgtEl>
                                      </p:cBhvr>
                                    </p:animEffect>
                                  </p:childTnLst>
                                </p:cTn>
                              </p:par>
                            </p:childTnLst>
                          </p:cTn>
                        </p:par>
                      </p:childTnLst>
                    </p:cTn>
                  </p:par>
                  <p:par>
                    <p:cTn id="72" fill="hold">
                      <p:stCondLst>
                        <p:cond delay="indefinite"/>
                      </p:stCondLst>
                      <p:childTnLst>
                        <p:par>
                          <p:cTn id="73"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00"/>
                                        <p:tgtEl>
                                          <p:spTgt spid="1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400"/>
                                        <p:tgtEl>
                                          <p:spTgt spid="1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childTnLst>
                          </p:cTn>
                        </p:par>
                      </p:childTnLst>
                    </p:cTn>
                  </p:par>
                  <p:par>
                    <p:cTn id="86" fill="hold">
                      <p:stCondLst>
                        <p:cond delay="indefinite"/>
                      </p:stCondLst>
                      <p:childTnLst>
                        <p:par>
                          <p:cTn id="87"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childTnLst>
                          </p:cTn>
                        </p:par>
                      </p:childTnLst>
                    </p:cTn>
                  </p:par>
                  <p:par>
                    <p:cTn id="97" fill="hold">
                      <p:stCondLst>
                        <p:cond delay="indefinite"/>
                      </p:stCondLst>
                      <p:childTnLst>
                        <p:par>
                          <p:cTn id="98"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400"/>
                                        <p:tgtEl>
                                          <p:spTgt spid="3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400"/>
                                        <p:tgtEl>
                                          <p:spTgt spid="3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fade">
                                      <p:cBhvr>
                                        <p:cTn id="96"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17" grpId="0">
        <p:bldAsOne/>
      </p:bldGraphic>
      <p:bldP spid="18" grpId="0" animBg="1"/>
      <p:bldP spid="19" grpId="0" animBg="1"/>
      <p:bldP spid="20" grpId="0" animBg="1"/>
      <p:bldP spid="11" grpId="0" animBg="1"/>
      <p:bldP spid="12" grpId="0" animBg="1"/>
      <p:bldP spid="21" grpId="0" animBg="1"/>
      <p:bldP spid="22" grpId="0" animBg="1"/>
      <p:bldP spid="27" grpId="0" animBg="1"/>
      <p:bldP spid="28" grpId="0" animBg="1"/>
      <p:bldP spid="29" grpId="0" animBg="1"/>
      <p:bldP spid="30" grpId="0" animBg="1"/>
      <p:bldP spid="13" grpId="0" animBg="1"/>
      <p:bldP spid="14" grpId="0" animBg="1"/>
      <p:bldP spid="23" grpId="0" animBg="1"/>
      <p:bldP spid="24" grpId="0" animBg="1"/>
      <p:bldP spid="15" grpId="0" animBg="1"/>
      <p:bldP spid="16" grpId="0" animBg="1"/>
      <p:bldP spid="25" grpId="0" animBg="1"/>
      <p:bldP spid="26" grpId="0" animBg="1"/>
      <p:bldP spid="31" grpId="0" animBg="1"/>
      <p:bldP spid="32" grpId="0" animBg="1"/>
      <p:bldP spid="33" grpId="0" animBg="1"/>
      <p:bldP spid="34" grpId="0" animBg="1"/>
      <p:bldP spid="35" grpId="0" animBg="1"/>
      <p:bldP spid="36" grpId="0" animBg="1"/>
      <p:bldP spid="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rogress"/>
          <p:cNvSpPr/>
          <p:nvPr/>
        </p:nvSpPr>
        <p:spPr>
          <a:xfrm>
            <a:off x="0" y="6743700"/>
            <a:ext cx="6386126"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Javob: xizmatlar o‘sdi va ish berdi, sanoat kamroq odam bilan o‘sdi</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12</a:t>
            </a:r>
            <a:endParaRPr lang="en-US" sz="1100" dirty="0"/>
          </a:p>
        </p:txBody>
      </p:sp>
      <p:sp>
        <p:nvSpPr>
          <p:cNvPr id="6" name="sign-outer"/>
          <p:cNvSpPr/>
          <p:nvPr/>
        </p:nvSpPr>
        <p:spPr>
          <a:xfrm>
            <a:off x="9829800" y="566928"/>
            <a:ext cx="1828800" cy="603504"/>
          </a:xfrm>
          <a:prstGeom prst="roundRect">
            <a:avLst>
              <a:gd name="adj" fmla="val 15152"/>
            </a:avLst>
          </a:prstGeom>
          <a:solidFill>
            <a:srgbClr val="00653A"/>
          </a:solidFill>
          <a:ln/>
        </p:spPr>
      </p:sp>
      <p:sp>
        <p:nvSpPr>
          <p:cNvPr id="7" name="sign-panel"/>
          <p:cNvSpPr/>
          <p:nvPr/>
        </p:nvSpPr>
        <p:spPr>
          <a:xfrm>
            <a:off x="9866376" y="603504"/>
            <a:ext cx="1755648"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66376" y="603504"/>
            <a:ext cx="1755648"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Taqqoslash</a:t>
            </a:r>
            <a:endParaRPr lang="en-US" sz="1700" dirty="0"/>
          </a:p>
        </p:txBody>
      </p:sp>
      <p:sp>
        <p:nvSpPr>
          <p:cNvPr id="9" name="sign-lane"/>
          <p:cNvSpPr/>
          <p:nvPr/>
        </p:nvSpPr>
        <p:spPr>
          <a:xfrm>
            <a:off x="9976104" y="1225296"/>
            <a:ext cx="1536192" cy="50292"/>
          </a:xfrm>
          <a:prstGeom prst="rect">
            <a:avLst/>
          </a:prstGeom>
          <a:solidFill>
            <a:srgbClr val="9A9A9A"/>
          </a:solidFill>
          <a:ln/>
        </p:spPr>
      </p:sp>
      <p:graphicFrame>
        <p:nvGraphicFramePr>
          <p:cNvPr id="13" name="taqqoslash-jadvali"/>
          <p:cNvGraphicFramePr>
            <a:graphicFrameLocks noGrp="1"/>
          </p:cNvGraphicFramePr>
          <p:nvPr>
            <p:extLst>
              <p:ext uri="{D42A27DB-BD31-4B8C-83A1-F6EECF244321}">
                <p14:modId xmlns:p14="http://schemas.microsoft.com/office/powerpoint/2010/main" val="1579011935"/>
              </p:ext>
            </p:extLst>
          </p:nvPr>
        </p:nvGraphicFramePr>
        <p:xfrm>
          <a:off x="571500" y="1572768"/>
          <a:ext cx="6858000" cy="914400"/>
        </p:xfrm>
        <a:graphic>
          <a:graphicData uri="http://schemas.openxmlformats.org/drawingml/2006/table">
            <a:tbl>
              <a:tblPr/>
              <a:tblGrid>
                <a:gridCol w="2834640"/>
                <a:gridCol w="914400"/>
                <a:gridCol w="1005840"/>
                <a:gridCol w="1188720"/>
                <a:gridCol w="914400"/>
              </a:tblGrid>
              <a:tr h="329184">
                <a:tc>
                  <a:txBody>
                    <a:bodyPr/>
                    <a:lstStyle/>
                    <a:p>
                      <a:pPr algn="l" indent="0" marL="0">
                        <a:buNone/>
                      </a:pP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1C3F94"/>
                          </a:solidFill>
                          <a:latin typeface="+mj-lt" pitchFamily="34" charset="0"/>
                          <a:ea typeface="+mj-lt" pitchFamily="34" charset="-122"/>
                          <a:cs typeface="+mj-lt" pitchFamily="34" charset="-120"/>
                        </a:rPr>
                        <a:t>Sanoat</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B86E00"/>
                          </a:solidFill>
                          <a:latin typeface="+mj-lt" pitchFamily="34" charset="0"/>
                          <a:ea typeface="+mj-lt" pitchFamily="34" charset="-122"/>
                          <a:cs typeface="+mj-lt" pitchFamily="34" charset="-120"/>
                        </a:rPr>
                        <a:t>Xizmatlar</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237A34"/>
                          </a:solidFill>
                          <a:latin typeface="+mj-lt" pitchFamily="34" charset="0"/>
                          <a:ea typeface="+mj-lt" pitchFamily="34" charset="-122"/>
                          <a:cs typeface="+mj-lt" pitchFamily="34" charset="-120"/>
                        </a:rPr>
                        <a:t>Qishloq xo‘jaligi</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200" b="1" dirty="0">
                          <a:solidFill>
                            <a:srgbClr val="9C36B5"/>
                          </a:solidFill>
                          <a:latin typeface="+mj-lt" pitchFamily="34" charset="0"/>
                          <a:ea typeface="+mj-lt" pitchFamily="34" charset="-122"/>
                          <a:cs typeface="+mj-lt" pitchFamily="34" charset="-120"/>
                        </a:rPr>
                        <a:t>Qurilish</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329184">
                <a:tc>
                  <a:txBody>
                    <a:bodyPr/>
                    <a:lstStyle/>
                    <a:p>
                      <a:pPr algn="l" indent="0" marL="0">
                        <a:buNone/>
                      </a:pPr>
                      <a:r>
                        <a:rPr lang="en-US" sz="1200" dirty="0">
                          <a:solidFill>
                            <a:srgbClr val="55524B"/>
                          </a:solidFill>
                          <a:latin typeface="+mj-lt" pitchFamily="34" charset="0"/>
                          <a:ea typeface="+mj-lt" pitchFamily="34" charset="-122"/>
                          <a:cs typeface="+mj-lt" pitchFamily="34" charset="-120"/>
                        </a:rPr>
                        <a:t>Real o‘sish, yiliga o‘rtacha (CAGR),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+1,89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+2,32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+1,45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−0,28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329184">
                <a:tc>
                  <a:txBody>
                    <a:bodyPr/>
                    <a:lstStyle/>
                    <a:p>
                      <a:pPr algn="l" indent="0" marL="0">
                        <a:buNone/>
                      </a:pPr>
                      <a:r>
                        <a:rPr lang="en-US" sz="1200" dirty="0">
                          <a:solidFill>
                            <a:srgbClr val="55524B"/>
                          </a:solidFill>
                          <a:latin typeface="+mj-lt" pitchFamily="34" charset="0"/>
                          <a:ea typeface="+mj-lt" pitchFamily="34" charset="-122"/>
                          <a:cs typeface="+mj-lt" pitchFamily="34" charset="-120"/>
                        </a:rPr>
                        <a:t>Nominal o‘sish, 2000–2025,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+108,5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+223,9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+158,7</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+190,5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329184">
                <a:tc>
                  <a:txBody>
                    <a:bodyPr/>
                    <a:lstStyle/>
                    <a:p>
                      <a:pPr algn="l" indent="0" marL="0">
                        <a:buNone/>
                      </a:pPr>
                      <a:r>
                        <a:rPr lang="en-US" sz="1200" dirty="0">
                          <a:solidFill>
                            <a:srgbClr val="55524B"/>
                          </a:solidFill>
                          <a:latin typeface="+mj-lt" pitchFamily="34" charset="0"/>
                          <a:ea typeface="+mj-lt" pitchFamily="34" charset="-122"/>
                          <a:cs typeface="+mj-lt" pitchFamily="34" charset="-120"/>
                        </a:rPr>
                        <a:t>YaIMdagi ulush o‘zgarishi, f.p.</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−5,5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+5,8</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−0,2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329184">
                <a:tc>
                  <a:txBody>
                    <a:bodyPr/>
                    <a:lstStyle/>
                    <a:p>
                      <a:pPr algn="l" indent="0" marL="0">
                        <a:buNone/>
                      </a:pPr>
                      <a:r>
                        <a:rPr lang="en-US" sz="1200" dirty="0">
                          <a:solidFill>
                            <a:srgbClr val="55524B"/>
                          </a:solidFill>
                          <a:latin typeface="+mj-lt" pitchFamily="34" charset="0"/>
                          <a:ea typeface="+mj-lt" pitchFamily="34" charset="-122"/>
                          <a:cs typeface="+mj-lt" pitchFamily="34" charset="-120"/>
                        </a:rPr>
                        <a:t>Bandlik o‘zgarishi, %</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−25,5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+28,1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+2,2</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+22,1</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329184">
                <a:tc>
                  <a:txBody>
                    <a:bodyPr/>
                    <a:lstStyle/>
                    <a:p>
                      <a:pPr algn="l" indent="0" marL="0">
                        <a:buNone/>
                      </a:pPr>
                      <a:r>
                        <a:rPr lang="en-US" sz="1200" dirty="0">
                          <a:solidFill>
                            <a:srgbClr val="55524B"/>
                          </a:solidFill>
                          <a:latin typeface="+mj-lt" pitchFamily="34" charset="0"/>
                          <a:ea typeface="+mj-lt" pitchFamily="34" charset="-122"/>
                          <a:cs typeface="+mj-lt" pitchFamily="34" charset="-120"/>
                        </a:rPr>
                        <a:t>QQ / 1 xodim, ming $, 2025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285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204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214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165</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329184">
                <a:tc>
                  <a:txBody>
                    <a:bodyPr/>
                    <a:lstStyle/>
                    <a:p>
                      <a:pPr algn="l" indent="0" marL="0">
                        <a:buNone/>
                      </a:pPr>
                      <a:r>
                        <a:rPr lang="en-US" sz="1200" dirty="0">
                          <a:solidFill>
                            <a:srgbClr val="55524B"/>
                          </a:solidFill>
                          <a:latin typeface="+mj-lt" pitchFamily="34" charset="0"/>
                          <a:ea typeface="+mj-lt" pitchFamily="34" charset="-122"/>
                          <a:cs typeface="+mj-lt" pitchFamily="34" charset="-120"/>
                        </a:rPr>
                        <a:t>Real o‘sish yillarida bandlik ham o‘sgan</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10/19</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22/23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dirty="0">
                          <a:solidFill>
                            <a:srgbClr val="141414"/>
                          </a:solidFill>
                          <a:latin typeface="+mj-lt" pitchFamily="34" charset="0"/>
                          <a:ea typeface="+mj-lt" pitchFamily="34" charset="-122"/>
                          <a:cs typeface="+mj-lt" pitchFamily="34" charset="-120"/>
                        </a:rPr>
                        <a:t>6/14</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200" b="1" dirty="0">
                          <a:solidFill>
                            <a:srgbClr val="141414"/>
                          </a:solidFill>
                          <a:latin typeface="+mj-lt" pitchFamily="34" charset="0"/>
                          <a:ea typeface="+mj-lt" pitchFamily="34" charset="-122"/>
                          <a:cs typeface="+mj-lt" pitchFamily="34" charset="-120"/>
                        </a:rPr>
                        <a:t>12/13</a:t>
                      </a:r>
                      <a:endParaRPr lang="en-US" sz="12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1" name="manba"/>
          <p:cNvSpPr txBox="1"/>
          <p:nvPr/>
        </p:nvSpPr>
        <p:spPr>
          <a:xfrm>
            <a:off x="571500" y="3959352"/>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a:t>
            </a:r>
            <a:endParaRPr lang="en-US" sz="1100" dirty="0"/>
          </a:p>
        </p:txBody>
      </p:sp>
      <p:sp>
        <p:nvSpPr>
          <p:cNvPr id="12" name="nega-belgi"/>
          <p:cNvSpPr/>
          <p:nvPr/>
        </p:nvSpPr>
        <p:spPr>
          <a:xfrm>
            <a:off x="571500" y="4352544"/>
            <a:ext cx="274320" cy="274320"/>
          </a:xfrm>
          <a:prstGeom prst="diamond">
            <a:avLst/>
          </a:prstGeom>
          <a:solidFill>
            <a:srgbClr val="F5C400"/>
          </a:solidFill>
          <a:ln w="19050">
            <a:solidFill>
              <a:srgbClr val="141414"/>
            </a:solidFill>
            <a:prstDash val="solid"/>
          </a:ln>
        </p:spPr>
      </p:sp>
      <p:sp>
        <p:nvSpPr>
          <p:cNvPr id="13" name="nega-belgi-matn"/>
          <p:cNvSpPr txBox="1"/>
          <p:nvPr/>
        </p:nvSpPr>
        <p:spPr>
          <a:xfrm>
            <a:off x="571500" y="435254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14" name="nega-sarlavha"/>
          <p:cNvSpPr txBox="1"/>
          <p:nvPr/>
        </p:nvSpPr>
        <p:spPr>
          <a:xfrm>
            <a:off x="937260" y="4343400"/>
            <a:ext cx="6492240"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15" name="nega-matn"/>
          <p:cNvSpPr txBox="1"/>
          <p:nvPr/>
        </p:nvSpPr>
        <p:spPr>
          <a:xfrm>
            <a:off x="571500" y="4727448"/>
            <a:ext cx="6858000" cy="128016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Xizmatlar va qurilish odam mehnatiga tayanadi. Sanoat va qishloq xo‘jaligi texnika va texnologiyaga tayanadi: bir xodim sanoatda 285 ming $, qurilishda 165 ming $ qiymat yaratadi.</a:t>
            </a:r>
            <a:endParaRPr lang="en-US" sz="1400" dirty="0"/>
          </a:p>
        </p:txBody>
      </p:sp>
      <p:sp>
        <p:nvSpPr>
          <p:cNvPr id="16" name="javob-raqam"/>
          <p:cNvSpPr/>
          <p:nvPr/>
        </p:nvSpPr>
        <p:spPr>
          <a:xfrm>
            <a:off x="7872984" y="1572768"/>
            <a:ext cx="384048" cy="384048"/>
          </a:xfrm>
          <a:prstGeom prst="ellipse">
            <a:avLst/>
          </a:prstGeom>
          <a:solidFill>
            <a:srgbClr val="141414"/>
          </a:solidFill>
          <a:ln/>
        </p:spPr>
      </p:sp>
      <p:sp>
        <p:nvSpPr>
          <p:cNvPr id="17" name="javob-raqam-matn"/>
          <p:cNvSpPr txBox="1"/>
          <p:nvPr/>
        </p:nvSpPr>
        <p:spPr>
          <a:xfrm>
            <a:off x="7872984"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j-lt" pitchFamily="34" charset="0"/>
                <a:ea typeface="+mj-lt" pitchFamily="34" charset="-122"/>
                <a:cs typeface="+mj-lt" pitchFamily="34" charset="-120"/>
              </a:rPr>
              <a:t>1</a:t>
            </a:r>
            <a:endParaRPr lang="en-US" sz="1500" dirty="0"/>
          </a:p>
        </p:txBody>
      </p:sp>
      <p:sp>
        <p:nvSpPr>
          <p:cNvPr id="18" name="javob"/>
          <p:cNvSpPr txBox="1"/>
          <p:nvPr/>
        </p:nvSpPr>
        <p:spPr>
          <a:xfrm>
            <a:off x="8375904" y="1536192"/>
            <a:ext cx="3227832" cy="1097280"/>
          </a:xfrm>
          <a:prstGeom prst="rect">
            <a:avLst/>
          </a:prstGeom>
          <a:noFill/>
          <a:ln/>
        </p:spPr>
        <p:txBody>
          <a:bodyPr wrap="square" lIns="0" tIns="0" rIns="0" bIns="0" rtlCol="0" anchor="t"/>
          <a:lstStyle/>
          <a:p>
            <a:pPr indent="0" marL="0">
              <a:spcAft>
                <a:spcPts val="300"/>
              </a:spcAft>
              <a:buNone/>
            </a:pPr>
            <a:r>
              <a:rPr lang="en-US" sz="1600" b="1" dirty="0">
                <a:solidFill>
                  <a:srgbClr val="141414"/>
                </a:solidFill>
                <a:latin typeface="+mj-lt" pitchFamily="34" charset="0"/>
                <a:ea typeface="+mj-lt" pitchFamily="34" charset="-122"/>
                <a:cs typeface="+mj-lt" pitchFamily="34" charset="-120"/>
              </a:rPr>
              <a:t>Eng tez — xizmatlar</a:t>
            </a:r>
            <a:endParaRPr lang="en-US" sz="1600" dirty="0"/>
          </a:p>
          <a:p>
            <a:pPr indent="0" marL="0">
              <a:spcAft>
                <a:spcPts val="300"/>
              </a:spcAft>
              <a:buNone/>
            </a:pPr>
            <a:r>
              <a:rPr lang="en-US" sz="1200" dirty="0">
                <a:solidFill>
                  <a:srgbClr val="141414"/>
                </a:solidFill>
              </a:rPr>
              <a:t>Real o‘sish yiliga 2,32%, nominal +223,9%, ulush +5,8 f.p. Eng sekini — qurilish (−0,28%).</a:t>
            </a:r>
            <a:endParaRPr lang="en-US" sz="1600" dirty="0"/>
          </a:p>
        </p:txBody>
      </p:sp>
      <p:sp>
        <p:nvSpPr>
          <p:cNvPr id="19" name="javob-raqam"/>
          <p:cNvSpPr/>
          <p:nvPr/>
        </p:nvSpPr>
        <p:spPr>
          <a:xfrm>
            <a:off x="7872984" y="2761488"/>
            <a:ext cx="384048" cy="384048"/>
          </a:xfrm>
          <a:prstGeom prst="ellipse">
            <a:avLst/>
          </a:prstGeom>
          <a:solidFill>
            <a:srgbClr val="141414"/>
          </a:solidFill>
          <a:ln/>
        </p:spPr>
      </p:sp>
      <p:sp>
        <p:nvSpPr>
          <p:cNvPr id="20" name="javob-raqam-matn"/>
          <p:cNvSpPr txBox="1"/>
          <p:nvPr/>
        </p:nvSpPr>
        <p:spPr>
          <a:xfrm>
            <a:off x="7872984" y="2761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j-lt" pitchFamily="34" charset="0"/>
                <a:ea typeface="+mj-lt" pitchFamily="34" charset="-122"/>
                <a:cs typeface="+mj-lt" pitchFamily="34" charset="-120"/>
              </a:rPr>
              <a:t>2</a:t>
            </a:r>
            <a:endParaRPr lang="en-US" sz="1500" dirty="0"/>
          </a:p>
        </p:txBody>
      </p:sp>
      <p:sp>
        <p:nvSpPr>
          <p:cNvPr id="21" name="javob"/>
          <p:cNvSpPr txBox="1"/>
          <p:nvPr/>
        </p:nvSpPr>
        <p:spPr>
          <a:xfrm>
            <a:off x="8375904" y="2724912"/>
            <a:ext cx="3227832" cy="1097280"/>
          </a:xfrm>
          <a:prstGeom prst="rect">
            <a:avLst/>
          </a:prstGeom>
          <a:noFill/>
          <a:ln/>
        </p:spPr>
        <p:txBody>
          <a:bodyPr wrap="square" lIns="0" tIns="0" rIns="0" bIns="0" rtlCol="0" anchor="t"/>
          <a:lstStyle/>
          <a:p>
            <a:pPr indent="0" marL="0">
              <a:spcAft>
                <a:spcPts val="300"/>
              </a:spcAft>
              <a:buNone/>
            </a:pPr>
            <a:r>
              <a:rPr lang="en-US" sz="1600" b="1" dirty="0">
                <a:solidFill>
                  <a:srgbClr val="141414"/>
                </a:solidFill>
                <a:latin typeface="+mj-lt" pitchFamily="34" charset="0"/>
                <a:ea typeface="+mj-lt" pitchFamily="34" charset="-122"/>
                <a:cs typeface="+mj-lt" pitchFamily="34" charset="-120"/>
              </a:rPr>
              <a:t>Ulushi faqat xizmatlarda oshdi</a:t>
            </a:r>
            <a:endParaRPr lang="en-US" sz="1600" dirty="0"/>
          </a:p>
          <a:p>
            <a:pPr indent="0" marL="0">
              <a:spcAft>
                <a:spcPts val="300"/>
              </a:spcAft>
              <a:buNone/>
            </a:pPr>
            <a:r>
              <a:rPr lang="en-US" sz="1200" dirty="0">
                <a:solidFill>
                  <a:srgbClr val="141414"/>
                </a:solidFill>
              </a:rPr>
              <a:t>Sanoat −5,5 f.p.; qishloq xo‘jaligi va qurilish deyarli o‘zgarmadi.</a:t>
            </a:r>
            <a:endParaRPr lang="en-US" sz="1600" dirty="0"/>
          </a:p>
        </p:txBody>
      </p:sp>
      <p:sp>
        <p:nvSpPr>
          <p:cNvPr id="22" name="javob-raqam"/>
          <p:cNvSpPr/>
          <p:nvPr/>
        </p:nvSpPr>
        <p:spPr>
          <a:xfrm>
            <a:off x="7872984" y="3950208"/>
            <a:ext cx="384048" cy="384048"/>
          </a:xfrm>
          <a:prstGeom prst="ellipse">
            <a:avLst/>
          </a:prstGeom>
          <a:solidFill>
            <a:srgbClr val="141414"/>
          </a:solidFill>
          <a:ln/>
        </p:spPr>
      </p:sp>
      <p:sp>
        <p:nvSpPr>
          <p:cNvPr id="23" name="javob-raqam-matn"/>
          <p:cNvSpPr txBox="1"/>
          <p:nvPr/>
        </p:nvSpPr>
        <p:spPr>
          <a:xfrm>
            <a:off x="7872984" y="3950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j-lt" pitchFamily="34" charset="0"/>
                <a:ea typeface="+mj-lt" pitchFamily="34" charset="-122"/>
                <a:cs typeface="+mj-lt" pitchFamily="34" charset="-120"/>
              </a:rPr>
              <a:t>3</a:t>
            </a:r>
            <a:endParaRPr lang="en-US" sz="1500" dirty="0"/>
          </a:p>
        </p:txBody>
      </p:sp>
      <p:sp>
        <p:nvSpPr>
          <p:cNvPr id="24" name="javob"/>
          <p:cNvSpPr txBox="1"/>
          <p:nvPr/>
        </p:nvSpPr>
        <p:spPr>
          <a:xfrm>
            <a:off x="8375904" y="3913632"/>
            <a:ext cx="3227832" cy="1097280"/>
          </a:xfrm>
          <a:prstGeom prst="rect">
            <a:avLst/>
          </a:prstGeom>
          <a:noFill/>
          <a:ln/>
        </p:spPr>
        <p:txBody>
          <a:bodyPr wrap="square" lIns="0" tIns="0" rIns="0" bIns="0" rtlCol="0" anchor="t"/>
          <a:lstStyle/>
          <a:p>
            <a:pPr indent="0" marL="0">
              <a:spcAft>
                <a:spcPts val="300"/>
              </a:spcAft>
              <a:buNone/>
            </a:pPr>
            <a:r>
              <a:rPr lang="en-US" sz="1600" b="1" dirty="0">
                <a:solidFill>
                  <a:srgbClr val="141414"/>
                </a:solidFill>
                <a:latin typeface="+mj-lt" pitchFamily="34" charset="0"/>
                <a:ea typeface="+mj-lt" pitchFamily="34" charset="-122"/>
                <a:cs typeface="+mj-lt" pitchFamily="34" charset="-120"/>
              </a:rPr>
              <a:t>Bandlik har doim ham o‘smagan</a:t>
            </a:r>
            <a:endParaRPr lang="en-US" sz="1600" dirty="0"/>
          </a:p>
          <a:p>
            <a:pPr indent="0" marL="0">
              <a:spcAft>
                <a:spcPts val="300"/>
              </a:spcAft>
              <a:buNone/>
            </a:pPr>
            <a:r>
              <a:rPr lang="en-US" sz="1200" dirty="0">
                <a:solidFill>
                  <a:srgbClr val="141414"/>
                </a:solidFill>
              </a:rPr>
              <a:t>Xizmatlar (22/23) va qurilishda (12/13) — ha; sanoat (10/19) va qishloq xo‘jaligida (6/14) — ko‘pincha yo‘q.</a:t>
            </a:r>
            <a:endParaRPr lang="en-US" sz="1600" dirty="0"/>
          </a:p>
        </p:txBody>
      </p:sp>
      <p:sp>
        <p:nvSpPr>
          <p:cNvPr id="25" name="anglatadi-chiziq"/>
          <p:cNvSpPr/>
          <p:nvPr/>
        </p:nvSpPr>
        <p:spPr>
          <a:xfrm>
            <a:off x="7872984" y="5212080"/>
            <a:ext cx="64008" cy="914400"/>
          </a:xfrm>
          <a:prstGeom prst="rect">
            <a:avLst/>
          </a:prstGeom>
          <a:solidFill>
            <a:srgbClr val="141414"/>
          </a:solidFill>
          <a:ln/>
        </p:spPr>
      </p:sp>
      <p:sp>
        <p:nvSpPr>
          <p:cNvPr id="26" name="anglatadi-sarlavha"/>
          <p:cNvSpPr txBox="1"/>
          <p:nvPr/>
        </p:nvSpPr>
        <p:spPr>
          <a:xfrm>
            <a:off x="8074152" y="523036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27" name="anglatadi-matn"/>
          <p:cNvSpPr txBox="1"/>
          <p:nvPr/>
        </p:nvSpPr>
        <p:spPr>
          <a:xfrm>
            <a:off x="8074152" y="5486400"/>
            <a:ext cx="3529584" cy="62179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Tarmoq o‘sayotganini bilish yetarli emas — qanday o‘sayotganini ham bilish kerak.</a:t>
            </a:r>
            <a:endParaRPr lang="en-US" sz="1700" dirty="0"/>
          </a:p>
        </p:txBody>
      </p:sp>
      <p:sp>
        <p:nvSpPr>
          <p:cNvPr id="28" name="speaker-dot"/>
          <p:cNvSpPr/>
          <p:nvPr/>
        </p:nvSpPr>
        <p:spPr>
          <a:xfrm>
            <a:off x="571500" y="6336792"/>
            <a:ext cx="77724" cy="77724"/>
          </a:xfrm>
          <a:prstGeom prst="ellipse">
            <a:avLst/>
          </a:prstGeom>
          <a:solidFill>
            <a:srgbClr val="55524B"/>
          </a:solidFill>
          <a:ln/>
        </p:spPr>
      </p:sp>
      <p:sp>
        <p:nvSpPr>
          <p:cNvPr id="29"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Saitmurodova Visola</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400"/>
                                        <p:tgtEl>
                                          <p:spTgt spid="21"/>
                                        </p:tgtEl>
                                      </p:cBhvr>
                                    </p:animEffect>
                                  </p:childTnLst>
                                </p:cTn>
                              </p:par>
                            </p:childTnLst>
                          </p:cTn>
                        </p:par>
                      </p:childTnLst>
                    </p:cTn>
                  </p:par>
                  <p:par>
                    <p:cTn id="42" fill="hold">
                      <p:stCondLst>
                        <p:cond delay="indefinite"/>
                      </p:stCondLst>
                      <p:childTnLst>
                        <p:par>
                          <p:cTn id="43"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00"/>
                                        <p:tgtEl>
                                          <p:spTgt spid="24"/>
                                        </p:tgtEl>
                                      </p:cBhvr>
                                    </p:animEffect>
                                  </p:childTnLst>
                                </p:cTn>
                              </p:par>
                            </p:childTnLst>
                          </p:cTn>
                        </p:par>
                      </p:childTnLst>
                    </p:cTn>
                  </p:par>
                  <p:par>
                    <p:cTn id="56" fill="hold">
                      <p:stCondLst>
                        <p:cond delay="indefinite"/>
                      </p:stCondLst>
                      <p:childTnLst>
                        <p:par>
                          <p:cTn id="57"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4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400"/>
                                        <p:tgtEl>
                                          <p:spTgt spid="15"/>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40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animBg="1"/>
      <p:bldP spid="16" grpId="0" animBg="1"/>
      <p:bldP spid="17" grpId="0" animBg="1"/>
      <p:bldP spid="18" grpId="0" animBg="1"/>
      <p:bldP spid="19" grpId="0" animBg="1"/>
      <p:bldP spid="20" grpId="0" animBg="1"/>
      <p:bldP spid="21" grpId="0" animBg="1"/>
      <p:bldP spid="22" grpId="0" animBg="1"/>
      <p:bldP spid="23" grpId="0" animBg="1"/>
      <p:bldP spid="24" grpId="0" animBg="1"/>
      <p:bldP spid="12" grpId="0" animBg="1"/>
      <p:bldP spid="13" grpId="0" animBg="1"/>
      <p:bldP spid="14" grpId="0" animBg="1"/>
      <p:bldP spid="15" grpId="0" animBg="1"/>
      <p:bldP spid="25"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rogress"/>
          <p:cNvSpPr/>
          <p:nvPr/>
        </p:nvSpPr>
        <p:spPr>
          <a:xfrm>
            <a:off x="0" y="6743700"/>
            <a:ext cx="6966683"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Har inqirozning sababi boshqa, shuning uchun zarba ham boshqa tarmoqqa tushdi</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13</a:t>
            </a:r>
            <a:endParaRPr lang="en-US" sz="1100" dirty="0"/>
          </a:p>
        </p:txBody>
      </p:sp>
      <p:sp>
        <p:nvSpPr>
          <p:cNvPr id="6" name="sign-outer"/>
          <p:cNvSpPr/>
          <p:nvPr/>
        </p:nvSpPr>
        <p:spPr>
          <a:xfrm>
            <a:off x="9829800" y="566928"/>
            <a:ext cx="1828800" cy="603504"/>
          </a:xfrm>
          <a:prstGeom prst="roundRect">
            <a:avLst>
              <a:gd name="adj" fmla="val 15152"/>
            </a:avLst>
          </a:prstGeom>
          <a:solidFill>
            <a:srgbClr val="00653A"/>
          </a:solidFill>
          <a:ln/>
        </p:spPr>
      </p:sp>
      <p:sp>
        <p:nvSpPr>
          <p:cNvPr id="7" name="sign-panel"/>
          <p:cNvSpPr/>
          <p:nvPr/>
        </p:nvSpPr>
        <p:spPr>
          <a:xfrm>
            <a:off x="9866376" y="603504"/>
            <a:ext cx="1755648"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66376" y="603504"/>
            <a:ext cx="1755648"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Inqirozlar</a:t>
            </a:r>
            <a:endParaRPr lang="en-US" sz="1700" dirty="0"/>
          </a:p>
        </p:txBody>
      </p:sp>
      <p:sp>
        <p:nvSpPr>
          <p:cNvPr id="9" name="sign-lane"/>
          <p:cNvSpPr/>
          <p:nvPr/>
        </p:nvSpPr>
        <p:spPr>
          <a:xfrm>
            <a:off x="9976104" y="1225296"/>
            <a:ext cx="1536192" cy="50292"/>
          </a:xfrm>
          <a:prstGeom prst="rect">
            <a:avLst/>
          </a:prstGeom>
          <a:solidFill>
            <a:srgbClr val="9A9A9A"/>
          </a:solidFill>
          <a:ln/>
        </p:spPr>
      </p:sp>
      <p:sp>
        <p:nvSpPr>
          <p:cNvPr id="10" name="birlik"/>
          <p:cNvSpPr txBox="1"/>
          <p:nvPr/>
        </p:nvSpPr>
        <p:spPr>
          <a:xfrm>
            <a:off x="571500" y="1508760"/>
            <a:ext cx="457200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real o‘sish, %</a:t>
            </a:r>
            <a:endParaRPr lang="en-US" sz="1100" dirty="0"/>
          </a:p>
        </p:txBody>
      </p:sp>
      <p:graphicFrame>
        <p:nvGraphicFramePr>
          <p:cNvPr id="11" name="grafik" descr=""/>
          <p:cNvGraphicFramePr/>
          <p:nvPr/>
        </p:nvGraphicFramePr>
        <p:xfrm>
          <a:off x="571500" y="1828800"/>
          <a:ext cx="6858000" cy="2468880"/>
        </p:xfrm>
        <a:graphic xmlns:a="http://schemas.openxmlformats.org/drawingml/2006/main">
          <a:graphicData uri="http://schemas.openxmlformats.org/drawingml/2006/chart">
            <c:chart xmlns:c="http://schemas.openxmlformats.org/drawingml/2006/chart" r:id="rId1"/>
          </a:graphicData>
        </a:graphic>
      </p:graphicFrame>
      <p:sp>
        <p:nvSpPr>
          <p:cNvPr id="12" name="legenda-belgi"/>
          <p:cNvSpPr/>
          <p:nvPr/>
        </p:nvSpPr>
        <p:spPr>
          <a:xfrm>
            <a:off x="6396228" y="1581912"/>
            <a:ext cx="128016" cy="128016"/>
          </a:xfrm>
          <a:prstGeom prst="rect">
            <a:avLst/>
          </a:prstGeom>
          <a:solidFill>
            <a:srgbClr val="9C36B5"/>
          </a:solidFill>
          <a:ln/>
        </p:spPr>
      </p:sp>
      <p:sp>
        <p:nvSpPr>
          <p:cNvPr id="13" name="legenda"/>
          <p:cNvSpPr txBox="1"/>
          <p:nvPr/>
        </p:nvSpPr>
        <p:spPr>
          <a:xfrm>
            <a:off x="6579108" y="1517904"/>
            <a:ext cx="713232" cy="256032"/>
          </a:xfrm>
          <a:prstGeom prst="rect">
            <a:avLst/>
          </a:prstGeom>
          <a:noFill/>
          <a:ln/>
        </p:spPr>
        <p:txBody>
          <a:bodyPr wrap="square" lIns="0" tIns="0" rIns="0" bIns="0" rtlCol="0" anchor="ctr"/>
          <a:lstStyle/>
          <a:p>
            <a:pPr indent="0" marL="0">
              <a:buNone/>
            </a:pPr>
            <a:r>
              <a:rPr lang="en-US" sz="1100" b="1" dirty="0">
                <a:solidFill>
                  <a:srgbClr val="9C36B5"/>
                </a:solidFill>
                <a:latin typeface="+mj-lt" pitchFamily="34" charset="0"/>
                <a:ea typeface="+mj-lt" pitchFamily="34" charset="-122"/>
                <a:cs typeface="+mj-lt" pitchFamily="34" charset="-120"/>
              </a:rPr>
              <a:t>Qurilish</a:t>
            </a:r>
            <a:endParaRPr lang="en-US" sz="1100" dirty="0"/>
          </a:p>
        </p:txBody>
      </p:sp>
      <p:sp>
        <p:nvSpPr>
          <p:cNvPr id="14" name="legenda-belgi"/>
          <p:cNvSpPr/>
          <p:nvPr/>
        </p:nvSpPr>
        <p:spPr>
          <a:xfrm>
            <a:off x="4663440" y="1581912"/>
            <a:ext cx="128016" cy="128016"/>
          </a:xfrm>
          <a:prstGeom prst="rect">
            <a:avLst/>
          </a:prstGeom>
          <a:solidFill>
            <a:srgbClr val="2F9E44"/>
          </a:solidFill>
          <a:ln/>
        </p:spPr>
      </p:sp>
      <p:sp>
        <p:nvSpPr>
          <p:cNvPr id="15" name="legenda"/>
          <p:cNvSpPr txBox="1"/>
          <p:nvPr/>
        </p:nvSpPr>
        <p:spPr>
          <a:xfrm>
            <a:off x="4846320" y="1517904"/>
            <a:ext cx="1412748" cy="256032"/>
          </a:xfrm>
          <a:prstGeom prst="rect">
            <a:avLst/>
          </a:prstGeom>
          <a:noFill/>
          <a:ln/>
        </p:spPr>
        <p:txBody>
          <a:bodyPr wrap="square" lIns="0" tIns="0" rIns="0" bIns="0" rtlCol="0" anchor="ctr"/>
          <a:lstStyle/>
          <a:p>
            <a:pPr indent="0" marL="0">
              <a:buNone/>
            </a:pPr>
            <a:r>
              <a:rPr lang="en-US" sz="1100" b="1" dirty="0">
                <a:solidFill>
                  <a:srgbClr val="237A34"/>
                </a:solidFill>
                <a:latin typeface="+mj-lt" pitchFamily="34" charset="0"/>
                <a:ea typeface="+mj-lt" pitchFamily="34" charset="-122"/>
                <a:cs typeface="+mj-lt" pitchFamily="34" charset="-120"/>
              </a:rPr>
              <a:t>Qishloq xo‘jaligi</a:t>
            </a:r>
            <a:endParaRPr lang="en-US" sz="1100" dirty="0"/>
          </a:p>
        </p:txBody>
      </p:sp>
      <p:sp>
        <p:nvSpPr>
          <p:cNvPr id="16" name="legenda-belgi"/>
          <p:cNvSpPr/>
          <p:nvPr/>
        </p:nvSpPr>
        <p:spPr>
          <a:xfrm>
            <a:off x="3552444" y="1581912"/>
            <a:ext cx="128016" cy="128016"/>
          </a:xfrm>
          <a:prstGeom prst="rect">
            <a:avLst/>
          </a:prstGeom>
          <a:solidFill>
            <a:srgbClr val="F59F00"/>
          </a:solidFill>
          <a:ln/>
        </p:spPr>
      </p:sp>
      <p:sp>
        <p:nvSpPr>
          <p:cNvPr id="17" name="legenda"/>
          <p:cNvSpPr txBox="1"/>
          <p:nvPr/>
        </p:nvSpPr>
        <p:spPr>
          <a:xfrm>
            <a:off x="3735324" y="1517904"/>
            <a:ext cx="790956" cy="256032"/>
          </a:xfrm>
          <a:prstGeom prst="rect">
            <a:avLst/>
          </a:prstGeom>
          <a:noFill/>
          <a:ln/>
        </p:spPr>
        <p:txBody>
          <a:bodyPr wrap="square" lIns="0" tIns="0" rIns="0" bIns="0" rtlCol="0" anchor="ctr"/>
          <a:lstStyle/>
          <a:p>
            <a:pPr indent="0" marL="0">
              <a:buNone/>
            </a:pPr>
            <a:r>
              <a:rPr lang="en-US" sz="1100" b="1" dirty="0">
                <a:solidFill>
                  <a:srgbClr val="B86E00"/>
                </a:solidFill>
                <a:latin typeface="+mj-lt" pitchFamily="34" charset="0"/>
                <a:ea typeface="+mj-lt" pitchFamily="34" charset="-122"/>
                <a:cs typeface="+mj-lt" pitchFamily="34" charset="-120"/>
              </a:rPr>
              <a:t>Xizmatlar</a:t>
            </a:r>
            <a:endParaRPr lang="en-US" sz="1100" dirty="0"/>
          </a:p>
        </p:txBody>
      </p:sp>
      <p:sp>
        <p:nvSpPr>
          <p:cNvPr id="18" name="legenda-belgi"/>
          <p:cNvSpPr/>
          <p:nvPr/>
        </p:nvSpPr>
        <p:spPr>
          <a:xfrm>
            <a:off x="2674620" y="1581912"/>
            <a:ext cx="128016" cy="128016"/>
          </a:xfrm>
          <a:prstGeom prst="rect">
            <a:avLst/>
          </a:prstGeom>
          <a:solidFill>
            <a:srgbClr val="1C3F94"/>
          </a:solidFill>
          <a:ln/>
        </p:spPr>
      </p:sp>
      <p:sp>
        <p:nvSpPr>
          <p:cNvPr id="19" name="legenda"/>
          <p:cNvSpPr txBox="1"/>
          <p:nvPr/>
        </p:nvSpPr>
        <p:spPr>
          <a:xfrm>
            <a:off x="2857500" y="1517904"/>
            <a:ext cx="557784" cy="256032"/>
          </a:xfrm>
          <a:prstGeom prst="rect">
            <a:avLst/>
          </a:prstGeom>
          <a:noFill/>
          <a:ln/>
        </p:spPr>
        <p:txBody>
          <a:bodyPr wrap="square" lIns="0" tIns="0" rIns="0" bIns="0" rtlCol="0" anchor="ctr"/>
          <a:lstStyle/>
          <a:p>
            <a:pPr indent="0" marL="0">
              <a:buNone/>
            </a:pPr>
            <a:r>
              <a:rPr lang="en-US" sz="1100" b="1" dirty="0">
                <a:solidFill>
                  <a:srgbClr val="1C3F94"/>
                </a:solidFill>
                <a:latin typeface="+mj-lt" pitchFamily="34" charset="0"/>
                <a:ea typeface="+mj-lt" pitchFamily="34" charset="-122"/>
                <a:cs typeface="+mj-lt" pitchFamily="34" charset="-120"/>
              </a:rPr>
              <a:t>Sanoat</a:t>
            </a:r>
            <a:endParaRPr lang="en-US" sz="1100" dirty="0"/>
          </a:p>
        </p:txBody>
      </p:sp>
      <p:sp>
        <p:nvSpPr>
          <p:cNvPr id="20" name="yorliq"/>
          <p:cNvSpPr txBox="1"/>
          <p:nvPr/>
        </p:nvSpPr>
        <p:spPr>
          <a:xfrm>
            <a:off x="937260" y="3313378"/>
            <a:ext cx="822960" cy="237744"/>
          </a:xfrm>
          <a:prstGeom prst="rect">
            <a:avLst/>
          </a:prstGeom>
          <a:noFill/>
          <a:ln/>
        </p:spPr>
        <p:txBody>
          <a:bodyPr wrap="square" lIns="0" tIns="0" rIns="0" bIns="0" rtlCol="0" anchor="ctr"/>
          <a:lstStyle/>
          <a:p>
            <a:pPr algn="ctr" indent="0" marL="0">
              <a:buNone/>
            </a:pPr>
            <a:r>
              <a:rPr lang="en-US" sz="1100" b="1" dirty="0">
                <a:solidFill>
                  <a:srgbClr val="1C3F94"/>
                </a:solidFill>
                <a:latin typeface="+mj-lt" pitchFamily="34" charset="0"/>
                <a:ea typeface="+mj-lt" pitchFamily="34" charset="-122"/>
                <a:cs typeface="+mj-lt" pitchFamily="34" charset="-120"/>
              </a:rPr>
              <a:t>−5,5</a:t>
            </a:r>
            <a:endParaRPr lang="en-US" sz="1100" dirty="0"/>
          </a:p>
        </p:txBody>
      </p:sp>
      <p:sp>
        <p:nvSpPr>
          <p:cNvPr id="21" name="yorliq"/>
          <p:cNvSpPr txBox="1"/>
          <p:nvPr/>
        </p:nvSpPr>
        <p:spPr>
          <a:xfrm>
            <a:off x="1394460" y="3020836"/>
            <a:ext cx="822960" cy="237744"/>
          </a:xfrm>
          <a:prstGeom prst="rect">
            <a:avLst/>
          </a:prstGeom>
          <a:noFill/>
          <a:ln/>
        </p:spPr>
        <p:txBody>
          <a:bodyPr wrap="square" lIns="0" tIns="0" rIns="0" bIns="0" rtlCol="0" anchor="ctr"/>
          <a:lstStyle/>
          <a:p>
            <a:pPr algn="ctr" indent="0" marL="0">
              <a:buNone/>
            </a:pPr>
            <a:r>
              <a:rPr lang="en-US" sz="1100" b="1" dirty="0">
                <a:solidFill>
                  <a:srgbClr val="B86E00"/>
                </a:solidFill>
                <a:latin typeface="+mj-lt" pitchFamily="34" charset="0"/>
                <a:ea typeface="+mj-lt" pitchFamily="34" charset="-122"/>
                <a:cs typeface="+mj-lt" pitchFamily="34" charset="-120"/>
              </a:rPr>
              <a:t>−1,5</a:t>
            </a:r>
            <a:endParaRPr lang="en-US" sz="1100" dirty="0"/>
          </a:p>
        </p:txBody>
      </p:sp>
      <p:sp>
        <p:nvSpPr>
          <p:cNvPr id="22" name="yorliq"/>
          <p:cNvSpPr txBox="1"/>
          <p:nvPr/>
        </p:nvSpPr>
        <p:spPr>
          <a:xfrm>
            <a:off x="1851660" y="1848627"/>
            <a:ext cx="822960" cy="237744"/>
          </a:xfrm>
          <a:prstGeom prst="rect">
            <a:avLst/>
          </a:prstGeom>
          <a:noFill/>
          <a:ln/>
        </p:spPr>
        <p:txBody>
          <a:bodyPr wrap="square" lIns="0" tIns="0" rIns="0" bIns="0" rtlCol="0" anchor="ctr"/>
          <a:lstStyle/>
          <a:p>
            <a:pPr algn="ctr" indent="0" marL="0">
              <a:buNone/>
            </a:pPr>
            <a:r>
              <a:rPr lang="en-US" sz="1100" b="1" dirty="0">
                <a:solidFill>
                  <a:srgbClr val="237A34"/>
                </a:solidFill>
                <a:latin typeface="+mj-lt" pitchFamily="34" charset="0"/>
                <a:ea typeface="+mj-lt" pitchFamily="34" charset="-122"/>
                <a:cs typeface="+mj-lt" pitchFamily="34" charset="-120"/>
              </a:rPr>
              <a:t>+11,0</a:t>
            </a:r>
            <a:endParaRPr lang="en-US" sz="1100" dirty="0"/>
          </a:p>
        </p:txBody>
      </p:sp>
      <p:sp>
        <p:nvSpPr>
          <p:cNvPr id="23" name="yorliq"/>
          <p:cNvSpPr txBox="1"/>
          <p:nvPr/>
        </p:nvSpPr>
        <p:spPr>
          <a:xfrm>
            <a:off x="2308860" y="3949034"/>
            <a:ext cx="822960" cy="237744"/>
          </a:xfrm>
          <a:prstGeom prst="rect">
            <a:avLst/>
          </a:prstGeom>
          <a:noFill/>
          <a:ln/>
        </p:spPr>
        <p:txBody>
          <a:bodyPr wrap="square" lIns="0" tIns="0" rIns="0" bIns="0" rtlCol="0" anchor="ctr"/>
          <a:lstStyle/>
          <a:p>
            <a:pPr algn="ctr" indent="0" marL="0">
              <a:buNone/>
            </a:pPr>
            <a:r>
              <a:rPr lang="en-US" sz="1100" b="1" dirty="0">
                <a:solidFill>
                  <a:srgbClr val="9C36B5"/>
                </a:solidFill>
                <a:latin typeface="+mj-lt" pitchFamily="34" charset="0"/>
                <a:ea typeface="+mj-lt" pitchFamily="34" charset="-122"/>
                <a:cs typeface="+mj-lt" pitchFamily="34" charset="-120"/>
              </a:rPr>
              <a:t>−14,3</a:t>
            </a:r>
            <a:endParaRPr lang="en-US" sz="1100" dirty="0"/>
          </a:p>
        </p:txBody>
      </p:sp>
      <p:sp>
        <p:nvSpPr>
          <p:cNvPr id="24" name="yorliq"/>
          <p:cNvSpPr txBox="1"/>
          <p:nvPr/>
        </p:nvSpPr>
        <p:spPr>
          <a:xfrm>
            <a:off x="3040380" y="3093143"/>
            <a:ext cx="822960" cy="237744"/>
          </a:xfrm>
          <a:prstGeom prst="rect">
            <a:avLst/>
          </a:prstGeom>
          <a:noFill/>
          <a:ln/>
        </p:spPr>
        <p:txBody>
          <a:bodyPr wrap="square" lIns="0" tIns="0" rIns="0" bIns="0" rtlCol="0" anchor="ctr"/>
          <a:lstStyle/>
          <a:p>
            <a:pPr algn="ctr" indent="0" marL="0">
              <a:buNone/>
            </a:pPr>
            <a:r>
              <a:rPr lang="en-US" sz="1100" b="1" dirty="0">
                <a:solidFill>
                  <a:srgbClr val="1C3F94"/>
                </a:solidFill>
                <a:latin typeface="+mj-lt" pitchFamily="34" charset="0"/>
                <a:ea typeface="+mj-lt" pitchFamily="34" charset="-122"/>
                <a:cs typeface="+mj-lt" pitchFamily="34" charset="-120"/>
              </a:rPr>
              <a:t>−2,5</a:t>
            </a:r>
            <a:endParaRPr lang="en-US" sz="1100" dirty="0"/>
          </a:p>
        </p:txBody>
      </p:sp>
      <p:sp>
        <p:nvSpPr>
          <p:cNvPr id="25" name="yorliq"/>
          <p:cNvSpPr txBox="1"/>
          <p:nvPr/>
        </p:nvSpPr>
        <p:spPr>
          <a:xfrm>
            <a:off x="3497580" y="3060005"/>
            <a:ext cx="822960" cy="237744"/>
          </a:xfrm>
          <a:prstGeom prst="rect">
            <a:avLst/>
          </a:prstGeom>
          <a:noFill/>
          <a:ln/>
        </p:spPr>
        <p:txBody>
          <a:bodyPr wrap="square" lIns="0" tIns="0" rIns="0" bIns="0" rtlCol="0" anchor="ctr"/>
          <a:lstStyle/>
          <a:p>
            <a:pPr algn="ctr" indent="0" marL="0">
              <a:buNone/>
            </a:pPr>
            <a:r>
              <a:rPr lang="en-US" sz="1100" b="1" dirty="0">
                <a:solidFill>
                  <a:srgbClr val="B86E00"/>
                </a:solidFill>
                <a:latin typeface="+mj-lt" pitchFamily="34" charset="0"/>
                <a:ea typeface="+mj-lt" pitchFamily="34" charset="-122"/>
                <a:cs typeface="+mj-lt" pitchFamily="34" charset="-120"/>
              </a:rPr>
              <a:t>−2,0</a:t>
            </a:r>
            <a:endParaRPr lang="en-US" sz="1100" dirty="0"/>
          </a:p>
        </p:txBody>
      </p:sp>
      <p:sp>
        <p:nvSpPr>
          <p:cNvPr id="26" name="yorliq"/>
          <p:cNvSpPr txBox="1"/>
          <p:nvPr/>
        </p:nvSpPr>
        <p:spPr>
          <a:xfrm>
            <a:off x="3954780" y="2419308"/>
            <a:ext cx="822960" cy="237744"/>
          </a:xfrm>
          <a:prstGeom prst="rect">
            <a:avLst/>
          </a:prstGeom>
          <a:noFill/>
          <a:ln/>
        </p:spPr>
        <p:txBody>
          <a:bodyPr wrap="square" lIns="0" tIns="0" rIns="0" bIns="0" rtlCol="0" anchor="ctr"/>
          <a:lstStyle/>
          <a:p>
            <a:pPr algn="ctr" indent="0" marL="0">
              <a:buNone/>
            </a:pPr>
            <a:r>
              <a:rPr lang="en-US" sz="1100" b="1" dirty="0">
                <a:solidFill>
                  <a:srgbClr val="237A34"/>
                </a:solidFill>
                <a:latin typeface="+mj-lt" pitchFamily="34" charset="0"/>
                <a:ea typeface="+mj-lt" pitchFamily="34" charset="-122"/>
                <a:cs typeface="+mj-lt" pitchFamily="34" charset="-120"/>
              </a:rPr>
              <a:t>+3,1</a:t>
            </a:r>
            <a:endParaRPr lang="en-US" sz="1100" dirty="0"/>
          </a:p>
        </p:txBody>
      </p:sp>
      <p:sp>
        <p:nvSpPr>
          <p:cNvPr id="27" name="yorliq"/>
          <p:cNvSpPr txBox="1"/>
          <p:nvPr/>
        </p:nvSpPr>
        <p:spPr>
          <a:xfrm>
            <a:off x="4411980" y="3066691"/>
            <a:ext cx="822960" cy="237744"/>
          </a:xfrm>
          <a:prstGeom prst="rect">
            <a:avLst/>
          </a:prstGeom>
          <a:noFill/>
          <a:ln/>
        </p:spPr>
        <p:txBody>
          <a:bodyPr wrap="square" lIns="0" tIns="0" rIns="0" bIns="0" rtlCol="0" anchor="ctr"/>
          <a:lstStyle/>
          <a:p>
            <a:pPr algn="ctr" indent="0" marL="0">
              <a:buNone/>
            </a:pPr>
            <a:r>
              <a:rPr lang="en-US" sz="1100" b="1" dirty="0">
                <a:solidFill>
                  <a:srgbClr val="9C36B5"/>
                </a:solidFill>
                <a:latin typeface="+mj-lt" pitchFamily="34" charset="0"/>
                <a:ea typeface="+mj-lt" pitchFamily="34" charset="-122"/>
                <a:cs typeface="+mj-lt" pitchFamily="34" charset="-120"/>
              </a:rPr>
              <a:t>−2,1</a:t>
            </a:r>
            <a:endParaRPr lang="en-US" sz="1100" dirty="0"/>
          </a:p>
        </p:txBody>
      </p:sp>
      <p:sp>
        <p:nvSpPr>
          <p:cNvPr id="28" name="yorliq"/>
          <p:cNvSpPr txBox="1"/>
          <p:nvPr/>
        </p:nvSpPr>
        <p:spPr>
          <a:xfrm>
            <a:off x="5143500" y="3029340"/>
            <a:ext cx="822960" cy="237744"/>
          </a:xfrm>
          <a:prstGeom prst="rect">
            <a:avLst/>
          </a:prstGeom>
          <a:noFill/>
          <a:ln/>
        </p:spPr>
        <p:txBody>
          <a:bodyPr wrap="square" lIns="0" tIns="0" rIns="0" bIns="0" rtlCol="0" anchor="ctr"/>
          <a:lstStyle/>
          <a:p>
            <a:pPr algn="ctr" indent="0" marL="0">
              <a:buNone/>
            </a:pPr>
            <a:r>
              <a:rPr lang="en-US" sz="1100" b="1" dirty="0">
                <a:solidFill>
                  <a:srgbClr val="1C3F94"/>
                </a:solidFill>
                <a:latin typeface="+mj-lt" pitchFamily="34" charset="0"/>
                <a:ea typeface="+mj-lt" pitchFamily="34" charset="-122"/>
                <a:cs typeface="+mj-lt" pitchFamily="34" charset="-120"/>
              </a:rPr>
              <a:t>−1,6</a:t>
            </a:r>
            <a:endParaRPr lang="en-US" sz="1100" dirty="0"/>
          </a:p>
        </p:txBody>
      </p:sp>
      <p:sp>
        <p:nvSpPr>
          <p:cNvPr id="29" name="yorliq"/>
          <p:cNvSpPr txBox="1"/>
          <p:nvPr/>
        </p:nvSpPr>
        <p:spPr>
          <a:xfrm>
            <a:off x="5600700" y="2385429"/>
            <a:ext cx="822960" cy="237744"/>
          </a:xfrm>
          <a:prstGeom prst="rect">
            <a:avLst/>
          </a:prstGeom>
          <a:noFill/>
          <a:ln/>
        </p:spPr>
        <p:txBody>
          <a:bodyPr wrap="square" lIns="0" tIns="0" rIns="0" bIns="0" rtlCol="0" anchor="ctr"/>
          <a:lstStyle/>
          <a:p>
            <a:pPr algn="ctr" indent="0" marL="0">
              <a:buNone/>
            </a:pPr>
            <a:r>
              <a:rPr lang="en-US" sz="1100" b="1" dirty="0">
                <a:solidFill>
                  <a:srgbClr val="B86E00"/>
                </a:solidFill>
                <a:latin typeface="+mj-lt" pitchFamily="34" charset="0"/>
                <a:ea typeface="+mj-lt" pitchFamily="34" charset="-122"/>
                <a:cs typeface="+mj-lt" pitchFamily="34" charset="-120"/>
              </a:rPr>
              <a:t>+3,6</a:t>
            </a:r>
            <a:endParaRPr lang="en-US" sz="1100" dirty="0"/>
          </a:p>
        </p:txBody>
      </p:sp>
      <p:sp>
        <p:nvSpPr>
          <p:cNvPr id="30" name="yorliq"/>
          <p:cNvSpPr txBox="1"/>
          <p:nvPr/>
        </p:nvSpPr>
        <p:spPr>
          <a:xfrm>
            <a:off x="6057900" y="2627118"/>
            <a:ext cx="822960" cy="237744"/>
          </a:xfrm>
          <a:prstGeom prst="rect">
            <a:avLst/>
          </a:prstGeom>
          <a:noFill/>
          <a:ln/>
        </p:spPr>
        <p:txBody>
          <a:bodyPr wrap="square" lIns="0" tIns="0" rIns="0" bIns="0" rtlCol="0" anchor="ctr"/>
          <a:lstStyle/>
          <a:p>
            <a:pPr algn="ctr" indent="0" marL="0">
              <a:buNone/>
            </a:pPr>
            <a:r>
              <a:rPr lang="en-US" sz="1100" b="1" dirty="0">
                <a:solidFill>
                  <a:srgbClr val="237A34"/>
                </a:solidFill>
                <a:latin typeface="+mj-lt" pitchFamily="34" charset="0"/>
                <a:ea typeface="+mj-lt" pitchFamily="34" charset="-122"/>
                <a:cs typeface="+mj-lt" pitchFamily="34" charset="-120"/>
              </a:rPr>
              <a:t>+0,3</a:t>
            </a:r>
            <a:endParaRPr lang="en-US" sz="1100" dirty="0"/>
          </a:p>
        </p:txBody>
      </p:sp>
      <p:sp>
        <p:nvSpPr>
          <p:cNvPr id="31" name="yorliq"/>
          <p:cNvSpPr txBox="1"/>
          <p:nvPr/>
        </p:nvSpPr>
        <p:spPr>
          <a:xfrm>
            <a:off x="6515100" y="3367386"/>
            <a:ext cx="822960" cy="237744"/>
          </a:xfrm>
          <a:prstGeom prst="rect">
            <a:avLst/>
          </a:prstGeom>
          <a:noFill/>
          <a:ln/>
        </p:spPr>
        <p:txBody>
          <a:bodyPr wrap="square" lIns="0" tIns="0" rIns="0" bIns="0" rtlCol="0" anchor="ctr"/>
          <a:lstStyle/>
          <a:p>
            <a:pPr algn="ctr" indent="0" marL="0">
              <a:buNone/>
            </a:pPr>
            <a:r>
              <a:rPr lang="en-US" sz="1100" b="1" dirty="0">
                <a:solidFill>
                  <a:srgbClr val="9C36B5"/>
                </a:solidFill>
                <a:latin typeface="+mj-lt" pitchFamily="34" charset="0"/>
                <a:ea typeface="+mj-lt" pitchFamily="34" charset="-122"/>
                <a:cs typeface="+mj-lt" pitchFamily="34" charset="-120"/>
              </a:rPr>
              <a:t>−6,3</a:t>
            </a:r>
            <a:endParaRPr lang="en-US" sz="1100" dirty="0"/>
          </a:p>
        </p:txBody>
      </p:sp>
      <p:sp>
        <p:nvSpPr>
          <p:cNvPr id="32" name="manba"/>
          <p:cNvSpPr txBox="1"/>
          <p:nvPr/>
        </p:nvSpPr>
        <p:spPr>
          <a:xfrm>
            <a:off x="571500" y="4343400"/>
            <a:ext cx="27432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a:t>
            </a:r>
            <a:endParaRPr lang="en-US" sz="1100" dirty="0"/>
          </a:p>
        </p:txBody>
      </p:sp>
      <p:sp>
        <p:nvSpPr>
          <p:cNvPr id="33" name="inqiroz-chiziq"/>
          <p:cNvSpPr/>
          <p:nvPr/>
        </p:nvSpPr>
        <p:spPr>
          <a:xfrm>
            <a:off x="571500" y="4709160"/>
            <a:ext cx="2148840" cy="45720"/>
          </a:xfrm>
          <a:prstGeom prst="rect">
            <a:avLst/>
          </a:prstGeom>
          <a:solidFill>
            <a:srgbClr val="C92A2A"/>
          </a:solidFill>
          <a:ln/>
        </p:spPr>
      </p:sp>
      <p:sp>
        <p:nvSpPr>
          <p:cNvPr id="34" name="inqiroz"/>
          <p:cNvSpPr txBox="1"/>
          <p:nvPr/>
        </p:nvSpPr>
        <p:spPr>
          <a:xfrm>
            <a:off x="571500" y="4800600"/>
            <a:ext cx="2148840" cy="1325880"/>
          </a:xfrm>
          <a:prstGeom prst="rect">
            <a:avLst/>
          </a:prstGeom>
          <a:noFill/>
          <a:ln/>
        </p:spPr>
        <p:txBody>
          <a:bodyPr wrap="square" lIns="0" tIns="0" rIns="0" bIns="0" rtlCol="0" anchor="t"/>
          <a:lstStyle/>
          <a:p>
            <a:pPr indent="0" marL="0">
              <a:spcAft>
                <a:spcPts val="300"/>
              </a:spcAft>
              <a:buNone/>
            </a:pPr>
            <a:r>
              <a:rPr lang="en-US" sz="1400" b="1" dirty="0">
                <a:solidFill>
                  <a:srgbClr val="141414"/>
                </a:solidFill>
                <a:latin typeface="+mj-lt" pitchFamily="34" charset="0"/>
                <a:ea typeface="+mj-lt" pitchFamily="34" charset="-122"/>
                <a:cs typeface="+mj-lt" pitchFamily="34" charset="-120"/>
              </a:rPr>
              <a:t>2009 · Moliyaviy inqiroz</a:t>
            </a:r>
            <a:endParaRPr lang="en-US" sz="1400" dirty="0"/>
          </a:p>
          <a:p>
            <a:pPr indent="0" marL="0">
              <a:spcAft>
                <a:spcPts val="300"/>
              </a:spcAft>
              <a:buNone/>
            </a:pPr>
            <a:r>
              <a:rPr lang="en-US" sz="1200" b="1" dirty="0">
                <a:solidFill>
                  <a:srgbClr val="141414"/>
                </a:solidFill>
                <a:latin typeface="+mj-lt" pitchFamily="34" charset="0"/>
                <a:ea typeface="+mj-lt" pitchFamily="34" charset="-122"/>
                <a:cs typeface="+mj-lt" pitchFamily="34" charset="-120"/>
              </a:rPr>
              <a:t>Eng ko‘p zarar: qurilish (−14,3%), sanoat (−5,5%)</a:t>
            </a:r>
            <a:endParaRPr lang="en-US" sz="1400" dirty="0"/>
          </a:p>
          <a:p>
            <a:pPr indent="0" marL="0">
              <a:spcAft>
                <a:spcPts val="300"/>
              </a:spcAft>
              <a:buNone/>
            </a:pPr>
            <a:r>
              <a:rPr lang="en-US" sz="1200" dirty="0">
                <a:solidFill>
                  <a:srgbClr val="141414"/>
                </a:solidFill>
              </a:rPr>
              <a:t>Inqiroz uy-joy bozori va ipotekadan boshlandi.</a:t>
            </a:r>
            <a:endParaRPr lang="en-US" sz="1400" dirty="0"/>
          </a:p>
        </p:txBody>
      </p:sp>
      <p:sp>
        <p:nvSpPr>
          <p:cNvPr id="35" name="inqiroz-chiziq"/>
          <p:cNvSpPr/>
          <p:nvPr/>
        </p:nvSpPr>
        <p:spPr>
          <a:xfrm>
            <a:off x="2903220" y="4709160"/>
            <a:ext cx="2148840" cy="45720"/>
          </a:xfrm>
          <a:prstGeom prst="rect">
            <a:avLst/>
          </a:prstGeom>
          <a:solidFill>
            <a:srgbClr val="C92A2A"/>
          </a:solidFill>
          <a:ln/>
        </p:spPr>
      </p:sp>
      <p:sp>
        <p:nvSpPr>
          <p:cNvPr id="36" name="inqiroz"/>
          <p:cNvSpPr txBox="1"/>
          <p:nvPr/>
        </p:nvSpPr>
        <p:spPr>
          <a:xfrm>
            <a:off x="2903220" y="4800600"/>
            <a:ext cx="2148840" cy="1325880"/>
          </a:xfrm>
          <a:prstGeom prst="rect">
            <a:avLst/>
          </a:prstGeom>
          <a:noFill/>
          <a:ln/>
        </p:spPr>
        <p:txBody>
          <a:bodyPr wrap="square" lIns="0" tIns="0" rIns="0" bIns="0" rtlCol="0" anchor="t"/>
          <a:lstStyle/>
          <a:p>
            <a:pPr indent="0" marL="0">
              <a:spcAft>
                <a:spcPts val="300"/>
              </a:spcAft>
              <a:buNone/>
            </a:pPr>
            <a:r>
              <a:rPr lang="en-US" sz="1400" b="1" dirty="0">
                <a:solidFill>
                  <a:srgbClr val="141414"/>
                </a:solidFill>
                <a:latin typeface="+mj-lt" pitchFamily="34" charset="0"/>
                <a:ea typeface="+mj-lt" pitchFamily="34" charset="-122"/>
                <a:cs typeface="+mj-lt" pitchFamily="34" charset="-120"/>
              </a:rPr>
              <a:t>2020 · Pandemiya</a:t>
            </a:r>
            <a:endParaRPr lang="en-US" sz="1400" dirty="0"/>
          </a:p>
          <a:p>
            <a:pPr indent="0" marL="0">
              <a:spcAft>
                <a:spcPts val="300"/>
              </a:spcAft>
              <a:buNone/>
            </a:pPr>
            <a:r>
              <a:rPr lang="en-US" sz="1200" b="1" dirty="0">
                <a:solidFill>
                  <a:srgbClr val="141414"/>
                </a:solidFill>
                <a:latin typeface="+mj-lt" pitchFamily="34" charset="0"/>
                <a:ea typeface="+mj-lt" pitchFamily="34" charset="-122"/>
                <a:cs typeface="+mj-lt" pitchFamily="34" charset="-120"/>
              </a:rPr>
              <a:t>Mart–aprelda 22 mln ish o‘rni yo‘qoldi [7]</a:t>
            </a:r>
            <a:endParaRPr lang="en-US" sz="1400" dirty="0"/>
          </a:p>
          <a:p>
            <a:pPr indent="0" marL="0">
              <a:spcAft>
                <a:spcPts val="300"/>
              </a:spcAft>
              <a:buNone/>
            </a:pPr>
            <a:r>
              <a:rPr lang="en-US" sz="1200" dirty="0">
                <a:solidFill>
                  <a:srgbClr val="141414"/>
                </a:solidFill>
              </a:rPr>
              <a:t>Faqat qishloq xo‘jaligi o‘sdi — ovqat har doim kerak. 2021: xizmatlar +6,7%.</a:t>
            </a:r>
            <a:endParaRPr lang="en-US" sz="1400" dirty="0"/>
          </a:p>
        </p:txBody>
      </p:sp>
      <p:sp>
        <p:nvSpPr>
          <p:cNvPr id="37" name="inqiroz-chiziq"/>
          <p:cNvSpPr/>
          <p:nvPr/>
        </p:nvSpPr>
        <p:spPr>
          <a:xfrm>
            <a:off x="5234940" y="4709160"/>
            <a:ext cx="2148840" cy="45720"/>
          </a:xfrm>
          <a:prstGeom prst="rect">
            <a:avLst/>
          </a:prstGeom>
          <a:solidFill>
            <a:srgbClr val="C92A2A"/>
          </a:solidFill>
          <a:ln/>
        </p:spPr>
      </p:sp>
      <p:sp>
        <p:nvSpPr>
          <p:cNvPr id="38" name="inqiroz"/>
          <p:cNvSpPr txBox="1"/>
          <p:nvPr/>
        </p:nvSpPr>
        <p:spPr>
          <a:xfrm>
            <a:off x="5234940" y="4800600"/>
            <a:ext cx="2148840" cy="1325880"/>
          </a:xfrm>
          <a:prstGeom prst="rect">
            <a:avLst/>
          </a:prstGeom>
          <a:noFill/>
          <a:ln/>
        </p:spPr>
        <p:txBody>
          <a:bodyPr wrap="square" lIns="0" tIns="0" rIns="0" bIns="0" rtlCol="0" anchor="t"/>
          <a:lstStyle/>
          <a:p>
            <a:pPr indent="0" marL="0">
              <a:spcAft>
                <a:spcPts val="300"/>
              </a:spcAft>
              <a:buNone/>
            </a:pPr>
            <a:r>
              <a:rPr lang="en-US" sz="1400" b="1" dirty="0">
                <a:solidFill>
                  <a:srgbClr val="141414"/>
                </a:solidFill>
                <a:latin typeface="+mj-lt" pitchFamily="34" charset="0"/>
                <a:ea typeface="+mj-lt" pitchFamily="34" charset="-122"/>
                <a:cs typeface="+mj-lt" pitchFamily="34" charset="-120"/>
              </a:rPr>
              <a:t>2022 · Energiya shoki</a:t>
            </a:r>
            <a:endParaRPr lang="en-US" sz="1400" dirty="0"/>
          </a:p>
          <a:p>
            <a:pPr indent="0" marL="0">
              <a:spcAft>
                <a:spcPts val="300"/>
              </a:spcAft>
              <a:buNone/>
            </a:pPr>
            <a:r>
              <a:rPr lang="en-US" sz="1200" b="1" dirty="0">
                <a:solidFill>
                  <a:srgbClr val="141414"/>
                </a:solidFill>
                <a:latin typeface="+mj-lt" pitchFamily="34" charset="0"/>
                <a:ea typeface="+mj-lt" pitchFamily="34" charset="-122"/>
                <a:cs typeface="+mj-lt" pitchFamily="34" charset="-120"/>
              </a:rPr>
              <a:t>Brent 100 $, gaz 6,45 $ [8]; CPI 9,1% [7]</a:t>
            </a:r>
            <a:endParaRPr lang="en-US" sz="1400" dirty="0"/>
          </a:p>
          <a:p>
            <a:pPr indent="0" marL="0">
              <a:spcAft>
                <a:spcPts val="300"/>
              </a:spcAft>
              <a:buNone/>
            </a:pPr>
            <a:r>
              <a:rPr lang="en-US" sz="1200" dirty="0">
                <a:solidFill>
                  <a:srgbClr val="141414"/>
                </a:solidFill>
              </a:rPr>
              <a:t>Kon qazish QQ +38,5% (pul hisobida); Fed stavkani oshirgach qurilish −6,3%.</a:t>
            </a:r>
            <a:endParaRPr lang="en-US" sz="1400" dirty="0"/>
          </a:p>
        </p:txBody>
      </p:sp>
      <p:sp>
        <p:nvSpPr>
          <p:cNvPr id="39" name="nega-belgi"/>
          <p:cNvSpPr/>
          <p:nvPr/>
        </p:nvSpPr>
        <p:spPr>
          <a:xfrm>
            <a:off x="7872984" y="1581912"/>
            <a:ext cx="274320" cy="274320"/>
          </a:xfrm>
          <a:prstGeom prst="diamond">
            <a:avLst/>
          </a:prstGeom>
          <a:solidFill>
            <a:srgbClr val="F5C400"/>
          </a:solidFill>
          <a:ln w="19050">
            <a:solidFill>
              <a:srgbClr val="141414"/>
            </a:solidFill>
            <a:prstDash val="solid"/>
          </a:ln>
        </p:spPr>
      </p:sp>
      <p:sp>
        <p:nvSpPr>
          <p:cNvPr id="40" name="nega-belgi-matn"/>
          <p:cNvSpPr txBox="1"/>
          <p:nvPr/>
        </p:nvSpPr>
        <p:spPr>
          <a:xfrm>
            <a:off x="7872984" y="1581912"/>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41" name="nega-sarlavha"/>
          <p:cNvSpPr txBox="1"/>
          <p:nvPr/>
        </p:nvSpPr>
        <p:spPr>
          <a:xfrm>
            <a:off x="8238744" y="1572768"/>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42" name="nega-matn"/>
          <p:cNvSpPr txBox="1"/>
          <p:nvPr/>
        </p:nvSpPr>
        <p:spPr>
          <a:xfrm>
            <a:off x="7872984" y="1956816"/>
            <a:ext cx="3730752" cy="146304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Inqirozning manbai har safar boshqa: 2009-da kredit, 2020-da karantin, 2022-da energiya narxi. Zarba shu manbaga eng yaqin tarmoqqa tushadi.</a:t>
            </a:r>
            <a:endParaRPr lang="en-US" sz="1400" dirty="0"/>
          </a:p>
        </p:txBody>
      </p:sp>
      <p:sp>
        <p:nvSpPr>
          <p:cNvPr id="43" name="anglatadi-chiziq"/>
          <p:cNvSpPr/>
          <p:nvPr/>
        </p:nvSpPr>
        <p:spPr>
          <a:xfrm>
            <a:off x="7872984" y="3429000"/>
            <a:ext cx="64008" cy="960120"/>
          </a:xfrm>
          <a:prstGeom prst="rect">
            <a:avLst/>
          </a:prstGeom>
          <a:solidFill>
            <a:srgbClr val="141414"/>
          </a:solidFill>
          <a:ln/>
        </p:spPr>
      </p:sp>
      <p:sp>
        <p:nvSpPr>
          <p:cNvPr id="44" name="anglatadi-sarlavha"/>
          <p:cNvSpPr txBox="1"/>
          <p:nvPr/>
        </p:nvSpPr>
        <p:spPr>
          <a:xfrm>
            <a:off x="8074152" y="344728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45" name="anglatadi-matn"/>
          <p:cNvSpPr txBox="1"/>
          <p:nvPr/>
        </p:nvSpPr>
        <p:spPr>
          <a:xfrm>
            <a:off x="8074152" y="3703320"/>
            <a:ext cx="3529584" cy="66751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Inqirozga tayyorlanish uchun bitta tarmoqqa emas, butun tuzilmaga qarash kerak.</a:t>
            </a:r>
            <a:endParaRPr lang="en-US" sz="1700" dirty="0"/>
          </a:p>
        </p:txBody>
      </p:sp>
      <p:sp>
        <p:nvSpPr>
          <p:cNvPr id="46" name="speaker-dot"/>
          <p:cNvSpPr/>
          <p:nvPr/>
        </p:nvSpPr>
        <p:spPr>
          <a:xfrm>
            <a:off x="571500" y="6336792"/>
            <a:ext cx="77724" cy="77724"/>
          </a:xfrm>
          <a:prstGeom prst="ellipse">
            <a:avLst/>
          </a:prstGeom>
          <a:solidFill>
            <a:srgbClr val="55524B"/>
          </a:solidFill>
          <a:ln/>
        </p:spPr>
      </p:sp>
      <p:sp>
        <p:nvSpPr>
          <p:cNvPr id="47"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O‘rolov Shahzod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2" fill="hold">
                      <p:stCondLst>
                        <p:cond delay="indefinite"/>
                      </p:stCondLst>
                      <p:childTnLst>
                        <p:par>
                          <p:cTn id="7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0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00"/>
                                        <p:tgtEl>
                                          <p:spTgt spid="2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00"/>
                                        <p:tgtEl>
                                          <p:spTgt spid="2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400"/>
                                        <p:tgtEl>
                                          <p:spTgt spid="32"/>
                                        </p:tgtEl>
                                      </p:cBhvr>
                                    </p:animEffect>
                                  </p:childTnLst>
                                </p:cTn>
                              </p:par>
                            </p:childTnLst>
                          </p:cTn>
                        </p:par>
                      </p:childTnLst>
                    </p:cTn>
                  </p:par>
                  <p:par>
                    <p:cTn id="80" fill="hold">
                      <p:stCondLst>
                        <p:cond delay="indefinite"/>
                      </p:stCondLst>
                      <p:childTnLst>
                        <p:par>
                          <p:cTn id="81"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childTnLst>
                                </p:cTn>
                              </p:par>
                            </p:childTnLst>
                          </p:cTn>
                        </p:par>
                      </p:childTnLst>
                    </p:cTn>
                  </p:par>
                  <p:par>
                    <p:cTn id="88" fill="hold">
                      <p:stCondLst>
                        <p:cond delay="indefinite"/>
                      </p:stCondLst>
                      <p:childTnLst>
                        <p:par>
                          <p:cTn id="89"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400"/>
                                        <p:tgtEl>
                                          <p:spTgt spid="36"/>
                                        </p:tgtEl>
                                      </p:cBhvr>
                                    </p:animEffect>
                                  </p:childTnLst>
                                </p:cTn>
                              </p:par>
                            </p:childTnLst>
                          </p:cTn>
                        </p:par>
                      </p:childTnLst>
                    </p:cTn>
                  </p:par>
                  <p:par>
                    <p:cTn id="96" fill="hold">
                      <p:stCondLst>
                        <p:cond delay="indefinite"/>
                      </p:stCondLst>
                      <p:childTnLst>
                        <p:par>
                          <p:cTn id="97"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400"/>
                                        <p:tgtEl>
                                          <p:spTgt spid="3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400"/>
                                        <p:tgtEl>
                                          <p:spTgt spid="38"/>
                                        </p:tgtEl>
                                      </p:cBhvr>
                                    </p:animEffect>
                                  </p:childTnLst>
                                </p:cTn>
                              </p:par>
                            </p:childTnLst>
                          </p:cTn>
                        </p:par>
                      </p:childTnLst>
                    </p:cTn>
                  </p:par>
                  <p:par>
                    <p:cTn id="110" fill="hold">
                      <p:stCondLst>
                        <p:cond delay="indefinite"/>
                      </p:stCondLst>
                      <p:childTnLst>
                        <p:par>
                          <p:cTn id="111"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400"/>
                                        <p:tgtEl>
                                          <p:spTgt spid="3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400"/>
                                        <p:tgtEl>
                                          <p:spTgt spid="4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400"/>
                                        <p:tgtEl>
                                          <p:spTgt spid="4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fade">
                                      <p:cBhvr>
                                        <p:cTn id="109" dur="400"/>
                                        <p:tgtEl>
                                          <p:spTgt spid="42"/>
                                        </p:tgtEl>
                                      </p:cBhvr>
                                    </p:animEffect>
                                  </p:childTnLst>
                                </p:cTn>
                              </p:par>
                            </p:childTnLst>
                          </p:cTn>
                        </p:par>
                      </p:childTnLst>
                    </p:cTn>
                  </p:par>
                  <p:par>
                    <p:cTn id="121" fill="hold">
                      <p:stCondLst>
                        <p:cond delay="indefinite"/>
                      </p:stCondLst>
                      <p:childTnLst>
                        <p:par>
                          <p:cTn id="122"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4" dur="400"/>
                                        <p:tgtEl>
                                          <p:spTgt spid="4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7" dur="400"/>
                                        <p:tgtEl>
                                          <p:spTgt spid="4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20"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11" grpId="0">
        <p:bldAsOne/>
      </p:bldGraphic>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rogress"/>
          <p:cNvSpPr/>
          <p:nvPr/>
        </p:nvSpPr>
        <p:spPr>
          <a:xfrm>
            <a:off x="0" y="6743700"/>
            <a:ext cx="7547240"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Infratuzilma — o‘sishning ko‘rinmas poydevori: uchta haqiqiy misol</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14</a:t>
            </a:r>
            <a:endParaRPr lang="en-US" sz="1100" dirty="0"/>
          </a:p>
        </p:txBody>
      </p:sp>
      <p:sp>
        <p:nvSpPr>
          <p:cNvPr id="6" name="sign-outer"/>
          <p:cNvSpPr/>
          <p:nvPr/>
        </p:nvSpPr>
        <p:spPr>
          <a:xfrm>
            <a:off x="9592056" y="566928"/>
            <a:ext cx="2066544" cy="603504"/>
          </a:xfrm>
          <a:prstGeom prst="roundRect">
            <a:avLst>
              <a:gd name="adj" fmla="val 15152"/>
            </a:avLst>
          </a:prstGeom>
          <a:solidFill>
            <a:srgbClr val="00653A"/>
          </a:solidFill>
          <a:ln/>
        </p:spPr>
      </p:sp>
      <p:sp>
        <p:nvSpPr>
          <p:cNvPr id="7" name="sign-panel"/>
          <p:cNvSpPr/>
          <p:nvPr/>
        </p:nvSpPr>
        <p:spPr>
          <a:xfrm>
            <a:off x="9628632" y="603504"/>
            <a:ext cx="1993392"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628632" y="603504"/>
            <a:ext cx="199339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Infratuzilma</a:t>
            </a:r>
            <a:endParaRPr lang="en-US" sz="1700" dirty="0"/>
          </a:p>
        </p:txBody>
      </p:sp>
      <p:sp>
        <p:nvSpPr>
          <p:cNvPr id="9" name="sign-lane"/>
          <p:cNvSpPr/>
          <p:nvPr/>
        </p:nvSpPr>
        <p:spPr>
          <a:xfrm>
            <a:off x="9738360" y="1225296"/>
            <a:ext cx="1773936" cy="50292"/>
          </a:xfrm>
          <a:prstGeom prst="rect">
            <a:avLst/>
          </a:prstGeom>
          <a:solidFill>
            <a:srgbClr val="9A9A9A"/>
          </a:solidFill>
          <a:ln/>
        </p:spPr>
      </p:sp>
      <p:sp>
        <p:nvSpPr>
          <p:cNvPr id="10" name="sabab"/>
          <p:cNvSpPr/>
          <p:nvPr/>
        </p:nvSpPr>
        <p:spPr>
          <a:xfrm>
            <a:off x="571500" y="1572768"/>
            <a:ext cx="1691640" cy="1325880"/>
          </a:xfrm>
          <a:prstGeom prst="roundRect">
            <a:avLst>
              <a:gd name="adj" fmla="val 5517"/>
            </a:avLst>
          </a:prstGeom>
          <a:solidFill>
            <a:srgbClr val="00653A"/>
          </a:solidFill>
          <a:ln/>
        </p:spPr>
      </p:sp>
      <p:sp>
        <p:nvSpPr>
          <p:cNvPr id="11" name="sabab-matn"/>
          <p:cNvSpPr txBox="1"/>
          <p:nvPr/>
        </p:nvSpPr>
        <p:spPr>
          <a:xfrm>
            <a:off x="699516" y="1572768"/>
            <a:ext cx="1472184" cy="1325880"/>
          </a:xfrm>
          <a:prstGeom prst="rect">
            <a:avLst/>
          </a:prstGeom>
          <a:noFill/>
          <a:ln/>
        </p:spPr>
        <p:txBody>
          <a:bodyPr wrap="square" lIns="0" tIns="0" rIns="0" bIns="0" rtlCol="0" anchor="ctr"/>
          <a:lstStyle/>
          <a:p>
            <a:pPr indent="0" marL="0">
              <a:spcAft>
                <a:spcPts val="300"/>
              </a:spcAft>
              <a:buNone/>
            </a:pPr>
            <a:r>
              <a:rPr lang="en-US" sz="1500" b="1" dirty="0">
                <a:solidFill>
                  <a:srgbClr val="FFFFFF"/>
                </a:solidFill>
                <a:latin typeface="+mj-lt" pitchFamily="34" charset="0"/>
                <a:ea typeface="+mj-lt" pitchFamily="34" charset="-122"/>
                <a:cs typeface="+mj-lt" pitchFamily="34" charset="-120"/>
              </a:rPr>
              <a:t>Energiya</a:t>
            </a:r>
            <a:endParaRPr lang="en-US" sz="1500" dirty="0"/>
          </a:p>
          <a:p>
            <a:pPr indent="0" marL="0">
              <a:spcAft>
                <a:spcPts val="300"/>
              </a:spcAft>
              <a:buNone/>
            </a:pPr>
            <a:r>
              <a:rPr lang="en-US" sz="1200" dirty="0">
                <a:solidFill>
                  <a:srgbClr val="FFFFFF"/>
                </a:solidFill>
                <a:latin typeface="+mj-lt" pitchFamily="34" charset="0"/>
                <a:ea typeface="+mj-lt" pitchFamily="34" charset="-122"/>
                <a:cs typeface="+mj-lt" pitchFamily="34" charset="-120"/>
              </a:rPr>
              <a:t>slanets inqilobi: arzon gaz</a:t>
            </a:r>
            <a:endParaRPr lang="en-US" sz="1500" dirty="0"/>
          </a:p>
        </p:txBody>
      </p:sp>
      <p:sp>
        <p:nvSpPr>
          <p:cNvPr id="12" name="natija"/>
          <p:cNvSpPr/>
          <p:nvPr/>
        </p:nvSpPr>
        <p:spPr>
          <a:xfrm>
            <a:off x="5737860" y="1572768"/>
            <a:ext cx="1691640" cy="1325880"/>
          </a:xfrm>
          <a:prstGeom prst="roundRect">
            <a:avLst>
              <a:gd name="adj" fmla="val 5517"/>
            </a:avLst>
          </a:prstGeom>
          <a:solidFill>
            <a:srgbClr val="EEEAE0"/>
          </a:solidFill>
          <a:ln/>
        </p:spPr>
      </p:sp>
      <p:sp>
        <p:nvSpPr>
          <p:cNvPr id="13" name="natija-matn"/>
          <p:cNvSpPr txBox="1"/>
          <p:nvPr/>
        </p:nvSpPr>
        <p:spPr>
          <a:xfrm>
            <a:off x="5865876" y="1572768"/>
            <a:ext cx="1472184" cy="1325880"/>
          </a:xfrm>
          <a:prstGeom prst="rect">
            <a:avLst/>
          </a:prstGeom>
          <a:noFill/>
          <a:ln/>
        </p:spPr>
        <p:txBody>
          <a:bodyPr wrap="square" lIns="0" tIns="0" rIns="0" bIns="0" rtlCol="0" anchor="ctr"/>
          <a:lstStyle/>
          <a:p>
            <a:pPr indent="0" marL="0">
              <a:spcAft>
                <a:spcPts val="300"/>
              </a:spcAft>
              <a:buNone/>
            </a:pPr>
            <a:r>
              <a:rPr lang="en-US" sz="1400" b="1" dirty="0">
                <a:solidFill>
                  <a:srgbClr val="1C3F94"/>
                </a:solidFill>
                <a:latin typeface="+mj-lt" pitchFamily="34" charset="0"/>
                <a:ea typeface="+mj-lt" pitchFamily="34" charset="-122"/>
                <a:cs typeface="+mj-lt" pitchFamily="34" charset="-120"/>
              </a:rPr>
              <a:t>Sanoat</a:t>
            </a:r>
            <a:endParaRPr lang="en-US" sz="1400" dirty="0"/>
          </a:p>
          <a:p>
            <a:pPr indent="0" marL="0">
              <a:spcAft>
                <a:spcPts val="300"/>
              </a:spcAft>
              <a:buNone/>
            </a:pPr>
            <a:r>
              <a:rPr lang="en-US" sz="1200" dirty="0">
                <a:solidFill>
                  <a:srgbClr val="141414"/>
                </a:solidFill>
              </a:rPr>
              <a:t>yangi zavodlar: etilen +40% kutilgan; 2023 — SPG eksportida 1-o‘rin [8]</a:t>
            </a:r>
            <a:endParaRPr lang="en-US" sz="1400" dirty="0"/>
          </a:p>
        </p:txBody>
      </p:sp>
      <p:sp>
        <p:nvSpPr>
          <p:cNvPr id="14" name="strelka"/>
          <p:cNvSpPr/>
          <p:nvPr/>
        </p:nvSpPr>
        <p:spPr>
          <a:xfrm>
            <a:off x="2299716" y="2144268"/>
            <a:ext cx="246888" cy="182880"/>
          </a:xfrm>
          <a:prstGeom prst="rightArrow">
            <a:avLst/>
          </a:prstGeom>
          <a:solidFill>
            <a:srgbClr val="141414"/>
          </a:solidFill>
          <a:ln/>
        </p:spPr>
      </p:sp>
      <p:sp>
        <p:nvSpPr>
          <p:cNvPr id="15" name="strelka"/>
          <p:cNvSpPr/>
          <p:nvPr/>
        </p:nvSpPr>
        <p:spPr>
          <a:xfrm>
            <a:off x="5454396" y="2144268"/>
            <a:ext cx="246888" cy="182880"/>
          </a:xfrm>
          <a:prstGeom prst="rightArrow">
            <a:avLst/>
          </a:prstGeom>
          <a:solidFill>
            <a:srgbClr val="141414"/>
          </a:solidFill>
          <a:ln/>
        </p:spPr>
      </p:sp>
      <p:graphicFrame>
        <p:nvGraphicFramePr>
          <p:cNvPr id="16" name="gaz-grafik" descr=""/>
          <p:cNvGraphicFramePr/>
          <p:nvPr/>
        </p:nvGraphicFramePr>
        <p:xfrm>
          <a:off x="2583180" y="1591056"/>
          <a:ext cx="2834640" cy="1051560"/>
        </p:xfrm>
        <a:graphic xmlns:a="http://schemas.openxmlformats.org/drawingml/2006/main">
          <a:graphicData uri="http://schemas.openxmlformats.org/drawingml/2006/chart">
            <c:chart xmlns:c="http://schemas.openxmlformats.org/drawingml/2006/chart" r:id="rId1"/>
          </a:graphicData>
        </a:graphic>
      </p:graphicFrame>
      <p:sp>
        <p:nvSpPr>
          <p:cNvPr id="17" name="yorliq"/>
          <p:cNvSpPr txBox="1"/>
          <p:nvPr/>
        </p:nvSpPr>
        <p:spPr>
          <a:xfrm>
            <a:off x="3591442" y="1647444"/>
            <a:ext cx="822960" cy="237744"/>
          </a:xfrm>
          <a:prstGeom prst="rect">
            <a:avLst/>
          </a:prstGeom>
          <a:noFill/>
          <a:ln/>
        </p:spPr>
        <p:txBody>
          <a:bodyPr wrap="square" lIns="0" tIns="0" rIns="0" bIns="0" rtlCol="0" anchor="ctr"/>
          <a:lstStyle/>
          <a:p>
            <a:pPr algn="l" indent="0" marL="0">
              <a:buNone/>
            </a:pPr>
            <a:r>
              <a:rPr lang="en-US" sz="1100" b="1" dirty="0">
                <a:solidFill>
                  <a:srgbClr val="141414"/>
                </a:solidFill>
                <a:latin typeface="+mj-lt" pitchFamily="34" charset="0"/>
                <a:ea typeface="+mj-lt" pitchFamily="34" charset="-122"/>
                <a:cs typeface="+mj-lt" pitchFamily="34" charset="-120"/>
              </a:rPr>
              <a:t>2,21 $</a:t>
            </a:r>
            <a:endParaRPr lang="en-US" sz="1100" dirty="0"/>
          </a:p>
        </p:txBody>
      </p:sp>
      <p:sp>
        <p:nvSpPr>
          <p:cNvPr id="18" name="yorliq"/>
          <p:cNvSpPr txBox="1"/>
          <p:nvPr/>
        </p:nvSpPr>
        <p:spPr>
          <a:xfrm>
            <a:off x="4599753" y="1997964"/>
            <a:ext cx="822960" cy="237744"/>
          </a:xfrm>
          <a:prstGeom prst="rect">
            <a:avLst/>
          </a:prstGeom>
          <a:noFill/>
          <a:ln/>
        </p:spPr>
        <p:txBody>
          <a:bodyPr wrap="square" lIns="0" tIns="0" rIns="0" bIns="0" rtlCol="0" anchor="ctr"/>
          <a:lstStyle/>
          <a:p>
            <a:pPr algn="l" indent="0" marL="0">
              <a:buNone/>
            </a:pPr>
            <a:r>
              <a:rPr lang="en-US" sz="1100" b="1" dirty="0">
                <a:solidFill>
                  <a:srgbClr val="141414"/>
                </a:solidFill>
                <a:latin typeface="+mj-lt" pitchFamily="34" charset="0"/>
                <a:ea typeface="+mj-lt" pitchFamily="34" charset="-122"/>
                <a:cs typeface="+mj-lt" pitchFamily="34" charset="-120"/>
              </a:rPr>
              <a:t>10,37 $</a:t>
            </a:r>
            <a:endParaRPr lang="en-US" sz="1100" dirty="0"/>
          </a:p>
        </p:txBody>
      </p:sp>
      <p:sp>
        <p:nvSpPr>
          <p:cNvPr id="19" name="yorliq"/>
          <p:cNvSpPr txBox="1"/>
          <p:nvPr/>
        </p:nvSpPr>
        <p:spPr>
          <a:xfrm>
            <a:off x="4735678" y="2348484"/>
            <a:ext cx="822960" cy="237744"/>
          </a:xfrm>
          <a:prstGeom prst="rect">
            <a:avLst/>
          </a:prstGeom>
          <a:noFill/>
          <a:ln/>
        </p:spPr>
        <p:txBody>
          <a:bodyPr wrap="square" lIns="0" tIns="0" rIns="0" bIns="0" rtlCol="0" anchor="ctr"/>
          <a:lstStyle/>
          <a:p>
            <a:pPr algn="l" indent="0" marL="0">
              <a:buNone/>
            </a:pPr>
            <a:r>
              <a:rPr lang="en-US" sz="1100" b="1" dirty="0">
                <a:solidFill>
                  <a:srgbClr val="141414"/>
                </a:solidFill>
                <a:latin typeface="+mj-lt" pitchFamily="34" charset="0"/>
                <a:ea typeface="+mj-lt" pitchFamily="34" charset="-122"/>
                <a:cs typeface="+mj-lt" pitchFamily="34" charset="-120"/>
              </a:rPr>
              <a:t>11,47 $</a:t>
            </a:r>
            <a:endParaRPr lang="en-US" sz="1100" dirty="0"/>
          </a:p>
        </p:txBody>
      </p:sp>
      <p:sp>
        <p:nvSpPr>
          <p:cNvPr id="20" name="gaz-izoh"/>
          <p:cNvSpPr txBox="1"/>
          <p:nvPr/>
        </p:nvSpPr>
        <p:spPr>
          <a:xfrm>
            <a:off x="2583180" y="2660904"/>
            <a:ext cx="2834640" cy="219456"/>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gaz narxi, $/MMBtu, 2024 [8]</a:t>
            </a:r>
            <a:endParaRPr lang="en-US" sz="1100" dirty="0"/>
          </a:p>
        </p:txBody>
      </p:sp>
      <p:sp>
        <p:nvSpPr>
          <p:cNvPr id="21" name="sabab"/>
          <p:cNvSpPr/>
          <p:nvPr/>
        </p:nvSpPr>
        <p:spPr>
          <a:xfrm>
            <a:off x="571500" y="3090672"/>
            <a:ext cx="1691640" cy="1325880"/>
          </a:xfrm>
          <a:prstGeom prst="roundRect">
            <a:avLst>
              <a:gd name="adj" fmla="val 5517"/>
            </a:avLst>
          </a:prstGeom>
          <a:solidFill>
            <a:srgbClr val="00653A"/>
          </a:solidFill>
          <a:ln/>
        </p:spPr>
      </p:sp>
      <p:sp>
        <p:nvSpPr>
          <p:cNvPr id="22" name="sabab-matn"/>
          <p:cNvSpPr txBox="1"/>
          <p:nvPr/>
        </p:nvSpPr>
        <p:spPr>
          <a:xfrm>
            <a:off x="699516" y="3090672"/>
            <a:ext cx="1472184" cy="1325880"/>
          </a:xfrm>
          <a:prstGeom prst="rect">
            <a:avLst/>
          </a:prstGeom>
          <a:noFill/>
          <a:ln/>
        </p:spPr>
        <p:txBody>
          <a:bodyPr wrap="square" lIns="0" tIns="0" rIns="0" bIns="0" rtlCol="0" anchor="ctr"/>
          <a:lstStyle/>
          <a:p>
            <a:pPr indent="0" marL="0">
              <a:spcAft>
                <a:spcPts val="300"/>
              </a:spcAft>
              <a:buNone/>
            </a:pPr>
            <a:r>
              <a:rPr lang="en-US" sz="1500" b="1" dirty="0">
                <a:solidFill>
                  <a:srgbClr val="FFFFFF"/>
                </a:solidFill>
                <a:latin typeface="+mj-lt" pitchFamily="34" charset="0"/>
                <a:ea typeface="+mj-lt" pitchFamily="34" charset="-122"/>
                <a:cs typeface="+mj-lt" pitchFamily="34" charset="-120"/>
              </a:rPr>
              <a:t>IIJA qonuni, 2021</a:t>
            </a:r>
            <a:endParaRPr lang="en-US" sz="1500" dirty="0"/>
          </a:p>
          <a:p>
            <a:pPr indent="0" marL="0">
              <a:spcAft>
                <a:spcPts val="300"/>
              </a:spcAft>
              <a:buNone/>
            </a:pPr>
            <a:r>
              <a:rPr lang="en-US" sz="1200" dirty="0">
                <a:solidFill>
                  <a:srgbClr val="FFFFFF"/>
                </a:solidFill>
                <a:latin typeface="+mj-lt" pitchFamily="34" charset="0"/>
                <a:ea typeface="+mj-lt" pitchFamily="34" charset="-122"/>
                <a:cs typeface="+mj-lt" pitchFamily="34" charset="-120"/>
              </a:rPr>
              <a:t>1,2 trln $, shundan 550 mlrd $ yangi</a:t>
            </a:r>
            <a:endParaRPr lang="en-US" sz="1500" dirty="0"/>
          </a:p>
        </p:txBody>
      </p:sp>
      <p:sp>
        <p:nvSpPr>
          <p:cNvPr id="23" name="natija"/>
          <p:cNvSpPr/>
          <p:nvPr/>
        </p:nvSpPr>
        <p:spPr>
          <a:xfrm>
            <a:off x="5737860" y="3090672"/>
            <a:ext cx="1691640" cy="1325880"/>
          </a:xfrm>
          <a:prstGeom prst="roundRect">
            <a:avLst>
              <a:gd name="adj" fmla="val 5517"/>
            </a:avLst>
          </a:prstGeom>
          <a:solidFill>
            <a:srgbClr val="EEEAE0"/>
          </a:solidFill>
          <a:ln/>
        </p:spPr>
      </p:sp>
      <p:sp>
        <p:nvSpPr>
          <p:cNvPr id="24" name="natija-matn"/>
          <p:cNvSpPr txBox="1"/>
          <p:nvPr/>
        </p:nvSpPr>
        <p:spPr>
          <a:xfrm>
            <a:off x="5865876" y="3090672"/>
            <a:ext cx="1472184" cy="1325880"/>
          </a:xfrm>
          <a:prstGeom prst="rect">
            <a:avLst/>
          </a:prstGeom>
          <a:noFill/>
          <a:ln/>
        </p:spPr>
        <p:txBody>
          <a:bodyPr wrap="square" lIns="0" tIns="0" rIns="0" bIns="0" rtlCol="0" anchor="ctr"/>
          <a:lstStyle/>
          <a:p>
            <a:pPr indent="0" marL="0">
              <a:spcAft>
                <a:spcPts val="300"/>
              </a:spcAft>
              <a:buNone/>
            </a:pPr>
            <a:r>
              <a:rPr lang="en-US" sz="1400" b="1" dirty="0">
                <a:solidFill>
                  <a:srgbClr val="9C36B5"/>
                </a:solidFill>
                <a:latin typeface="+mj-lt" pitchFamily="34" charset="0"/>
                <a:ea typeface="+mj-lt" pitchFamily="34" charset="-122"/>
                <a:cs typeface="+mj-lt" pitchFamily="34" charset="-120"/>
              </a:rPr>
              <a:t>Qurilish</a:t>
            </a:r>
            <a:endParaRPr lang="en-US" sz="1400" dirty="0"/>
          </a:p>
          <a:p>
            <a:pPr indent="0" marL="0">
              <a:spcAft>
                <a:spcPts val="300"/>
              </a:spcAft>
              <a:buNone/>
            </a:pPr>
            <a:r>
              <a:rPr lang="en-US" sz="1200" dirty="0">
                <a:solidFill>
                  <a:srgbClr val="141414"/>
                </a:solidFill>
              </a:rPr>
              <a:t>yo‘l, ko‘prik, temir yo‘l va suv loyihalari — qurilishga buyurtma</a:t>
            </a:r>
            <a:endParaRPr lang="en-US" sz="1400" dirty="0"/>
          </a:p>
        </p:txBody>
      </p:sp>
      <p:sp>
        <p:nvSpPr>
          <p:cNvPr id="25" name="strelka"/>
          <p:cNvSpPr/>
          <p:nvPr/>
        </p:nvSpPr>
        <p:spPr>
          <a:xfrm>
            <a:off x="2299716" y="3662172"/>
            <a:ext cx="246888" cy="182880"/>
          </a:xfrm>
          <a:prstGeom prst="rightArrow">
            <a:avLst/>
          </a:prstGeom>
          <a:solidFill>
            <a:srgbClr val="141414"/>
          </a:solidFill>
          <a:ln/>
        </p:spPr>
      </p:sp>
      <p:sp>
        <p:nvSpPr>
          <p:cNvPr id="26" name="strelka"/>
          <p:cNvSpPr/>
          <p:nvPr/>
        </p:nvSpPr>
        <p:spPr>
          <a:xfrm>
            <a:off x="5454396" y="3662172"/>
            <a:ext cx="246888" cy="182880"/>
          </a:xfrm>
          <a:prstGeom prst="rightArrow">
            <a:avLst/>
          </a:prstGeom>
          <a:solidFill>
            <a:srgbClr val="141414"/>
          </a:solidFill>
          <a:ln/>
        </p:spPr>
      </p:sp>
      <p:graphicFrame>
        <p:nvGraphicFramePr>
          <p:cNvPr id="27" name="iija-grafik" descr=""/>
          <p:cNvGraphicFramePr/>
          <p:nvPr/>
        </p:nvGraphicFramePr>
        <p:xfrm>
          <a:off x="2583180" y="3108960"/>
          <a:ext cx="2834640" cy="1069848"/>
        </p:xfrm>
        <a:graphic xmlns:a="http://schemas.openxmlformats.org/drawingml/2006/main">
          <a:graphicData uri="http://schemas.openxmlformats.org/drawingml/2006/chart">
            <c:chart xmlns:c="http://schemas.openxmlformats.org/drawingml/2006/chart" r:id="rId2"/>
          </a:graphicData>
        </a:graphic>
      </p:graphicFrame>
      <p:sp>
        <p:nvSpPr>
          <p:cNvPr id="28" name="iija-izoh"/>
          <p:cNvSpPr txBox="1"/>
          <p:nvPr/>
        </p:nvSpPr>
        <p:spPr>
          <a:xfrm>
            <a:off x="2583180" y="4197096"/>
            <a:ext cx="2834640" cy="201168"/>
          </a:xfrm>
          <a:prstGeom prst="rect">
            <a:avLst/>
          </a:prstGeom>
          <a:noFill/>
          <a:ln/>
        </p:spPr>
        <p:txBody>
          <a:bodyPr wrap="square" lIns="0" tIns="0" rIns="0" bIns="0" rtlCol="0" anchor="ctr"/>
          <a:lstStyle/>
          <a:p>
            <a:pPr indent="0" marL="0">
              <a:buNone/>
            </a:pPr>
            <a:r>
              <a:rPr lang="en-US" sz="1100" dirty="0">
                <a:solidFill>
                  <a:schemeClr val="tx2"/>
                </a:solidFill>
                <a:latin typeface="+mj-lt" pitchFamily="34" charset="0"/>
                <a:ea typeface="+mj-lt" pitchFamily="34" charset="-122"/>
                <a:cs typeface="+mj-lt" pitchFamily="34" charset="-120"/>
              </a:rPr>
              <a:t>mlrd $ [11]</a:t>
            </a:r>
            <a:endParaRPr lang="en-US" sz="1100" dirty="0"/>
          </a:p>
        </p:txBody>
      </p:sp>
      <p:sp>
        <p:nvSpPr>
          <p:cNvPr id="29" name="sabab"/>
          <p:cNvSpPr/>
          <p:nvPr/>
        </p:nvSpPr>
        <p:spPr>
          <a:xfrm>
            <a:off x="571500" y="4608576"/>
            <a:ext cx="1691640" cy="1325880"/>
          </a:xfrm>
          <a:prstGeom prst="roundRect">
            <a:avLst>
              <a:gd name="adj" fmla="val 5517"/>
            </a:avLst>
          </a:prstGeom>
          <a:solidFill>
            <a:srgbClr val="00653A"/>
          </a:solidFill>
          <a:ln/>
        </p:spPr>
      </p:sp>
      <p:sp>
        <p:nvSpPr>
          <p:cNvPr id="30" name="sabab-matn"/>
          <p:cNvSpPr txBox="1"/>
          <p:nvPr/>
        </p:nvSpPr>
        <p:spPr>
          <a:xfrm>
            <a:off x="699516" y="4608576"/>
            <a:ext cx="1472184" cy="1325880"/>
          </a:xfrm>
          <a:prstGeom prst="rect">
            <a:avLst/>
          </a:prstGeom>
          <a:noFill/>
          <a:ln/>
        </p:spPr>
        <p:txBody>
          <a:bodyPr wrap="square" lIns="0" tIns="0" rIns="0" bIns="0" rtlCol="0" anchor="ctr"/>
          <a:lstStyle/>
          <a:p>
            <a:pPr indent="0" marL="0">
              <a:spcAft>
                <a:spcPts val="300"/>
              </a:spcAft>
              <a:buNone/>
            </a:pPr>
            <a:r>
              <a:rPr lang="en-US" sz="1500" b="1" dirty="0">
                <a:solidFill>
                  <a:srgbClr val="FFFFFF"/>
                </a:solidFill>
                <a:latin typeface="+mj-lt" pitchFamily="34" charset="0"/>
                <a:ea typeface="+mj-lt" pitchFamily="34" charset="-122"/>
                <a:cs typeface="+mj-lt" pitchFamily="34" charset="-120"/>
              </a:rPr>
              <a:t>Interstate avtomagistrali</a:t>
            </a:r>
            <a:endParaRPr lang="en-US" sz="1500" dirty="0"/>
          </a:p>
          <a:p>
            <a:pPr indent="0" marL="0">
              <a:spcAft>
                <a:spcPts val="300"/>
              </a:spcAft>
              <a:buNone/>
            </a:pPr>
            <a:r>
              <a:rPr lang="en-US" sz="1200" dirty="0">
                <a:solidFill>
                  <a:srgbClr val="FFFFFF"/>
                </a:solidFill>
                <a:latin typeface="+mj-lt" pitchFamily="34" charset="0"/>
                <a:ea typeface="+mj-lt" pitchFamily="34" charset="-122"/>
                <a:cs typeface="+mj-lt" pitchFamily="34" charset="-120"/>
              </a:rPr>
              <a:t>79 045 km — yo‘llarning 1%</a:t>
            </a:r>
            <a:endParaRPr lang="en-US" sz="1500" dirty="0"/>
          </a:p>
        </p:txBody>
      </p:sp>
      <p:sp>
        <p:nvSpPr>
          <p:cNvPr id="31" name="natija"/>
          <p:cNvSpPr/>
          <p:nvPr/>
        </p:nvSpPr>
        <p:spPr>
          <a:xfrm>
            <a:off x="5737860" y="4608576"/>
            <a:ext cx="1691640" cy="1325880"/>
          </a:xfrm>
          <a:prstGeom prst="roundRect">
            <a:avLst>
              <a:gd name="adj" fmla="val 5517"/>
            </a:avLst>
          </a:prstGeom>
          <a:solidFill>
            <a:srgbClr val="EEEAE0"/>
          </a:solidFill>
          <a:ln/>
        </p:spPr>
      </p:sp>
      <p:sp>
        <p:nvSpPr>
          <p:cNvPr id="32" name="natija-matn"/>
          <p:cNvSpPr txBox="1"/>
          <p:nvPr/>
        </p:nvSpPr>
        <p:spPr>
          <a:xfrm>
            <a:off x="5865876" y="4608576"/>
            <a:ext cx="1472184" cy="1325880"/>
          </a:xfrm>
          <a:prstGeom prst="rect">
            <a:avLst/>
          </a:prstGeom>
          <a:noFill/>
          <a:ln/>
        </p:spPr>
        <p:txBody>
          <a:bodyPr wrap="square" lIns="0" tIns="0" rIns="0" bIns="0" rtlCol="0" anchor="ctr"/>
          <a:lstStyle/>
          <a:p>
            <a:pPr indent="0" marL="0">
              <a:spcAft>
                <a:spcPts val="300"/>
              </a:spcAft>
              <a:buNone/>
            </a:pPr>
            <a:r>
              <a:rPr lang="en-US" sz="1400" b="1" dirty="0">
                <a:solidFill>
                  <a:srgbClr val="B86E00"/>
                </a:solidFill>
                <a:latin typeface="+mj-lt" pitchFamily="34" charset="0"/>
                <a:ea typeface="+mj-lt" pitchFamily="34" charset="-122"/>
                <a:cs typeface="+mj-lt" pitchFamily="34" charset="-120"/>
              </a:rPr>
              <a:t>Logistika va savdo</a:t>
            </a:r>
            <a:endParaRPr lang="en-US" sz="1400" dirty="0"/>
          </a:p>
          <a:p>
            <a:pPr indent="0" marL="0">
              <a:spcAft>
                <a:spcPts val="300"/>
              </a:spcAft>
              <a:buNone/>
            </a:pPr>
            <a:r>
              <a:rPr lang="en-US" sz="1200" dirty="0">
                <a:solidFill>
                  <a:srgbClr val="141414"/>
                </a:solidFill>
              </a:rPr>
              <a:t>2023: 20,2 mlrd t yuk, 18,7 trln $ [11]</a:t>
            </a:r>
            <a:endParaRPr lang="en-US" sz="1400" dirty="0"/>
          </a:p>
        </p:txBody>
      </p:sp>
      <p:sp>
        <p:nvSpPr>
          <p:cNvPr id="33" name="strelka"/>
          <p:cNvSpPr/>
          <p:nvPr/>
        </p:nvSpPr>
        <p:spPr>
          <a:xfrm>
            <a:off x="2299716" y="5180076"/>
            <a:ext cx="246888" cy="182880"/>
          </a:xfrm>
          <a:prstGeom prst="rightArrow">
            <a:avLst/>
          </a:prstGeom>
          <a:solidFill>
            <a:srgbClr val="141414"/>
          </a:solidFill>
          <a:ln/>
        </p:spPr>
      </p:sp>
      <p:sp>
        <p:nvSpPr>
          <p:cNvPr id="34" name="strelka"/>
          <p:cNvSpPr/>
          <p:nvPr/>
        </p:nvSpPr>
        <p:spPr>
          <a:xfrm>
            <a:off x="5454396" y="5180076"/>
            <a:ext cx="246888" cy="182880"/>
          </a:xfrm>
          <a:prstGeom prst="rightArrow">
            <a:avLst/>
          </a:prstGeom>
          <a:solidFill>
            <a:srgbClr val="141414"/>
          </a:solidFill>
          <a:ln/>
        </p:spPr>
      </p:sp>
      <p:sp>
        <p:nvSpPr>
          <p:cNvPr id="35" name="katta-raqam"/>
          <p:cNvSpPr txBox="1"/>
          <p:nvPr/>
        </p:nvSpPr>
        <p:spPr>
          <a:xfrm>
            <a:off x="2720340" y="4791456"/>
            <a:ext cx="2560320" cy="640080"/>
          </a:xfrm>
          <a:prstGeom prst="rect">
            <a:avLst/>
          </a:prstGeom>
          <a:noFill/>
          <a:ln/>
        </p:spPr>
        <p:txBody>
          <a:bodyPr wrap="square" lIns="0" tIns="0" rIns="0" bIns="0" rtlCol="0" anchor="b"/>
          <a:lstStyle/>
          <a:p>
            <a:pPr indent="0" marL="0">
              <a:buNone/>
            </a:pPr>
            <a:r>
              <a:rPr lang="en-US" sz="4000" b="1" dirty="0">
                <a:solidFill>
                  <a:srgbClr val="B86E00"/>
                </a:solidFill>
                <a:latin typeface="+mj-lt" pitchFamily="34" charset="0"/>
                <a:ea typeface="+mj-lt" pitchFamily="34" charset="-122"/>
                <a:cs typeface="+mj-lt" pitchFamily="34" charset="-120"/>
              </a:rPr>
              <a:t>26%</a:t>
            </a:r>
            <a:endParaRPr lang="en-US" sz="4000" dirty="0"/>
          </a:p>
        </p:txBody>
      </p:sp>
      <p:sp>
        <p:nvSpPr>
          <p:cNvPr id="36" name="katta-raqam-izoh"/>
          <p:cNvSpPr txBox="1"/>
          <p:nvPr/>
        </p:nvSpPr>
        <p:spPr>
          <a:xfrm>
            <a:off x="2720340" y="5477256"/>
            <a:ext cx="2560320" cy="274320"/>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butun harakat shu yo‘llarda [11]</a:t>
            </a:r>
            <a:endParaRPr lang="en-US" sz="1200" dirty="0"/>
          </a:p>
        </p:txBody>
      </p:sp>
      <p:sp>
        <p:nvSpPr>
          <p:cNvPr id="37" name="nega-belgi"/>
          <p:cNvSpPr/>
          <p:nvPr/>
        </p:nvSpPr>
        <p:spPr>
          <a:xfrm>
            <a:off x="7872984" y="1581912"/>
            <a:ext cx="274320" cy="274320"/>
          </a:xfrm>
          <a:prstGeom prst="diamond">
            <a:avLst/>
          </a:prstGeom>
          <a:solidFill>
            <a:srgbClr val="F5C400"/>
          </a:solidFill>
          <a:ln w="19050">
            <a:solidFill>
              <a:srgbClr val="141414"/>
            </a:solidFill>
            <a:prstDash val="solid"/>
          </a:ln>
        </p:spPr>
      </p:sp>
      <p:sp>
        <p:nvSpPr>
          <p:cNvPr id="38" name="nega-belgi-matn"/>
          <p:cNvSpPr txBox="1"/>
          <p:nvPr/>
        </p:nvSpPr>
        <p:spPr>
          <a:xfrm>
            <a:off x="7872984" y="1581912"/>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39" name="nega-sarlavha"/>
          <p:cNvSpPr txBox="1"/>
          <p:nvPr/>
        </p:nvSpPr>
        <p:spPr>
          <a:xfrm>
            <a:off x="8238744" y="1572768"/>
            <a:ext cx="3364992"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a:t>
            </a:r>
            <a:endParaRPr lang="en-US" sz="1500" dirty="0"/>
          </a:p>
        </p:txBody>
      </p:sp>
      <p:sp>
        <p:nvSpPr>
          <p:cNvPr id="40" name="nega-matn"/>
          <p:cNvSpPr txBox="1"/>
          <p:nvPr/>
        </p:nvSpPr>
        <p:spPr>
          <a:xfrm>
            <a:off x="7872984" y="1956816"/>
            <a:ext cx="3730752" cy="1463040"/>
          </a:xfrm>
          <a:prstGeom prst="rect">
            <a:avLst/>
          </a:prstGeom>
          <a:noFill/>
          <a:ln/>
        </p:spPr>
        <p:txBody>
          <a:bodyPr wrap="square" lIns="0" tIns="0" rIns="0" bIns="0" rtlCol="0" anchor="t"/>
          <a:lstStyle/>
          <a:p>
            <a:pPr indent="0" marL="0">
              <a:lnSpc>
                <a:spcPct val="105000"/>
              </a:lnSpc>
              <a:buNone/>
            </a:pPr>
            <a:r>
              <a:rPr lang="en-US" sz="1400" dirty="0">
                <a:solidFill>
                  <a:schemeClr val="tx1"/>
                </a:solidFill>
              </a:rPr>
              <a:t>Arzon energiya zavod xarajatini, yaxshi yo‘l yetkazish xarajatini, internet esa savdo xarajatini kamaytiradi. Bu tejamlar har bir tarmoq narxiga kiradi.</a:t>
            </a:r>
            <a:endParaRPr lang="en-US" sz="1400" dirty="0"/>
          </a:p>
        </p:txBody>
      </p:sp>
      <p:sp>
        <p:nvSpPr>
          <p:cNvPr id="41" name="anglatadi-chiziq"/>
          <p:cNvSpPr/>
          <p:nvPr/>
        </p:nvSpPr>
        <p:spPr>
          <a:xfrm>
            <a:off x="7872984" y="3429000"/>
            <a:ext cx="64008" cy="960120"/>
          </a:xfrm>
          <a:prstGeom prst="rect">
            <a:avLst/>
          </a:prstGeom>
          <a:solidFill>
            <a:srgbClr val="141414"/>
          </a:solidFill>
          <a:ln/>
        </p:spPr>
      </p:sp>
      <p:sp>
        <p:nvSpPr>
          <p:cNvPr id="42" name="anglatadi-sarlavha"/>
          <p:cNvSpPr txBox="1"/>
          <p:nvPr/>
        </p:nvSpPr>
        <p:spPr>
          <a:xfrm>
            <a:off x="8074152" y="3447288"/>
            <a:ext cx="3529584"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43" name="anglatadi-matn"/>
          <p:cNvSpPr txBox="1"/>
          <p:nvPr/>
        </p:nvSpPr>
        <p:spPr>
          <a:xfrm>
            <a:off x="8074152" y="3703320"/>
            <a:ext cx="3529584" cy="66751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Infratuzilma o‘zi kam pul ishlaydi, lekin boshqa tarmoqlarga ishlash imkonini beradi.</a:t>
            </a:r>
            <a:endParaRPr lang="en-US" sz="1700" dirty="0"/>
          </a:p>
        </p:txBody>
      </p:sp>
      <p:sp>
        <p:nvSpPr>
          <p:cNvPr id="44" name="speaker-dot"/>
          <p:cNvSpPr/>
          <p:nvPr/>
        </p:nvSpPr>
        <p:spPr>
          <a:xfrm>
            <a:off x="571500" y="6336792"/>
            <a:ext cx="77724" cy="77724"/>
          </a:xfrm>
          <a:prstGeom prst="ellipse">
            <a:avLst/>
          </a:prstGeom>
          <a:solidFill>
            <a:srgbClr val="55524B"/>
          </a:solidFill>
          <a:ln/>
        </p:spPr>
      </p:sp>
      <p:sp>
        <p:nvSpPr>
          <p:cNvPr id="45"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Qahramonov Zafarbek</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childTnLst>
                          </p:cTn>
                        </p:par>
                      </p:childTnLst>
                    </p:cTn>
                  </p:par>
                  <p:par>
                    <p:cTn id="62" fill="hold">
                      <p:stCondLst>
                        <p:cond delay="indefinite"/>
                      </p:stCondLst>
                      <p:childTnLst>
                        <p:par>
                          <p:cTn id="63"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childTnLst>
                          </p:cTn>
                        </p:par>
                      </p:childTnLst>
                    </p:cTn>
                  </p:par>
                  <p:par>
                    <p:cTn id="88" fill="hold">
                      <p:stCondLst>
                        <p:cond delay="indefinite"/>
                      </p:stCondLst>
                      <p:childTnLst>
                        <p:par>
                          <p:cTn id="89"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400"/>
                                        <p:tgtEl>
                                          <p:spTgt spid="2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400"/>
                                        <p:tgtEl>
                                          <p:spTgt spid="3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00"/>
                                        <p:tgtEl>
                                          <p:spTgt spid="3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00"/>
                                        <p:tgtEl>
                                          <p:spTgt spid="3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400"/>
                                        <p:tgtEl>
                                          <p:spTgt spid="3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400"/>
                                        <p:tgtEl>
                                          <p:spTgt spid="36"/>
                                        </p:tgtEl>
                                      </p:cBhvr>
                                    </p:animEffect>
                                  </p:childTnLst>
                                </p:cTn>
                              </p:par>
                            </p:childTnLst>
                          </p:cTn>
                        </p:par>
                      </p:childTnLst>
                    </p:cTn>
                  </p:par>
                  <p:par>
                    <p:cTn id="102" fill="hold">
                      <p:stCondLst>
                        <p:cond delay="indefinite"/>
                      </p:stCondLst>
                      <p:childTnLst>
                        <p:par>
                          <p:cTn id="103"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400"/>
                                        <p:tgtEl>
                                          <p:spTgt spid="3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400"/>
                                        <p:tgtEl>
                                          <p:spTgt spid="3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fade">
                                      <p:cBhvr>
                                        <p:cTn id="98" dur="400"/>
                                        <p:tgtEl>
                                          <p:spTgt spid="3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fade">
                                      <p:cBhvr>
                                        <p:cTn id="101" dur="400"/>
                                        <p:tgtEl>
                                          <p:spTgt spid="40"/>
                                        </p:tgtEl>
                                      </p:cBhvr>
                                    </p:animEffect>
                                  </p:childTnLst>
                                </p:cTn>
                              </p:par>
                            </p:childTnLst>
                          </p:cTn>
                        </p:par>
                      </p:childTnLst>
                    </p:cTn>
                  </p:par>
                  <p:par>
                    <p:cTn id="113" fill="hold">
                      <p:stCondLst>
                        <p:cond delay="indefinite"/>
                      </p:stCondLst>
                      <p:childTnLst>
                        <p:par>
                          <p:cTn id="114"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400"/>
                                        <p:tgtEl>
                                          <p:spTgt spid="4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fade">
                                      <p:cBhvr>
                                        <p:cTn id="109" dur="400"/>
                                        <p:tgtEl>
                                          <p:spTgt spid="4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Graphic spid="16" grpId="0">
        <p:bldAsOne/>
      </p:bldGraphic>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Graphic spid="27" grpId="0">
        <p:bldAsOne/>
      </p:bldGraphic>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rogress"/>
          <p:cNvSpPr/>
          <p:nvPr/>
        </p:nvSpPr>
        <p:spPr>
          <a:xfrm>
            <a:off x="0" y="6743700"/>
            <a:ext cx="8127797"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AQSh tajribasidan O‘zbekiston uchun uchta amaliy taklif</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15</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Xulosa</a:t>
            </a:r>
            <a:endParaRPr lang="en-US" sz="1700" dirty="0"/>
          </a:p>
        </p:txBody>
      </p:sp>
      <p:sp>
        <p:nvSpPr>
          <p:cNvPr id="9" name="sign-lane"/>
          <p:cNvSpPr/>
          <p:nvPr/>
        </p:nvSpPr>
        <p:spPr>
          <a:xfrm>
            <a:off x="9994392" y="1225296"/>
            <a:ext cx="1517904" cy="50292"/>
          </a:xfrm>
          <a:prstGeom prst="rect">
            <a:avLst/>
          </a:prstGeom>
          <a:solidFill>
            <a:srgbClr val="9A9A9A"/>
          </a:solidFill>
          <a:ln/>
        </p:spPr>
      </p:sp>
      <p:sp>
        <p:nvSpPr>
          <p:cNvPr id="10" name="xulosa-chiziq"/>
          <p:cNvSpPr/>
          <p:nvPr/>
        </p:nvSpPr>
        <p:spPr>
          <a:xfrm>
            <a:off x="571500" y="1417320"/>
            <a:ext cx="2606040" cy="54864"/>
          </a:xfrm>
          <a:prstGeom prst="rect">
            <a:avLst/>
          </a:prstGeom>
          <a:solidFill>
            <a:srgbClr val="F59F00"/>
          </a:solidFill>
          <a:ln/>
        </p:spPr>
      </p:sp>
      <p:sp>
        <p:nvSpPr>
          <p:cNvPr id="11" name="xulosa"/>
          <p:cNvSpPr txBox="1"/>
          <p:nvPr/>
        </p:nvSpPr>
        <p:spPr>
          <a:xfrm>
            <a:off x="571500" y="1517904"/>
            <a:ext cx="2606040" cy="685800"/>
          </a:xfrm>
          <a:prstGeom prst="rect">
            <a:avLst/>
          </a:prstGeom>
          <a:noFill/>
          <a:ln/>
        </p:spPr>
        <p:txBody>
          <a:bodyPr wrap="square" lIns="0" tIns="0" rIns="0" bIns="0" rtlCol="0" anchor="t"/>
          <a:lstStyle/>
          <a:p>
            <a:pPr indent="0" marL="0">
              <a:buNone/>
            </a:pPr>
            <a:r>
              <a:rPr lang="en-US" sz="1300" b="1" dirty="0">
                <a:solidFill>
                  <a:srgbClr val="B86E00"/>
                </a:solidFill>
                <a:latin typeface="+mj-lt" pitchFamily="34" charset="0"/>
                <a:ea typeface="+mj-lt" pitchFamily="34" charset="-122"/>
                <a:cs typeface="+mj-lt" pitchFamily="34" charset="-120"/>
              </a:rPr>
              <a:t>Xizmatlar</a:t>
            </a:r>
            <a:endParaRPr lang="en-US" sz="1300" dirty="0"/>
          </a:p>
          <a:p>
            <a:pPr indent="0" marL="0">
              <a:buNone/>
            </a:pPr>
            <a:r>
              <a:rPr lang="en-US" sz="1200" dirty="0">
                <a:solidFill>
                  <a:srgbClr val="141414"/>
                </a:solidFill>
              </a:rPr>
              <a:t>YaIMning 82,4% va bandlikning 84,6% ini beradi.</a:t>
            </a:r>
            <a:endParaRPr lang="en-US" sz="1300" dirty="0"/>
          </a:p>
        </p:txBody>
      </p:sp>
      <p:sp>
        <p:nvSpPr>
          <p:cNvPr id="12" name="xulosa-chiziq"/>
          <p:cNvSpPr/>
          <p:nvPr/>
        </p:nvSpPr>
        <p:spPr>
          <a:xfrm>
            <a:off x="3369564" y="1417320"/>
            <a:ext cx="2606040" cy="54864"/>
          </a:xfrm>
          <a:prstGeom prst="rect">
            <a:avLst/>
          </a:prstGeom>
          <a:solidFill>
            <a:srgbClr val="1C3F94"/>
          </a:solidFill>
          <a:ln/>
        </p:spPr>
      </p:sp>
      <p:sp>
        <p:nvSpPr>
          <p:cNvPr id="13" name="xulosa"/>
          <p:cNvSpPr txBox="1"/>
          <p:nvPr/>
        </p:nvSpPr>
        <p:spPr>
          <a:xfrm>
            <a:off x="3369564" y="1517904"/>
            <a:ext cx="2606040" cy="685800"/>
          </a:xfrm>
          <a:prstGeom prst="rect">
            <a:avLst/>
          </a:prstGeom>
          <a:noFill/>
          <a:ln/>
        </p:spPr>
        <p:txBody>
          <a:bodyPr wrap="square" lIns="0" tIns="0" rIns="0" bIns="0" rtlCol="0" anchor="t"/>
          <a:lstStyle/>
          <a:p>
            <a:pPr indent="0" marL="0">
              <a:buNone/>
            </a:pPr>
            <a:r>
              <a:rPr lang="en-US" sz="1300" b="1" dirty="0">
                <a:solidFill>
                  <a:srgbClr val="1C3F94"/>
                </a:solidFill>
                <a:latin typeface="+mj-lt" pitchFamily="34" charset="0"/>
                <a:ea typeface="+mj-lt" pitchFamily="34" charset="-122"/>
                <a:cs typeface="+mj-lt" pitchFamily="34" charset="-120"/>
              </a:rPr>
              <a:t>Sanoat</a:t>
            </a:r>
            <a:endParaRPr lang="en-US" sz="1300" dirty="0"/>
          </a:p>
          <a:p>
            <a:pPr indent="0" marL="0">
              <a:buNone/>
            </a:pPr>
            <a:r>
              <a:rPr lang="en-US" sz="1200" dirty="0">
                <a:solidFill>
                  <a:srgbClr val="141414"/>
                </a:solidFill>
              </a:rPr>
              <a:t>ikki barobar o‘sdi, lekin 4,6 mln kam odam bilan.</a:t>
            </a:r>
            <a:endParaRPr lang="en-US" sz="1300" dirty="0"/>
          </a:p>
        </p:txBody>
      </p:sp>
      <p:sp>
        <p:nvSpPr>
          <p:cNvPr id="14" name="xulosa-chiziq"/>
          <p:cNvSpPr/>
          <p:nvPr/>
        </p:nvSpPr>
        <p:spPr>
          <a:xfrm>
            <a:off x="6167628" y="1417320"/>
            <a:ext cx="2606040" cy="54864"/>
          </a:xfrm>
          <a:prstGeom prst="rect">
            <a:avLst/>
          </a:prstGeom>
          <a:solidFill>
            <a:srgbClr val="2F9E44"/>
          </a:solidFill>
          <a:ln/>
        </p:spPr>
      </p:sp>
      <p:sp>
        <p:nvSpPr>
          <p:cNvPr id="15" name="xulosa"/>
          <p:cNvSpPr txBox="1"/>
          <p:nvPr/>
        </p:nvSpPr>
        <p:spPr>
          <a:xfrm>
            <a:off x="6167628" y="1517904"/>
            <a:ext cx="2606040" cy="685800"/>
          </a:xfrm>
          <a:prstGeom prst="rect">
            <a:avLst/>
          </a:prstGeom>
          <a:noFill/>
          <a:ln/>
        </p:spPr>
        <p:txBody>
          <a:bodyPr wrap="square" lIns="0" tIns="0" rIns="0" bIns="0" rtlCol="0" anchor="t"/>
          <a:lstStyle/>
          <a:p>
            <a:pPr indent="0" marL="0">
              <a:buNone/>
            </a:pPr>
            <a:r>
              <a:rPr lang="en-US" sz="1300" b="1" dirty="0">
                <a:solidFill>
                  <a:srgbClr val="237A34"/>
                </a:solidFill>
                <a:latin typeface="+mj-lt" pitchFamily="34" charset="0"/>
                <a:ea typeface="+mj-lt" pitchFamily="34" charset="-122"/>
                <a:cs typeface="+mj-lt" pitchFamily="34" charset="-120"/>
              </a:rPr>
              <a:t>Qishloq xo‘jaligi</a:t>
            </a:r>
            <a:endParaRPr lang="en-US" sz="1300" dirty="0"/>
          </a:p>
          <a:p>
            <a:pPr indent="0" marL="0">
              <a:buNone/>
            </a:pPr>
            <a:r>
              <a:rPr lang="en-US" sz="1200" dirty="0">
                <a:solidFill>
                  <a:srgbClr val="141414"/>
                </a:solidFill>
              </a:rPr>
              <a:t>kichik, lekin eng beqaror tarmoq.</a:t>
            </a:r>
            <a:endParaRPr lang="en-US" sz="1300" dirty="0"/>
          </a:p>
        </p:txBody>
      </p:sp>
      <p:sp>
        <p:nvSpPr>
          <p:cNvPr id="16" name="xulosa-chiziq"/>
          <p:cNvSpPr/>
          <p:nvPr/>
        </p:nvSpPr>
        <p:spPr>
          <a:xfrm>
            <a:off x="8965692" y="1417320"/>
            <a:ext cx="2606040" cy="54864"/>
          </a:xfrm>
          <a:prstGeom prst="rect">
            <a:avLst/>
          </a:prstGeom>
          <a:solidFill>
            <a:srgbClr val="9C36B5"/>
          </a:solidFill>
          <a:ln/>
        </p:spPr>
      </p:sp>
      <p:sp>
        <p:nvSpPr>
          <p:cNvPr id="17" name="xulosa"/>
          <p:cNvSpPr txBox="1"/>
          <p:nvPr/>
        </p:nvSpPr>
        <p:spPr>
          <a:xfrm>
            <a:off x="8965692" y="1517904"/>
            <a:ext cx="2606040" cy="685800"/>
          </a:xfrm>
          <a:prstGeom prst="rect">
            <a:avLst/>
          </a:prstGeom>
          <a:noFill/>
          <a:ln/>
        </p:spPr>
        <p:txBody>
          <a:bodyPr wrap="square" lIns="0" tIns="0" rIns="0" bIns="0" rtlCol="0" anchor="t"/>
          <a:lstStyle/>
          <a:p>
            <a:pPr indent="0" marL="0">
              <a:buNone/>
            </a:pPr>
            <a:r>
              <a:rPr lang="en-US" sz="1300" b="1" dirty="0">
                <a:solidFill>
                  <a:srgbClr val="9C36B5"/>
                </a:solidFill>
                <a:latin typeface="+mj-lt" pitchFamily="34" charset="0"/>
                <a:ea typeface="+mj-lt" pitchFamily="34" charset="-122"/>
                <a:cs typeface="+mj-lt" pitchFamily="34" charset="-120"/>
              </a:rPr>
              <a:t>Qurilish</a:t>
            </a:r>
            <a:endParaRPr lang="en-US" sz="1300" dirty="0"/>
          </a:p>
          <a:p>
            <a:pPr indent="0" marL="0">
              <a:buNone/>
            </a:pPr>
            <a:r>
              <a:rPr lang="en-US" sz="1200" dirty="0">
                <a:solidFill>
                  <a:srgbClr val="141414"/>
                </a:solidFill>
              </a:rPr>
              <a:t>pul hisobida o‘sdi, real hajmi 2000-yil darajasidan past.</a:t>
            </a:r>
            <a:endParaRPr lang="en-US" sz="1300" dirty="0"/>
          </a:p>
        </p:txBody>
      </p:sp>
      <p:sp>
        <p:nvSpPr>
          <p:cNvPr id="18" name="taklif-raqam"/>
          <p:cNvSpPr/>
          <p:nvPr/>
        </p:nvSpPr>
        <p:spPr>
          <a:xfrm>
            <a:off x="571500" y="2395728"/>
            <a:ext cx="347472" cy="347472"/>
          </a:xfrm>
          <a:prstGeom prst="ellipse">
            <a:avLst/>
          </a:prstGeom>
          <a:solidFill>
            <a:srgbClr val="00653A"/>
          </a:solidFill>
          <a:ln/>
        </p:spPr>
      </p:sp>
      <p:sp>
        <p:nvSpPr>
          <p:cNvPr id="19" name="taklif-raqam-matn"/>
          <p:cNvSpPr txBox="1"/>
          <p:nvPr/>
        </p:nvSpPr>
        <p:spPr>
          <a:xfrm>
            <a:off x="571500" y="239572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1</a:t>
            </a:r>
            <a:endParaRPr lang="en-US" sz="1400" dirty="0"/>
          </a:p>
        </p:txBody>
      </p:sp>
      <p:sp>
        <p:nvSpPr>
          <p:cNvPr id="20" name="taklif-sarlavha"/>
          <p:cNvSpPr txBox="1"/>
          <p:nvPr/>
        </p:nvSpPr>
        <p:spPr>
          <a:xfrm>
            <a:off x="1028700" y="2340864"/>
            <a:ext cx="3017520" cy="548640"/>
          </a:xfrm>
          <a:prstGeom prst="rect">
            <a:avLst/>
          </a:prstGeom>
          <a:noFill/>
          <a:ln/>
        </p:spPr>
        <p:txBody>
          <a:bodyPr wrap="square" lIns="0" tIns="0" rIns="0" bIns="0" rtlCol="0" anchor="t"/>
          <a:lstStyle/>
          <a:p>
            <a:pPr indent="0" marL="0">
              <a:buNone/>
            </a:pPr>
            <a:r>
              <a:rPr lang="en-US" sz="1500" b="1" dirty="0">
                <a:solidFill>
                  <a:srgbClr val="141414"/>
                </a:solidFill>
                <a:latin typeface="+mj-lt" pitchFamily="34" charset="0"/>
                <a:ea typeface="+mj-lt" pitchFamily="34" charset="-122"/>
                <a:cs typeface="+mj-lt" pitchFamily="34" charset="-120"/>
              </a:rPr>
              <a:t>Sug‘orish kanallarini modernizatsiya qilish</a:t>
            </a:r>
            <a:endParaRPr lang="en-US" sz="1500" dirty="0"/>
          </a:p>
        </p:txBody>
      </p:sp>
      <p:sp>
        <p:nvSpPr>
          <p:cNvPr id="21" name="taklif"/>
          <p:cNvSpPr txBox="1"/>
          <p:nvPr/>
        </p:nvSpPr>
        <p:spPr>
          <a:xfrm>
            <a:off x="571500" y="2944368"/>
            <a:ext cx="3474720" cy="2240280"/>
          </a:xfrm>
          <a:prstGeom prst="rect">
            <a:avLst/>
          </a:prstGeom>
          <a:noFill/>
          <a:ln/>
        </p:spPr>
        <p:txBody>
          <a:bodyPr wrap="square" lIns="0" tIns="0" rIns="0" bIns="0" rtlCol="0" anchor="t"/>
          <a:lstStyle/>
          <a:p>
            <a:pPr indent="0" marL="0">
              <a:buNone/>
            </a:pPr>
            <a:r>
              <a:rPr lang="en-US" sz="1100" b="1" dirty="0">
                <a:solidFill>
                  <a:srgbClr val="55524B"/>
                </a:solidFill>
                <a:latin typeface="+mj-lt" pitchFamily="34" charset="0"/>
                <a:ea typeface="+mj-lt" pitchFamily="34" charset="-122"/>
                <a:cs typeface="+mj-lt" pitchFamily="34" charset="-120"/>
              </a:rPr>
              <a:t>Muammo</a:t>
            </a:r>
            <a:endParaRPr lang="en-US" sz="1100" dirty="0"/>
          </a:p>
          <a:p>
            <a:pPr indent="0" marL="0">
              <a:buNone/>
            </a:pPr>
            <a:r>
              <a:rPr lang="en-US" sz="2800" b="1" dirty="0">
                <a:solidFill>
                  <a:srgbClr val="C92A2A"/>
                </a:solidFill>
                <a:latin typeface="+mj-lt" pitchFamily="34" charset="0"/>
                <a:ea typeface="+mj-lt" pitchFamily="34" charset="-122"/>
                <a:cs typeface="+mj-lt" pitchFamily="34" charset="-120"/>
              </a:rPr>
              <a:t>36%</a:t>
            </a:r>
            <a:endParaRPr lang="en-US" sz="1100" dirty="0"/>
          </a:p>
          <a:p>
            <a:pPr indent="0" marL="0">
              <a:spcAft>
                <a:spcPts val="600"/>
              </a:spcAft>
              <a:buNone/>
            </a:pPr>
            <a:r>
              <a:rPr lang="en-US" sz="1200" dirty="0">
                <a:solidFill>
                  <a:srgbClr val="141414"/>
                </a:solidFill>
              </a:rPr>
              <a:t>suv tuproq kanallarda yo‘qoladi — yiliga 14 mlrd m³ [12]</a:t>
            </a:r>
            <a:endParaRPr lang="en-US" sz="1100" dirty="0"/>
          </a:p>
          <a:p>
            <a:pPr indent="0" marL="0">
              <a:buNone/>
            </a:pPr>
            <a:r>
              <a:rPr lang="en-US" sz="1100" b="1" dirty="0">
                <a:solidFill>
                  <a:srgbClr val="55524B"/>
                </a:solidFill>
                <a:latin typeface="+mj-lt" pitchFamily="34" charset="0"/>
                <a:ea typeface="+mj-lt" pitchFamily="34" charset="-122"/>
                <a:cs typeface="+mj-lt" pitchFamily="34" charset="-120"/>
              </a:rPr>
              <a:t>AQSh tajribasi</a:t>
            </a:r>
            <a:endParaRPr lang="en-US" sz="1100" dirty="0"/>
          </a:p>
          <a:p>
            <a:pPr indent="0" marL="0">
              <a:spcAft>
                <a:spcPts val="600"/>
              </a:spcAft>
              <a:buNone/>
            </a:pPr>
            <a:r>
              <a:rPr lang="en-US" sz="1200" dirty="0">
                <a:solidFill>
                  <a:srgbClr val="141414"/>
                </a:solidFill>
              </a:rPr>
              <a:t>sug‘oriladigan &lt;17% yer ekin qiymatining &gt;50% ini beradi [9]</a:t>
            </a:r>
            <a:endParaRPr lang="en-US" sz="1100" dirty="0"/>
          </a:p>
          <a:p>
            <a:pPr indent="0" marL="0">
              <a:buNone/>
            </a:pPr>
            <a:r>
              <a:rPr lang="en-US" sz="1100" b="1" dirty="0">
                <a:solidFill>
                  <a:srgbClr val="55524B"/>
                </a:solidFill>
                <a:latin typeface="+mj-lt" pitchFamily="34" charset="0"/>
                <a:ea typeface="+mj-lt" pitchFamily="34" charset="-122"/>
                <a:cs typeface="+mj-lt" pitchFamily="34" charset="-120"/>
              </a:rPr>
              <a:t>Foyda</a:t>
            </a:r>
            <a:endParaRPr lang="en-US" sz="1100" dirty="0"/>
          </a:p>
          <a:p>
            <a:pPr indent="0" marL="0">
              <a:buNone/>
            </a:pPr>
            <a:r>
              <a:rPr lang="en-US" sz="1200" dirty="0">
                <a:solidFill>
                  <a:srgbClr val="141414"/>
                </a:solidFill>
              </a:rPr>
              <a:t>hosil oshadi, nasoslar kamroq elektr sarflaydi</a:t>
            </a:r>
            <a:endParaRPr lang="en-US" sz="1100" dirty="0"/>
          </a:p>
        </p:txBody>
      </p:sp>
      <p:sp>
        <p:nvSpPr>
          <p:cNvPr id="22" name="taklif-raqam"/>
          <p:cNvSpPr/>
          <p:nvPr/>
        </p:nvSpPr>
        <p:spPr>
          <a:xfrm>
            <a:off x="4320540" y="2395728"/>
            <a:ext cx="347472" cy="347472"/>
          </a:xfrm>
          <a:prstGeom prst="ellipse">
            <a:avLst/>
          </a:prstGeom>
          <a:solidFill>
            <a:srgbClr val="00653A"/>
          </a:solidFill>
          <a:ln/>
        </p:spPr>
      </p:sp>
      <p:sp>
        <p:nvSpPr>
          <p:cNvPr id="23" name="taklif-raqam-matn"/>
          <p:cNvSpPr txBox="1"/>
          <p:nvPr/>
        </p:nvSpPr>
        <p:spPr>
          <a:xfrm>
            <a:off x="4320540" y="239572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2</a:t>
            </a:r>
            <a:endParaRPr lang="en-US" sz="1400" dirty="0"/>
          </a:p>
        </p:txBody>
      </p:sp>
      <p:sp>
        <p:nvSpPr>
          <p:cNvPr id="24" name="taklif-sarlavha"/>
          <p:cNvSpPr txBox="1"/>
          <p:nvPr/>
        </p:nvSpPr>
        <p:spPr>
          <a:xfrm>
            <a:off x="4777740" y="2340864"/>
            <a:ext cx="3017520" cy="548640"/>
          </a:xfrm>
          <a:prstGeom prst="rect">
            <a:avLst/>
          </a:prstGeom>
          <a:noFill/>
          <a:ln/>
        </p:spPr>
        <p:txBody>
          <a:bodyPr wrap="square" lIns="0" tIns="0" rIns="0" bIns="0" rtlCol="0" anchor="t"/>
          <a:lstStyle/>
          <a:p>
            <a:pPr indent="0" marL="0">
              <a:buNone/>
            </a:pPr>
            <a:r>
              <a:rPr lang="en-US" sz="1500" b="1" dirty="0">
                <a:solidFill>
                  <a:srgbClr val="141414"/>
                </a:solidFill>
                <a:latin typeface="+mj-lt" pitchFamily="34" charset="0"/>
                <a:ea typeface="+mj-lt" pitchFamily="34" charset="-122"/>
                <a:cs typeface="+mj-lt" pitchFamily="34" charset="-120"/>
              </a:rPr>
              <a:t>Elektr tarmog‘ini yangilash</a:t>
            </a:r>
            <a:endParaRPr lang="en-US" sz="1500" dirty="0"/>
          </a:p>
        </p:txBody>
      </p:sp>
      <p:sp>
        <p:nvSpPr>
          <p:cNvPr id="25" name="taklif"/>
          <p:cNvSpPr txBox="1"/>
          <p:nvPr/>
        </p:nvSpPr>
        <p:spPr>
          <a:xfrm>
            <a:off x="4320540" y="2944368"/>
            <a:ext cx="3474720" cy="2240280"/>
          </a:xfrm>
          <a:prstGeom prst="rect">
            <a:avLst/>
          </a:prstGeom>
          <a:noFill/>
          <a:ln/>
        </p:spPr>
        <p:txBody>
          <a:bodyPr wrap="square" lIns="0" tIns="0" rIns="0" bIns="0" rtlCol="0" anchor="t"/>
          <a:lstStyle/>
          <a:p>
            <a:pPr indent="0" marL="0">
              <a:buNone/>
            </a:pPr>
            <a:r>
              <a:rPr lang="en-US" sz="1100" b="1" dirty="0">
                <a:solidFill>
                  <a:srgbClr val="55524B"/>
                </a:solidFill>
                <a:latin typeface="+mj-lt" pitchFamily="34" charset="0"/>
                <a:ea typeface="+mj-lt" pitchFamily="34" charset="-122"/>
                <a:cs typeface="+mj-lt" pitchFamily="34" charset="-120"/>
              </a:rPr>
              <a:t>Muammo</a:t>
            </a:r>
            <a:endParaRPr lang="en-US" sz="1100" dirty="0"/>
          </a:p>
          <a:p>
            <a:pPr indent="0" marL="0">
              <a:buNone/>
            </a:pPr>
            <a:r>
              <a:rPr lang="en-US" sz="2800" b="1" dirty="0">
                <a:solidFill>
                  <a:srgbClr val="C92A2A"/>
                </a:solidFill>
                <a:latin typeface="+mj-lt" pitchFamily="34" charset="0"/>
                <a:ea typeface="+mj-lt" pitchFamily="34" charset="-122"/>
                <a:cs typeface="+mj-lt" pitchFamily="34" charset="-120"/>
              </a:rPr>
              <a:t>~13%</a:t>
            </a:r>
            <a:endParaRPr lang="en-US" sz="1100" dirty="0"/>
          </a:p>
          <a:p>
            <a:pPr indent="0" marL="0">
              <a:spcAft>
                <a:spcPts val="600"/>
              </a:spcAft>
              <a:buNone/>
            </a:pPr>
            <a:r>
              <a:rPr lang="en-US" sz="1200" dirty="0">
                <a:solidFill>
                  <a:srgbClr val="141414"/>
                </a:solidFill>
              </a:rPr>
              <a:t>taqsimotda yo‘qoladi; tarmoqning yarmidan ko‘pi 30 yoshdan katta, talab 2030-yilgacha 2 barobar oshadi [12]</a:t>
            </a:r>
            <a:endParaRPr lang="en-US" sz="1100" dirty="0"/>
          </a:p>
          <a:p>
            <a:pPr indent="0" marL="0">
              <a:buNone/>
            </a:pPr>
            <a:r>
              <a:rPr lang="en-US" sz="1100" b="1" dirty="0">
                <a:solidFill>
                  <a:srgbClr val="55524B"/>
                </a:solidFill>
                <a:latin typeface="+mj-lt" pitchFamily="34" charset="0"/>
                <a:ea typeface="+mj-lt" pitchFamily="34" charset="-122"/>
                <a:cs typeface="+mj-lt" pitchFamily="34" charset="-120"/>
              </a:rPr>
              <a:t>AQSh tajribasi</a:t>
            </a:r>
            <a:endParaRPr lang="en-US" sz="1100" dirty="0"/>
          </a:p>
          <a:p>
            <a:pPr indent="0" marL="0">
              <a:spcAft>
                <a:spcPts val="600"/>
              </a:spcAft>
              <a:buNone/>
            </a:pPr>
            <a:r>
              <a:rPr lang="en-US" sz="1200" dirty="0">
                <a:solidFill>
                  <a:srgbClr val="141414"/>
                </a:solidFill>
              </a:rPr>
              <a:t>arzon va barqaror energiya sanoatni jalb qildi [8]</a:t>
            </a:r>
            <a:endParaRPr lang="en-US" sz="1100" dirty="0"/>
          </a:p>
          <a:p>
            <a:pPr indent="0" marL="0">
              <a:buNone/>
            </a:pPr>
            <a:r>
              <a:rPr lang="en-US" sz="1100" b="1" dirty="0">
                <a:solidFill>
                  <a:srgbClr val="55524B"/>
                </a:solidFill>
                <a:latin typeface="+mj-lt" pitchFamily="34" charset="0"/>
                <a:ea typeface="+mj-lt" pitchFamily="34" charset="-122"/>
                <a:cs typeface="+mj-lt" pitchFamily="34" charset="-120"/>
              </a:rPr>
              <a:t>Foyda</a:t>
            </a:r>
            <a:endParaRPr lang="en-US" sz="1100" dirty="0"/>
          </a:p>
          <a:p>
            <a:pPr indent="0" marL="0">
              <a:buNone/>
            </a:pPr>
            <a:r>
              <a:rPr lang="en-US" sz="1200" dirty="0">
                <a:solidFill>
                  <a:srgbClr val="141414"/>
                </a:solidFill>
              </a:rPr>
              <a:t>uzilishlar kamayadi, investorlar uchun ishonchli baza</a:t>
            </a:r>
            <a:endParaRPr lang="en-US" sz="1100" dirty="0"/>
          </a:p>
        </p:txBody>
      </p:sp>
      <p:sp>
        <p:nvSpPr>
          <p:cNvPr id="26" name="taklif-raqam"/>
          <p:cNvSpPr/>
          <p:nvPr/>
        </p:nvSpPr>
        <p:spPr>
          <a:xfrm>
            <a:off x="8069580" y="2395728"/>
            <a:ext cx="347472" cy="347472"/>
          </a:xfrm>
          <a:prstGeom prst="ellipse">
            <a:avLst/>
          </a:prstGeom>
          <a:solidFill>
            <a:srgbClr val="00653A"/>
          </a:solidFill>
          <a:ln/>
        </p:spPr>
      </p:sp>
      <p:sp>
        <p:nvSpPr>
          <p:cNvPr id="27" name="taklif-raqam-matn"/>
          <p:cNvSpPr txBox="1"/>
          <p:nvPr/>
        </p:nvSpPr>
        <p:spPr>
          <a:xfrm>
            <a:off x="8069580" y="239572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mj-lt" pitchFamily="34" charset="0"/>
                <a:ea typeface="+mj-lt" pitchFamily="34" charset="-122"/>
                <a:cs typeface="+mj-lt" pitchFamily="34" charset="-120"/>
              </a:rPr>
              <a:t>3</a:t>
            </a:r>
            <a:endParaRPr lang="en-US" sz="1400" dirty="0"/>
          </a:p>
        </p:txBody>
      </p:sp>
      <p:sp>
        <p:nvSpPr>
          <p:cNvPr id="28" name="taklif-sarlavha"/>
          <p:cNvSpPr txBox="1"/>
          <p:nvPr/>
        </p:nvSpPr>
        <p:spPr>
          <a:xfrm>
            <a:off x="8526780" y="2340864"/>
            <a:ext cx="3017520" cy="548640"/>
          </a:xfrm>
          <a:prstGeom prst="rect">
            <a:avLst/>
          </a:prstGeom>
          <a:noFill/>
          <a:ln/>
        </p:spPr>
        <p:txBody>
          <a:bodyPr wrap="square" lIns="0" tIns="0" rIns="0" bIns="0" rtlCol="0" anchor="t"/>
          <a:lstStyle/>
          <a:p>
            <a:pPr indent="0" marL="0">
              <a:buNone/>
            </a:pPr>
            <a:r>
              <a:rPr lang="en-US" sz="1500" b="1" dirty="0">
                <a:solidFill>
                  <a:srgbClr val="141414"/>
                </a:solidFill>
                <a:latin typeface="+mj-lt" pitchFamily="34" charset="0"/>
                <a:ea typeface="+mj-lt" pitchFamily="34" charset="-122"/>
                <a:cs typeface="+mj-lt" pitchFamily="34" charset="-120"/>
              </a:rPr>
              <a:t>Logistika koridorlari va omborlar</a:t>
            </a:r>
            <a:endParaRPr lang="en-US" sz="1500" dirty="0"/>
          </a:p>
        </p:txBody>
      </p:sp>
      <p:sp>
        <p:nvSpPr>
          <p:cNvPr id="29" name="taklif"/>
          <p:cNvSpPr txBox="1"/>
          <p:nvPr/>
        </p:nvSpPr>
        <p:spPr>
          <a:xfrm>
            <a:off x="8069580" y="2944368"/>
            <a:ext cx="3474720" cy="2240280"/>
          </a:xfrm>
          <a:prstGeom prst="rect">
            <a:avLst/>
          </a:prstGeom>
          <a:noFill/>
          <a:ln/>
        </p:spPr>
        <p:txBody>
          <a:bodyPr wrap="square" lIns="0" tIns="0" rIns="0" bIns="0" rtlCol="0" anchor="t"/>
          <a:lstStyle/>
          <a:p>
            <a:pPr indent="0" marL="0">
              <a:buNone/>
            </a:pPr>
            <a:r>
              <a:rPr lang="en-US" sz="1100" b="1" dirty="0">
                <a:solidFill>
                  <a:srgbClr val="55524B"/>
                </a:solidFill>
                <a:latin typeface="+mj-lt" pitchFamily="34" charset="0"/>
                <a:ea typeface="+mj-lt" pitchFamily="34" charset="-122"/>
                <a:cs typeface="+mj-lt" pitchFamily="34" charset="-120"/>
              </a:rPr>
              <a:t>Muammo</a:t>
            </a:r>
            <a:endParaRPr lang="en-US" sz="1100" dirty="0"/>
          </a:p>
          <a:p>
            <a:pPr indent="0" marL="0">
              <a:buNone/>
            </a:pPr>
            <a:r>
              <a:rPr lang="en-US" sz="2800" b="1" dirty="0">
                <a:solidFill>
                  <a:srgbClr val="C92A2A"/>
                </a:solidFill>
                <a:latin typeface="+mj-lt" pitchFamily="34" charset="0"/>
                <a:ea typeface="+mj-lt" pitchFamily="34" charset="-122"/>
                <a:cs typeface="+mj-lt" pitchFamily="34" charset="-120"/>
              </a:rPr>
              <a:t>88-o‘rin</a:t>
            </a:r>
            <a:endParaRPr lang="en-US" sz="1100" dirty="0"/>
          </a:p>
          <a:p>
            <a:pPr indent="0" marL="0">
              <a:spcAft>
                <a:spcPts val="600"/>
              </a:spcAft>
              <a:buNone/>
            </a:pPr>
            <a:r>
              <a:rPr lang="en-US" sz="1200" dirty="0">
                <a:solidFill>
                  <a:srgbClr val="141414"/>
                </a:solidFill>
              </a:rPr>
              <a:t>logistika indeksida, 2023 [12]</a:t>
            </a:r>
            <a:endParaRPr lang="en-US" sz="1100" dirty="0"/>
          </a:p>
          <a:p>
            <a:pPr indent="0" marL="0">
              <a:buNone/>
            </a:pPr>
            <a:r>
              <a:rPr lang="en-US" sz="1100" b="1" dirty="0">
                <a:solidFill>
                  <a:srgbClr val="55524B"/>
                </a:solidFill>
                <a:latin typeface="+mj-lt" pitchFamily="34" charset="0"/>
                <a:ea typeface="+mj-lt" pitchFamily="34" charset="-122"/>
                <a:cs typeface="+mj-lt" pitchFamily="34" charset="-120"/>
              </a:rPr>
              <a:t>AQSh tajribasi</a:t>
            </a:r>
            <a:endParaRPr lang="en-US" sz="1100" dirty="0"/>
          </a:p>
          <a:p>
            <a:pPr indent="0" marL="0">
              <a:spcAft>
                <a:spcPts val="600"/>
              </a:spcAft>
              <a:buNone/>
            </a:pPr>
            <a:r>
              <a:rPr lang="en-US" sz="1200" dirty="0">
                <a:solidFill>
                  <a:srgbClr val="141414"/>
                </a:solidFill>
              </a:rPr>
              <a:t>yo‘llarning 1% i harakatning 26% ini tashiydi [11]</a:t>
            </a:r>
            <a:endParaRPr lang="en-US" sz="1100" dirty="0"/>
          </a:p>
          <a:p>
            <a:pPr indent="0" marL="0">
              <a:buNone/>
            </a:pPr>
            <a:r>
              <a:rPr lang="en-US" sz="1100" b="1" dirty="0">
                <a:solidFill>
                  <a:srgbClr val="55524B"/>
                </a:solidFill>
                <a:latin typeface="+mj-lt" pitchFamily="34" charset="0"/>
                <a:ea typeface="+mj-lt" pitchFamily="34" charset="-122"/>
                <a:cs typeface="+mj-lt" pitchFamily="34" charset="-120"/>
              </a:rPr>
              <a:t>Foyda va shart</a:t>
            </a:r>
            <a:endParaRPr lang="en-US" sz="1100" dirty="0"/>
          </a:p>
          <a:p>
            <a:pPr indent="0" marL="0">
              <a:buNone/>
            </a:pPr>
            <a:r>
              <a:rPr lang="en-US" sz="1200" dirty="0">
                <a:solidFill>
                  <a:srgbClr val="141414"/>
                </a:solidFill>
              </a:rPr>
              <a:t>eksport arzonlashadi, hosil isrofi kamayadi. DXSh portfeli YaIMning ~27% — majburiyatlarga limit [12]</a:t>
            </a:r>
            <a:endParaRPr lang="en-US" sz="1100" dirty="0"/>
          </a:p>
        </p:txBody>
      </p:sp>
      <p:sp>
        <p:nvSpPr>
          <p:cNvPr id="30" name="nega-belgi"/>
          <p:cNvSpPr/>
          <p:nvPr/>
        </p:nvSpPr>
        <p:spPr>
          <a:xfrm>
            <a:off x="571500" y="5358384"/>
            <a:ext cx="274320" cy="274320"/>
          </a:xfrm>
          <a:prstGeom prst="diamond">
            <a:avLst/>
          </a:prstGeom>
          <a:solidFill>
            <a:srgbClr val="F5C400"/>
          </a:solidFill>
          <a:ln w="19050">
            <a:solidFill>
              <a:srgbClr val="141414"/>
            </a:solidFill>
            <a:prstDash val="solid"/>
          </a:ln>
        </p:spPr>
      </p:sp>
      <p:sp>
        <p:nvSpPr>
          <p:cNvPr id="31" name="nega-belgi-matn"/>
          <p:cNvSpPr txBox="1"/>
          <p:nvPr/>
        </p:nvSpPr>
        <p:spPr>
          <a:xfrm>
            <a:off x="571500" y="5358384"/>
            <a:ext cx="274320" cy="274320"/>
          </a:xfrm>
          <a:prstGeom prst="rect">
            <a:avLst/>
          </a:prstGeom>
          <a:noFill/>
          <a:ln/>
        </p:spPr>
        <p:txBody>
          <a:bodyPr wrap="square" lIns="0" tIns="0" rIns="0" bIns="0" rtlCol="0" anchor="ctr"/>
          <a:lstStyle/>
          <a:p>
            <a:pPr algn="ctr" indent="0" marL="0">
              <a:buNone/>
            </a:pPr>
            <a:r>
              <a:rPr lang="en-US" sz="1100" b="1" dirty="0">
                <a:solidFill>
                  <a:srgbClr val="141414"/>
                </a:solidFill>
                <a:latin typeface="+mj-lt" pitchFamily="34" charset="0"/>
                <a:ea typeface="+mj-lt" pitchFamily="34" charset="-122"/>
                <a:cs typeface="+mj-lt" pitchFamily="34" charset="-120"/>
              </a:rPr>
              <a:t>?</a:t>
            </a:r>
            <a:endParaRPr lang="en-US" sz="1100" dirty="0"/>
          </a:p>
        </p:txBody>
      </p:sp>
      <p:sp>
        <p:nvSpPr>
          <p:cNvPr id="32" name="nega-sarlavha"/>
          <p:cNvSpPr txBox="1"/>
          <p:nvPr/>
        </p:nvSpPr>
        <p:spPr>
          <a:xfrm>
            <a:off x="937260" y="5349240"/>
            <a:ext cx="5212080" cy="29260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Nega aynan shu uchtasi?</a:t>
            </a:r>
            <a:endParaRPr lang="en-US" sz="1500" dirty="0"/>
          </a:p>
        </p:txBody>
      </p:sp>
      <p:sp>
        <p:nvSpPr>
          <p:cNvPr id="33" name="nega-matn"/>
          <p:cNvSpPr txBox="1"/>
          <p:nvPr/>
        </p:nvSpPr>
        <p:spPr>
          <a:xfrm>
            <a:off x="571500" y="5733288"/>
            <a:ext cx="5577840" cy="777240"/>
          </a:xfrm>
          <a:prstGeom prst="rect">
            <a:avLst/>
          </a:prstGeom>
          <a:noFill/>
          <a:ln/>
        </p:spPr>
        <p:txBody>
          <a:bodyPr wrap="square" lIns="0" tIns="0" rIns="0" bIns="0" rtlCol="0" anchor="t"/>
          <a:lstStyle/>
          <a:p>
            <a:pPr indent="0" marL="0">
              <a:lnSpc>
                <a:spcPct val="105000"/>
              </a:lnSpc>
              <a:buNone/>
            </a:pPr>
            <a:r>
              <a:rPr lang="en-US" sz="1300" dirty="0">
                <a:solidFill>
                  <a:schemeClr val="tx1"/>
                </a:solidFill>
              </a:rPr>
              <a:t>Uchala taklif ham AQShda o‘sishni qo‘llab-quvvatlagan infratuzilmaga — suv, energiya va yo‘lga tayanadi.</a:t>
            </a:r>
            <a:endParaRPr lang="en-US" sz="1300" dirty="0"/>
          </a:p>
        </p:txBody>
      </p:sp>
      <p:sp>
        <p:nvSpPr>
          <p:cNvPr id="34" name="anglatadi-chiziq"/>
          <p:cNvSpPr/>
          <p:nvPr/>
        </p:nvSpPr>
        <p:spPr>
          <a:xfrm>
            <a:off x="6675120" y="5349240"/>
            <a:ext cx="64008" cy="777240"/>
          </a:xfrm>
          <a:prstGeom prst="rect">
            <a:avLst/>
          </a:prstGeom>
          <a:solidFill>
            <a:srgbClr val="141414"/>
          </a:solidFill>
          <a:ln/>
        </p:spPr>
      </p:sp>
      <p:sp>
        <p:nvSpPr>
          <p:cNvPr id="35" name="anglatadi-sarlavha"/>
          <p:cNvSpPr txBox="1"/>
          <p:nvPr/>
        </p:nvSpPr>
        <p:spPr>
          <a:xfrm>
            <a:off x="6876288" y="5367528"/>
            <a:ext cx="4736592" cy="219456"/>
          </a:xfrm>
          <a:prstGeom prst="rect">
            <a:avLst/>
          </a:prstGeom>
          <a:noFill/>
          <a:ln/>
        </p:spPr>
        <p:txBody>
          <a:bodyPr wrap="square" lIns="0" tIns="0" rIns="0" bIns="0" rtlCol="0" anchor="ctr"/>
          <a:lstStyle/>
          <a:p>
            <a:pPr indent="0" marL="0">
              <a:buNone/>
            </a:pPr>
            <a:r>
              <a:rPr lang="en-US" sz="1200" b="1" dirty="0">
                <a:solidFill>
                  <a:schemeClr val="tx2"/>
                </a:solidFill>
                <a:latin typeface="+mj-lt" pitchFamily="34" charset="0"/>
                <a:ea typeface="+mj-lt" pitchFamily="34" charset="-122"/>
                <a:cs typeface="+mj-lt" pitchFamily="34" charset="-120"/>
              </a:rPr>
              <a:t>Bu nimani anglatadi?</a:t>
            </a:r>
            <a:endParaRPr lang="en-US" sz="1200" dirty="0"/>
          </a:p>
        </p:txBody>
      </p:sp>
      <p:sp>
        <p:nvSpPr>
          <p:cNvPr id="36" name="anglatadi-matn"/>
          <p:cNvSpPr txBox="1"/>
          <p:nvPr/>
        </p:nvSpPr>
        <p:spPr>
          <a:xfrm>
            <a:off x="6876288" y="5623560"/>
            <a:ext cx="4736592" cy="48463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Infratuzilmaga sarmoya — barcha tarmoqlarga birdaniga sarmoya.</a:t>
            </a:r>
            <a:endParaRPr lang="en-US" sz="1700" dirty="0"/>
          </a:p>
        </p:txBody>
      </p:sp>
      <p:sp>
        <p:nvSpPr>
          <p:cNvPr id="37" name="speaker-dot"/>
          <p:cNvSpPr/>
          <p:nvPr/>
        </p:nvSpPr>
        <p:spPr>
          <a:xfrm>
            <a:off x="571500" y="6336792"/>
            <a:ext cx="77724" cy="77724"/>
          </a:xfrm>
          <a:prstGeom prst="ellipse">
            <a:avLst/>
          </a:prstGeom>
          <a:solidFill>
            <a:srgbClr val="55524B"/>
          </a:solidFill>
          <a:ln/>
        </p:spPr>
      </p:sp>
      <p:sp>
        <p:nvSpPr>
          <p:cNvPr id="38" name="speaker"/>
          <p:cNvSpPr txBox="1"/>
          <p:nvPr/>
        </p:nvSpPr>
        <p:spPr>
          <a:xfrm>
            <a:off x="708660" y="6254496"/>
            <a:ext cx="4572000" cy="246888"/>
          </a:xfrm>
          <a:prstGeom prst="rect">
            <a:avLst/>
          </a:prstGeom>
          <a:noFill/>
          <a:ln/>
        </p:spPr>
        <p:txBody>
          <a:bodyPr wrap="square" lIns="0" tIns="0" rIns="0" bIns="0" rtlCol="0" anchor="ctr"/>
          <a:lstStyle/>
          <a:p>
            <a:pPr indent="0" marL="0">
              <a:buNone/>
            </a:pPr>
            <a:r>
              <a:rPr lang="en-US" sz="1200" dirty="0">
                <a:solidFill>
                  <a:schemeClr val="tx2"/>
                </a:solidFill>
                <a:latin typeface="+mj-lt" pitchFamily="34" charset="0"/>
                <a:ea typeface="+mj-lt" pitchFamily="34" charset="-122"/>
                <a:cs typeface="+mj-lt" pitchFamily="34" charset="-120"/>
              </a:rPr>
              <a:t>Qo‘ziboyev Aslbek</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childTnLst>
                          </p:cTn>
                        </p:par>
                      </p:childTnLst>
                    </p:cTn>
                  </p:par>
                  <p:par>
                    <p:cTn id="55" fill="hold">
                      <p:stCondLst>
                        <p:cond delay="indefinite"/>
                      </p:stCondLst>
                      <p:childTnLst>
                        <p:par>
                          <p:cTn id="56"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4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00"/>
                                        <p:tgtEl>
                                          <p:spTgt spid="25"/>
                                        </p:tgtEl>
                                      </p:cBhvr>
                                    </p:animEffect>
                                  </p:childTnLst>
                                </p:cTn>
                              </p:par>
                            </p:childTnLst>
                          </p:cTn>
                        </p:par>
                      </p:childTnLst>
                    </p:cTn>
                  </p:par>
                  <p:par>
                    <p:cTn id="69" fill="hold">
                      <p:stCondLst>
                        <p:cond delay="indefinite"/>
                      </p:stCondLst>
                      <p:childTnLst>
                        <p:par>
                          <p:cTn id="70"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childTnLst>
                          </p:cTn>
                        </p:par>
                      </p:childTnLst>
                    </p:cTn>
                  </p:par>
                  <p:par>
                    <p:cTn id="83" fill="hold">
                      <p:stCondLst>
                        <p:cond delay="indefinite"/>
                      </p:stCondLst>
                      <p:childTnLst>
                        <p:par>
                          <p:cTn id="84"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childTnLst>
                          </p:cTn>
                        </p:par>
                      </p:childTnLst>
                    </p:cTn>
                  </p:par>
                  <p:par>
                    <p:cTn id="94" fill="hold">
                      <p:stCondLst>
                        <p:cond delay="indefinite"/>
                      </p:stCondLst>
                      <p:childTnLst>
                        <p:par>
                          <p:cTn id="95"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400"/>
                                        <p:tgtEl>
                                          <p:spTgt spid="3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400"/>
                                        <p:tgtEl>
                                          <p:spTgt spid="3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progress"/>
          <p:cNvSpPr/>
          <p:nvPr/>
        </p:nvSpPr>
        <p:spPr>
          <a:xfrm>
            <a:off x="0" y="6743700"/>
            <a:ext cx="8708354"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Manbalar</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16</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Manbalar</a:t>
            </a:r>
            <a:endParaRPr lang="en-US" sz="1700" dirty="0"/>
          </a:p>
        </p:txBody>
      </p:sp>
      <p:sp>
        <p:nvSpPr>
          <p:cNvPr id="9" name="sign-lane"/>
          <p:cNvSpPr/>
          <p:nvPr/>
        </p:nvSpPr>
        <p:spPr>
          <a:xfrm>
            <a:off x="9994392" y="1225296"/>
            <a:ext cx="1517904" cy="50292"/>
          </a:xfrm>
          <a:prstGeom prst="rect">
            <a:avLst/>
          </a:prstGeom>
          <a:solidFill>
            <a:srgbClr val="9A9A9A"/>
          </a:solidFill>
          <a:ln/>
        </p:spPr>
      </p:sp>
      <p:sp>
        <p:nvSpPr>
          <p:cNvPr id="10" name="manbalar-1"/>
          <p:cNvSpPr txBox="1"/>
          <p:nvPr/>
        </p:nvSpPr>
        <p:spPr>
          <a:xfrm>
            <a:off x="571500" y="1463040"/>
            <a:ext cx="5349240" cy="4846320"/>
          </a:xfrm>
          <a:prstGeom prst="rect">
            <a:avLst/>
          </a:prstGeom>
          <a:noFill/>
          <a:ln/>
        </p:spPr>
        <p:txBody>
          <a:bodyPr wrap="square" lIns="0" tIns="0" rIns="0" bIns="0" rtlCol="0" anchor="t"/>
          <a:lstStyle/>
          <a:p>
            <a:pPr indent="0" marL="0">
              <a:spcAft>
                <a:spcPts val="100"/>
              </a:spcAft>
              <a:buNone/>
            </a:pPr>
            <a:r>
              <a:rPr lang="en-US" sz="1100" b="1" dirty="0">
                <a:solidFill>
                  <a:srgbClr val="141414"/>
                </a:solidFill>
                <a:latin typeface="+mj-lt" pitchFamily="34" charset="0"/>
                <a:ea typeface="+mj-lt" pitchFamily="34" charset="-122"/>
                <a:cs typeface="+mj-lt" pitchFamily="34" charset="-120"/>
              </a:rPr>
              <a:t>1. BEA, GDP by Industry: Value Added by Industry, TVA105-A, TVA106-A (nashr 30.09.2026)</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1" invalidUrl="" action="" tgtFrame="" tooltip="" history="1" highlightClick="0" endSnd="0">
                  <a:extLst>
                    <a:ext uri="{A12FA001-AC4F-418D-AE19-62706E023703}">
                      <ahyp:hlinkClr xmlns:ahyp="http://schemas.microsoft.com/office/drawing/2018/hyperlinkcolor" val="tx"/>
                    </a:ext>
                  </a:extLst>
                </a:hlinkClick>
              </a:rPr>
              <a:t>      https://apps.bea.gov/industry/Release/XLS/GDPxInd/ValueAdded.xlsx</a:t>
            </a:r>
            <a:endParaRPr lang="en-US" sz="1100" dirty="0"/>
          </a:p>
          <a:p>
            <a:pPr indent="0" marL="0">
              <a:spcAft>
                <a:spcPts val="100"/>
              </a:spcAft>
              <a:buNone/>
            </a:pPr>
            <a:r>
              <a:rPr lang="en-US" sz="1100" b="1" dirty="0">
                <a:solidFill>
                  <a:srgbClr val="141414"/>
                </a:solidFill>
                <a:latin typeface="+mj-lt" pitchFamily="34" charset="0"/>
                <a:ea typeface="+mj-lt" pitchFamily="34" charset="-122"/>
                <a:cs typeface="+mj-lt" pitchFamily="34" charset="-120"/>
              </a:rPr>
              <a:t>2. BEA, NIPA 6.5D: Full-Time Equivalent Employees by Industry</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2" invalidUrl="" action="" tgtFrame="" tooltip="" history="1" highlightClick="0" endSnd="0">
                  <a:extLst>
                    <a:ext uri="{A12FA001-AC4F-418D-AE19-62706E023703}">
                      <ahyp:hlinkClr xmlns:ahyp="http://schemas.microsoft.com/office/drawing/2018/hyperlinkcolor" val="tx"/>
                    </a:ext>
                  </a:extLst>
                </a:hlinkClick>
              </a:rPr>
              <a:t>      https://apps.bea.gov/national/Release/TXT/NipaDataA.txt</a:t>
            </a:r>
            <a:endParaRPr lang="en-US" sz="1100" dirty="0"/>
          </a:p>
          <a:p>
            <a:pPr indent="0" marL="0">
              <a:spcAft>
                <a:spcPts val="100"/>
              </a:spcAft>
              <a:buNone/>
            </a:pPr>
            <a:r>
              <a:rPr lang="en-US" sz="1100" b="1" dirty="0">
                <a:solidFill>
                  <a:srgbClr val="141414"/>
                </a:solidFill>
                <a:latin typeface="+mj-lt" pitchFamily="34" charset="0"/>
                <a:ea typeface="+mj-lt" pitchFamily="34" charset="-122"/>
                <a:cs typeface="+mj-lt" pitchFamily="34" charset="-120"/>
              </a:rPr>
              <a:t>3. Jahon banki, WDI: SL.AGR.EMPL.ZS, SL.IND.EMPL.ZS, SL.SRV.EMPL.ZS</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3" invalidUrl="" action="" tgtFrame="" tooltip="" history="1" highlightClick="0" endSnd="0">
                  <a:extLst>
                    <a:ext uri="{A12FA001-AC4F-418D-AE19-62706E023703}">
                      <ahyp:hlinkClr xmlns:ahyp="http://schemas.microsoft.com/office/drawing/2018/hyperlinkcolor" val="tx"/>
                    </a:ext>
                  </a:extLst>
                </a:hlinkClick>
              </a:rPr>
              <a:t>      https://data.worldbank.org/country/united-states</a:t>
            </a:r>
            <a:endParaRPr lang="en-US" sz="1100" dirty="0"/>
          </a:p>
          <a:p>
            <a:pPr indent="0" marL="0">
              <a:spcAft>
                <a:spcPts val="100"/>
              </a:spcAft>
              <a:buNone/>
            </a:pPr>
            <a:r>
              <a:rPr lang="en-US" sz="1100" b="1" dirty="0">
                <a:solidFill>
                  <a:srgbClr val="141414"/>
                </a:solidFill>
                <a:latin typeface="+mj-lt" pitchFamily="34" charset="0"/>
                <a:ea typeface="+mj-lt" pitchFamily="34" charset="-122"/>
                <a:cs typeface="+mj-lt" pitchFamily="34" charset="-120"/>
              </a:rPr>
              <a:t>4. Autor, Dorn, Hanson (2013). The China Syndrome. American Economic Review</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4" invalidUrl="" action="" tgtFrame="" tooltip="" history="1" highlightClick="0" endSnd="0">
                  <a:extLst>
                    <a:ext uri="{A12FA001-AC4F-418D-AE19-62706E023703}">
                      <ahyp:hlinkClr xmlns:ahyp="http://schemas.microsoft.com/office/drawing/2018/hyperlinkcolor" val="tx"/>
                    </a:ext>
                  </a:extLst>
                </a:hlinkClick>
              </a:rPr>
              <a:t>      https://www.nber.org/papers/w18054</a:t>
            </a:r>
            <a:endParaRPr lang="en-US" sz="1100" dirty="0"/>
          </a:p>
        </p:txBody>
      </p:sp>
      <p:sp>
        <p:nvSpPr>
          <p:cNvPr id="11" name="manbalar-2"/>
          <p:cNvSpPr txBox="1"/>
          <p:nvPr/>
        </p:nvSpPr>
        <p:spPr>
          <a:xfrm>
            <a:off x="6263640" y="1463040"/>
            <a:ext cx="5358384" cy="4846320"/>
          </a:xfrm>
          <a:prstGeom prst="rect">
            <a:avLst/>
          </a:prstGeom>
          <a:noFill/>
          <a:ln/>
        </p:spPr>
        <p:txBody>
          <a:bodyPr wrap="square" lIns="0" tIns="0" rIns="0" bIns="0" rtlCol="0" anchor="t"/>
          <a:lstStyle/>
          <a:p>
            <a:pPr indent="0" marL="0">
              <a:spcAft>
                <a:spcPts val="100"/>
              </a:spcAft>
              <a:buNone/>
            </a:pPr>
            <a:r>
              <a:rPr lang="en-US" sz="1100" b="1" dirty="0">
                <a:solidFill>
                  <a:srgbClr val="141414"/>
                </a:solidFill>
                <a:latin typeface="+mj-lt" pitchFamily="34" charset="0"/>
                <a:ea typeface="+mj-lt" pitchFamily="34" charset="-122"/>
                <a:cs typeface="+mj-lt" pitchFamily="34" charset="-120"/>
              </a:rPr>
              <a:t>5. Houseman (2018). Understanding the Decline of U.S. Manufacturing Employment. Upjohn WP 18-287</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5" invalidUrl="" action="" tgtFrame="" tooltip="" history="1" highlightClick="0" endSnd="0">
                  <a:extLst>
                    <a:ext uri="{A12FA001-AC4F-418D-AE19-62706E023703}">
                      <ahyp:hlinkClr xmlns:ahyp="http://schemas.microsoft.com/office/drawing/2018/hyperlinkcolor" val="tx"/>
                    </a:ext>
                  </a:extLst>
                </a:hlinkClick>
              </a:rPr>
              <a:t>      https://research.upjohn.org/up_workingpapers/287/</a:t>
            </a:r>
            <a:endParaRPr lang="en-US" sz="1100" dirty="0"/>
          </a:p>
          <a:p>
            <a:pPr indent="0" marL="0">
              <a:spcAft>
                <a:spcPts val="100"/>
              </a:spcAft>
              <a:buNone/>
            </a:pPr>
            <a:r>
              <a:rPr lang="en-US" sz="1100" b="1" dirty="0">
                <a:solidFill>
                  <a:srgbClr val="141414"/>
                </a:solidFill>
                <a:latin typeface="+mj-lt" pitchFamily="34" charset="0"/>
                <a:ea typeface="+mj-lt" pitchFamily="34" charset="-122"/>
                <a:cs typeface="+mj-lt" pitchFamily="34" charset="-120"/>
              </a:rPr>
              <a:t>6. Goolsbee, Syverson (2023). The Strange and Awful Path of Productivity in the U.S. Construction Sector. NBER w30845</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6" invalidUrl="" action="" tgtFrame="" tooltip="" history="1" highlightClick="0" endSnd="0">
                  <a:extLst>
                    <a:ext uri="{A12FA001-AC4F-418D-AE19-62706E023703}">
                      <ahyp:hlinkClr xmlns:ahyp="http://schemas.microsoft.com/office/drawing/2018/hyperlinkcolor" val="tx"/>
                    </a:ext>
                  </a:extLst>
                </a:hlinkClick>
              </a:rPr>
              <a:t>      https://www.nber.org/papers/w30845</a:t>
            </a:r>
            <a:endParaRPr lang="en-US" sz="1100" dirty="0"/>
          </a:p>
          <a:p>
            <a:pPr indent="0" marL="0">
              <a:spcAft>
                <a:spcPts val="100"/>
              </a:spcAft>
              <a:buNone/>
            </a:pPr>
            <a:r>
              <a:rPr lang="en-US" sz="1100" b="1" dirty="0">
                <a:solidFill>
                  <a:srgbClr val="141414"/>
                </a:solidFill>
                <a:latin typeface="+mj-lt" pitchFamily="34" charset="0"/>
                <a:ea typeface="+mj-lt" pitchFamily="34" charset="-122"/>
                <a:cs typeface="+mj-lt" pitchFamily="34" charset="-120"/>
              </a:rPr>
              <a:t>7. BLS (AQSh Mehnat statistikasi byurosi)</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7" invalidUrl="" action="" tgtFrame="" tooltip="" history="1" highlightClick="0" endSnd="0">
                  <a:extLst>
                    <a:ext uri="{A12FA001-AC4F-418D-AE19-62706E023703}">
                      <ahyp:hlinkClr xmlns:ahyp="http://schemas.microsoft.com/office/drawing/2018/hyperlinkcolor" val="tx"/>
                    </a:ext>
                  </a:extLst>
                </a:hlinkClick>
              </a:rPr>
              <a:t>      https://www.bls.gov/news.release/archives/empsit_05082020.htm</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8" invalidUrl="" action="" tgtFrame="" tooltip="" history="1" highlightClick="0" endSnd="0">
                  <a:extLst>
                    <a:ext uri="{A12FA001-AC4F-418D-AE19-62706E023703}">
                      <ahyp:hlinkClr xmlns:ahyp="http://schemas.microsoft.com/office/drawing/2018/hyperlinkcolor" val="tx"/>
                    </a:ext>
                  </a:extLst>
                </a:hlinkClick>
              </a:rPr>
              <a:t>      https://www.bls.gov/osmr/research-papers/2021/st210060.htm</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9" invalidUrl="" action="" tgtFrame="" tooltip="" history="1" highlightClick="0" endSnd="0">
                  <a:extLst>
                    <a:ext uri="{A12FA001-AC4F-418D-AE19-62706E023703}">
                      <ahyp:hlinkClr xmlns:ahyp="http://schemas.microsoft.com/office/drawing/2018/hyperlinkcolor" val="tx"/>
                    </a:ext>
                  </a:extLst>
                </a:hlinkClick>
              </a:rPr>
              <a:t>      https://www.bls.gov/opub/mlr/2010/12/art1full.pdf</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      https://www.bls.gov/opub/ted/2022/consumer-prices-up-9-1-percent-over-the-year-ended-june-2022-largest-increase-in-40-years.htm</a:t>
            </a:r>
            <a:endParaRPr lang="en-US" sz="1100" dirty="0"/>
          </a:p>
          <a:p>
            <a:pPr indent="0" marL="0">
              <a:spcAft>
                <a:spcPts val="100"/>
              </a:spcAft>
              <a:buNone/>
            </a:pPr>
            <a:r>
              <a:rPr lang="en-US" sz="1100" b="1" dirty="0">
                <a:solidFill>
                  <a:srgbClr val="141414"/>
                </a:solidFill>
                <a:latin typeface="+mj-lt" pitchFamily="34" charset="0"/>
                <a:ea typeface="+mj-lt" pitchFamily="34" charset="-122"/>
                <a:cs typeface="+mj-lt" pitchFamily="34" charset="-120"/>
              </a:rPr>
              <a:t>8. EIA (AQSh Energetika axborot boshqarmasi)</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https://www.eia.gov/todayinenergy/detail.php?id=61545 (neft rekordi)</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https://www.eia.gov/todayinenergy/detail.php?id=55079 (Brent)</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https://www.eia.gov/todayinenergy/detail.php?id=55119 (Henry Hub 2022)</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https://www.eia.gov/todayinenergy/detail.php?id=64184 (Henry Hub 2024)</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      https://www.eia.gov/todayinenergy/detail.php?id=63804 (Osiyo/Yevropa gaz narxlari)</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      https://www.eia.gov/todayinenergy/detail.php?id=61683 (SPG eksporti)</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17" invalidUrl="" action="" tgtFrame="" tooltip="" history="1" highlightClick="0" endSnd="0">
                  <a:extLst>
                    <a:ext uri="{A12FA001-AC4F-418D-AE19-62706E023703}">
                      <ahyp:hlinkClr xmlns:ahyp="http://schemas.microsoft.com/office/drawing/2018/hyperlinkcolor" val="tx"/>
                    </a:ext>
                  </a:extLst>
                </a:hlinkClick>
              </a:rPr>
              <a:t>      https://www.eia.gov/todayinenergy/detail.php?id=19771 (etilen)</a:t>
            </a:r>
            <a:endParaRPr lang="en-US" sz="11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progress"/>
          <p:cNvSpPr/>
          <p:nvPr/>
        </p:nvSpPr>
        <p:spPr>
          <a:xfrm>
            <a:off x="0" y="6743700"/>
            <a:ext cx="9288911"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Manbalar (davomi)</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17</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Manbalar</a:t>
            </a:r>
            <a:endParaRPr lang="en-US" sz="1700" dirty="0"/>
          </a:p>
        </p:txBody>
      </p:sp>
      <p:sp>
        <p:nvSpPr>
          <p:cNvPr id="9" name="sign-lane"/>
          <p:cNvSpPr/>
          <p:nvPr/>
        </p:nvSpPr>
        <p:spPr>
          <a:xfrm>
            <a:off x="9994392" y="1225296"/>
            <a:ext cx="1517904" cy="50292"/>
          </a:xfrm>
          <a:prstGeom prst="rect">
            <a:avLst/>
          </a:prstGeom>
          <a:solidFill>
            <a:srgbClr val="9A9A9A"/>
          </a:solidFill>
          <a:ln/>
        </p:spPr>
      </p:sp>
      <p:sp>
        <p:nvSpPr>
          <p:cNvPr id="10" name="manbalar-1"/>
          <p:cNvSpPr txBox="1"/>
          <p:nvPr/>
        </p:nvSpPr>
        <p:spPr>
          <a:xfrm>
            <a:off x="571500" y="1463040"/>
            <a:ext cx="5349240" cy="3931920"/>
          </a:xfrm>
          <a:prstGeom prst="rect">
            <a:avLst/>
          </a:prstGeom>
          <a:noFill/>
          <a:ln/>
        </p:spPr>
        <p:txBody>
          <a:bodyPr wrap="square" lIns="0" tIns="0" rIns="0" bIns="0" rtlCol="0" anchor="t"/>
          <a:lstStyle/>
          <a:p>
            <a:pPr indent="0" marL="0">
              <a:spcAft>
                <a:spcPts val="100"/>
              </a:spcAft>
              <a:buNone/>
            </a:pPr>
            <a:r>
              <a:rPr lang="en-US" sz="1100" b="1" dirty="0">
                <a:solidFill>
                  <a:srgbClr val="141414"/>
                </a:solidFill>
                <a:latin typeface="+mj-lt" pitchFamily="34" charset="0"/>
                <a:ea typeface="+mj-lt" pitchFamily="34" charset="-122"/>
                <a:cs typeface="+mj-lt" pitchFamily="34" charset="-120"/>
              </a:rPr>
              <a:t>9. USDA, GAO, CRS</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 invalidUrl="" action="" tgtFrame="" tooltip="" history="1" highlightClick="0" endSnd="0">
                  <a:extLst>
                    <a:ext uri="{A12FA001-AC4F-418D-AE19-62706E023703}">
                      <ahyp:hlinkClr xmlns:ahyp="http://schemas.microsoft.com/office/drawing/2018/hyperlinkcolor" val="tx"/>
                    </a:ext>
                  </a:extLst>
                </a:hlinkClick>
              </a:rPr>
              <a:t>      https://www.ers.usda.gov/data-products/charts-of-note/76883</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2" invalidUrl="" action="" tgtFrame="" tooltip="" history="1" highlightClick="0" endSnd="0">
                  <a:extLst>
                    <a:ext uri="{A12FA001-AC4F-418D-AE19-62706E023703}">
                      <ahyp:hlinkClr xmlns:ahyp="http://schemas.microsoft.com/office/drawing/2018/hyperlinkcolor" val="tx"/>
                    </a:ext>
                  </a:extLst>
                </a:hlinkClick>
              </a:rPr>
              <a:t>      https://www.ers.usda.gov/topics/farm-practices-management/irrigation-water-use</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3" invalidUrl="" action="" tgtFrame="" tooltip="" history="1" highlightClick="0" endSnd="0">
                  <a:extLst>
                    <a:ext uri="{A12FA001-AC4F-418D-AE19-62706E023703}">
                      <ahyp:hlinkClr xmlns:ahyp="http://schemas.microsoft.com/office/drawing/2018/hyperlinkcolor" val="tx"/>
                    </a:ext>
                  </a:extLst>
                </a:hlinkClick>
              </a:rPr>
              <a:t>      https://www.ams.usda.gov/sites/default/files/media/GTR10052023.pdf</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4" invalidUrl="" action="" tgtFrame="" tooltip="" history="1" highlightClick="0" endSnd="0">
                  <a:extLst>
                    <a:ext uri="{A12FA001-AC4F-418D-AE19-62706E023703}">
                      <ahyp:hlinkClr xmlns:ahyp="http://schemas.microsoft.com/office/drawing/2018/hyperlinkcolor" val="tx"/>
                    </a:ext>
                  </a:extLst>
                </a:hlinkClick>
              </a:rPr>
              <a:t>      https://gao.gov/products/gao-22-468</a:t>
            </a:r>
            <a:endParaRPr lang="en-US" sz="1100" dirty="0"/>
          </a:p>
          <a:p>
            <a:pPr indent="0" marL="0">
              <a:spcAft>
                <a:spcPts val="100"/>
              </a:spcAft>
              <a:buNone/>
            </a:pPr>
            <a:r>
              <a:rPr lang="en-US" sz="1000" dirty="0">
                <a:solidFill>
                  <a:srgbClr val="55524B"/>
                </a:solidFill>
                <a:latin typeface="+mj-lt" pitchFamily="34" charset="0"/>
                <a:ea typeface="+mj-lt" pitchFamily="34" charset="-122"/>
                <a:cs typeface="+mj-lt" pitchFamily="34" charset="-120"/>
              </a:rPr>
              <a:t>      CRS R46180</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5" invalidUrl="" action="" tgtFrame="" tooltip="" history="1" highlightClick="0" endSnd="0">
                  <a:extLst>
                    <a:ext uri="{A12FA001-AC4F-418D-AE19-62706E023703}">
                      <ahyp:hlinkClr xmlns:ahyp="http://schemas.microsoft.com/office/drawing/2018/hyperlinkcolor" val="tx"/>
                    </a:ext>
                  </a:extLst>
                </a:hlinkClick>
              </a:rPr>
              <a:t>      CRS R47523 — https://www.congress.gov/crs-product/R47523</a:t>
            </a:r>
            <a:endParaRPr lang="en-US" sz="1100" dirty="0"/>
          </a:p>
          <a:p>
            <a:pPr indent="0" marL="0">
              <a:spcAft>
                <a:spcPts val="100"/>
              </a:spcAft>
              <a:buNone/>
            </a:pPr>
            <a:r>
              <a:rPr lang="en-US" sz="1100" b="1" dirty="0">
                <a:solidFill>
                  <a:srgbClr val="141414"/>
                </a:solidFill>
                <a:latin typeface="+mj-lt" pitchFamily="34" charset="0"/>
                <a:ea typeface="+mj-lt" pitchFamily="34" charset="-122"/>
                <a:cs typeface="+mj-lt" pitchFamily="34" charset="-120"/>
              </a:rPr>
              <a:t>10. Census</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6" invalidUrl="" action="" tgtFrame="" tooltip="" history="1" highlightClick="0" endSnd="0">
                  <a:extLst>
                    <a:ext uri="{A12FA001-AC4F-418D-AE19-62706E023703}">
                      <ahyp:hlinkClr xmlns:ahyp="http://schemas.microsoft.com/office/drawing/2018/hyperlinkcolor" val="tx"/>
                    </a:ext>
                  </a:extLst>
                </a:hlinkClick>
              </a:rPr>
              <a:t>      https://www.census.gov/retail/ecommerce.html</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7" invalidUrl="" action="" tgtFrame="" tooltip="" history="1" highlightClick="0" endSnd="0">
                  <a:extLst>
                    <a:ext uri="{A12FA001-AC4F-418D-AE19-62706E023703}">
                      <ahyp:hlinkClr xmlns:ahyp="http://schemas.microsoft.com/office/drawing/2018/hyperlinkcolor" val="tx"/>
                    </a:ext>
                  </a:extLst>
                </a:hlinkClick>
              </a:rPr>
              <a:t>      https://www.census.gov/construction/c30/pdf/pr202412.pdf</a:t>
            </a:r>
            <a:endParaRPr lang="en-US" sz="1100" dirty="0"/>
          </a:p>
        </p:txBody>
      </p:sp>
      <p:sp>
        <p:nvSpPr>
          <p:cNvPr id="11" name="manbalar-2"/>
          <p:cNvSpPr txBox="1"/>
          <p:nvPr/>
        </p:nvSpPr>
        <p:spPr>
          <a:xfrm>
            <a:off x="6263640" y="1463040"/>
            <a:ext cx="5358384" cy="3931920"/>
          </a:xfrm>
          <a:prstGeom prst="rect">
            <a:avLst/>
          </a:prstGeom>
          <a:noFill/>
          <a:ln/>
        </p:spPr>
        <p:txBody>
          <a:bodyPr wrap="square" lIns="0" tIns="0" rIns="0" bIns="0" rtlCol="0" anchor="t"/>
          <a:lstStyle/>
          <a:p>
            <a:pPr indent="0" marL="0">
              <a:spcAft>
                <a:spcPts val="100"/>
              </a:spcAft>
              <a:buNone/>
            </a:pPr>
            <a:r>
              <a:rPr lang="en-US" sz="1100" b="1" dirty="0">
                <a:solidFill>
                  <a:srgbClr val="141414"/>
                </a:solidFill>
                <a:latin typeface="+mj-lt" pitchFamily="34" charset="0"/>
                <a:ea typeface="+mj-lt" pitchFamily="34" charset="-122"/>
                <a:cs typeface="+mj-lt" pitchFamily="34" charset="-120"/>
              </a:rPr>
              <a:t>11. Boshqa rasmiy manbalar</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8" invalidUrl="" action="" tgtFrame="" tooltip="" history="1" highlightClick="0" endSnd="0">
                  <a:extLst>
                    <a:ext uri="{A12FA001-AC4F-418D-AE19-62706E023703}">
                      <ahyp:hlinkClr xmlns:ahyp="http://schemas.microsoft.com/office/drawing/2018/hyperlinkcolor" val="tx"/>
                    </a:ext>
                  </a:extLst>
                </a:hlinkClick>
              </a:rPr>
              <a:t>      Federal Reserve: https://www.federalreserve.gov/newsevents/pressreleases/monetary20230726a.htm</a:t>
            </a:r>
            <a:endParaRPr lang="en-US" sz="1100" dirty="0"/>
          </a:p>
          <a:p>
            <a:pPr indent="0" marL="0">
              <a:spcAft>
                <a:spcPts val="100"/>
              </a:spcAft>
              <a:buNone/>
            </a:pPr>
            <a:r>
              <a:rPr lang="en-US" sz="1000" dirty="0">
                <a:solidFill>
                  <a:srgbClr val="55524B"/>
                </a:solidFill>
                <a:latin typeface="+mj-lt" pitchFamily="34" charset="0"/>
                <a:ea typeface="+mj-lt" pitchFamily="34" charset="-122"/>
                <a:cs typeface="+mj-lt" pitchFamily="34" charset="-120"/>
              </a:rPr>
              <a:t>      Freddie Mac: 26.10.2023 press-relizi</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9" invalidUrl="" action="" tgtFrame="" tooltip="" history="1" highlightClick="0" endSnd="0">
                  <a:extLst>
                    <a:ext uri="{A12FA001-AC4F-418D-AE19-62706E023703}">
                      <ahyp:hlinkClr xmlns:ahyp="http://schemas.microsoft.com/office/drawing/2018/hyperlinkcolor" val="tx"/>
                    </a:ext>
                  </a:extLst>
                </a:hlinkClick>
              </a:rPr>
              <a:t>      Pew: https://www.pewresearch.org/internet/fact-sheet/internet-broadband/</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      DOT: https://www.transportation.gov/rural/grant-toolkit/funding-and-financing/grants-overview</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FHWA: https://www.fhwa.dot.gov/policyinformation/pubs/our_nations_highways_2026/roads.cfm</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BTS: https://data.bts.gov/stories/s/Moving-Goods-in-the-United-States/bcyt-rqmu/</a:t>
            </a:r>
            <a:endParaRPr lang="en-US" sz="1100" dirty="0"/>
          </a:p>
          <a:p>
            <a:pPr indent="0" marL="0">
              <a:spcAft>
                <a:spcPts val="100"/>
              </a:spcAft>
              <a:buNone/>
            </a:pPr>
            <a:r>
              <a:rPr lang="en-US" sz="1100" b="1" dirty="0">
                <a:solidFill>
                  <a:srgbClr val="141414"/>
                </a:solidFill>
                <a:latin typeface="+mj-lt" pitchFamily="34" charset="0"/>
                <a:ea typeface="+mj-lt" pitchFamily="34" charset="-122"/>
                <a:cs typeface="+mj-lt" pitchFamily="34" charset="-120"/>
              </a:rPr>
              <a:t>12. O‘zbekiston</a:t>
            </a:r>
            <a:endParaRPr lang="en-US" sz="1100" dirty="0"/>
          </a:p>
          <a:p>
            <a:pPr indent="0" marL="0">
              <a:spcAft>
                <a:spcPts val="100"/>
              </a:spcAft>
              <a:buNone/>
            </a:pPr>
            <a:r>
              <a:rPr lang="en-US" sz="1000" dirty="0">
                <a:solidFill>
                  <a:srgbClr val="55524B"/>
                </a:solidFill>
                <a:latin typeface="+mj-lt" pitchFamily="34" charset="0"/>
                <a:ea typeface="+mj-lt" pitchFamily="34" charset="-122"/>
                <a:cs typeface="+mj-lt" pitchFamily="34" charset="-120"/>
              </a:rPr>
              <a:t>      Jahon banki press-relizlari (21.05.2025, 15.05.2025, 25.06.2025) — worldbank.org</a:t>
            </a:r>
            <a:endParaRPr lang="en-US" sz="1100" dirty="0"/>
          </a:p>
          <a:p>
            <a:pPr indent="0" marL="0">
              <a:spcAft>
                <a:spcPts val="100"/>
              </a:spcAft>
              <a:buNone/>
            </a:pPr>
            <a:r>
              <a:rPr lang="en-US" sz="1000" u="sng" dirty="0">
                <a:solidFill>
                  <a:srgbClr val="55524B"/>
                </a:solidFill>
                <a:latin typeface="+mj-lt" pitchFamily="34" charset="0"/>
                <a:ea typeface="+mj-lt" pitchFamily="34" charset="-122"/>
                <a:cs typeface="+mj-l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LPI — https://lpi.worldbank.org/international/global</a:t>
            </a:r>
            <a:endParaRPr lang="en-US" sz="1100" dirty="0"/>
          </a:p>
          <a:p>
            <a:pPr indent="0" marL="0">
              <a:spcAft>
                <a:spcPts val="100"/>
              </a:spcAft>
              <a:buNone/>
            </a:pPr>
            <a:r>
              <a:rPr lang="en-US" sz="1000" dirty="0">
                <a:solidFill>
                  <a:srgbClr val="55524B"/>
                </a:solidFill>
                <a:latin typeface="+mj-lt" pitchFamily="34" charset="0"/>
                <a:ea typeface="+mj-lt" pitchFamily="34" charset="-122"/>
                <a:cs typeface="+mj-lt" pitchFamily="34" charset="-120"/>
              </a:rPr>
              <a:t>      XVF (kun.uz, 02.07.2025)</a:t>
            </a:r>
            <a:endParaRPr lang="en-US" sz="1100" dirty="0"/>
          </a:p>
          <a:p>
            <a:pPr indent="0" marL="0">
              <a:spcAft>
                <a:spcPts val="600"/>
              </a:spcAft>
              <a:buNone/>
            </a:pPr>
            <a:r>
              <a:rPr lang="en-US" sz="1000" u="sng" dirty="0">
                <a:solidFill>
                  <a:srgbClr val="55524B"/>
                </a:solidFill>
                <a:latin typeface="+mj-lt" pitchFamily="34" charset="0"/>
                <a:ea typeface="+mj-lt" pitchFamily="34" charset="-122"/>
                <a:cs typeface="+mj-l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https://centralasiaclimateportal.org/36-of-water-in-uzbekistans-agriculture-is-lost-in-earthen-canals/</a:t>
            </a:r>
            <a:endParaRPr lang="en-US" sz="1100" dirty="0"/>
          </a:p>
        </p:txBody>
      </p:sp>
      <p:sp>
        <p:nvSpPr>
          <p:cNvPr id="12" name="rahmat"/>
          <p:cNvSpPr txBox="1"/>
          <p:nvPr/>
        </p:nvSpPr>
        <p:spPr>
          <a:xfrm>
            <a:off x="571500" y="5532120"/>
            <a:ext cx="10972800" cy="685800"/>
          </a:xfrm>
          <a:prstGeom prst="rect">
            <a:avLst/>
          </a:prstGeom>
          <a:noFill/>
          <a:ln/>
        </p:spPr>
        <p:txBody>
          <a:bodyPr wrap="square" lIns="0" tIns="0" rIns="0" bIns="0" rtlCol="0" anchor="ctr"/>
          <a:lstStyle/>
          <a:p>
            <a:pPr indent="0" marL="0">
              <a:buNone/>
            </a:pPr>
            <a:r>
              <a:rPr lang="en-US" sz="3600" b="1" dirty="0">
                <a:solidFill>
                  <a:srgbClr val="00653A"/>
                </a:solidFill>
                <a:latin typeface="+mj-lt" pitchFamily="34" charset="0"/>
                <a:ea typeface="+mj-lt" pitchFamily="34" charset="-122"/>
                <a:cs typeface="+mj-lt" pitchFamily="34" charset="-120"/>
              </a:rPr>
              <a:t>Rahmat, savollaringizga tayyormiz!</a:t>
            </a:r>
            <a:endParaRPr lang="en-US" sz="3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progress"/>
          <p:cNvSpPr/>
          <p:nvPr/>
        </p:nvSpPr>
        <p:spPr>
          <a:xfrm>
            <a:off x="0" y="6743700"/>
            <a:ext cx="9869468"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Ilova: Qo‘shilgan qiymat, mlrd $, 2000–2025</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18</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Ilova</a:t>
            </a:r>
            <a:endParaRPr lang="en-US" sz="1700" dirty="0"/>
          </a:p>
        </p:txBody>
      </p:sp>
      <p:sp>
        <p:nvSpPr>
          <p:cNvPr id="9" name="sign-lane"/>
          <p:cNvSpPr/>
          <p:nvPr/>
        </p:nvSpPr>
        <p:spPr>
          <a:xfrm>
            <a:off x="9994392" y="1225296"/>
            <a:ext cx="1517904" cy="50292"/>
          </a:xfrm>
          <a:prstGeom prst="rect">
            <a:avLst/>
          </a:prstGeom>
          <a:solidFill>
            <a:srgbClr val="9A9A9A"/>
          </a:solidFill>
          <a:ln/>
        </p:spPr>
      </p:sp>
      <p:graphicFrame>
        <p:nvGraphicFramePr>
          <p:cNvPr id="19" name="ilova-jadval"/>
          <p:cNvGraphicFramePr>
            <a:graphicFrameLocks noGrp="1"/>
          </p:cNvGraphicFramePr>
          <p:nvPr>
            <p:extLst>
              <p:ext uri="{D42A27DB-BD31-4B8C-83A1-F6EECF244321}">
                <p14:modId xmlns:p14="http://schemas.microsoft.com/office/powerpoint/2010/main" val="1579011935"/>
              </p:ext>
            </p:extLst>
          </p:nvPr>
        </p:nvGraphicFramePr>
        <p:xfrm>
          <a:off x="571500" y="155448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YaIM</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10 251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10 582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10 929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11 456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12 217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13 039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13 816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14 474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14 770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14 478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15 049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15 600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16 254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1 840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1 779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1 758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1 847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1 973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2 116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2 293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2 392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2 434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2 229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2 374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2 509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2 562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7 850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8 216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8 581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8 969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9 515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10 142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10 698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11 220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11 540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11 554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12 004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12 385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12 957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98,9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96,7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115,3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144,5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127,1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146,3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146,5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129,3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145,7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179,9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461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486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494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585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652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649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565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555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graphicFrame>
        <p:nvGraphicFramePr>
          <p:cNvPr id="37" name="ilova-jadval"/>
          <p:cNvGraphicFramePr>
            <a:graphicFrameLocks noGrp="1"/>
          </p:cNvGraphicFramePr>
          <p:nvPr>
            <p:extLst>
              <p:ext uri="{D42A27DB-BD31-4B8C-83A1-F6EECF244321}">
                <p14:modId xmlns:p14="http://schemas.microsoft.com/office/powerpoint/2010/main" val="1579011935"/>
              </p:ext>
            </p:extLst>
          </p:nvPr>
        </p:nvGraphicFramePr>
        <p:xfrm>
          <a:off x="571500" y="379476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YaIM</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16 881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17 608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18 295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18 805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19 612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20 657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21 540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21 375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23 746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26 060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27 826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29 381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30 861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2 646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2 727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2 634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2 550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2 691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2 896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2 894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2 705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3 148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3 575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3 701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3 772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3 836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13 424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14 031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14 764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15 310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15 904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16 695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17 528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17 547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19 355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21 078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22 642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24 051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25 429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215,8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200,6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167,5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176,8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177,1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164,2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230,7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293,5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269,2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248,1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255,9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650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777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889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953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959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1 310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1 340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2" name="manba"/>
          <p:cNvSpPr txBox="1"/>
          <p:nvPr/>
        </p:nvSpPr>
        <p:spPr>
          <a:xfrm>
            <a:off x="571500" y="6053328"/>
            <a:ext cx="54864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 mualliflar hisobi</a:t>
            </a:r>
            <a:endParaRPr lang="en-US" sz="11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rogress"/>
          <p:cNvSpPr/>
          <p:nvPr/>
        </p:nvSpPr>
        <p:spPr>
          <a:xfrm>
            <a:off x="0" y="6743700"/>
            <a:ext cx="10450024"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Ilova: YaIMdagi ulush, %, 2000–2025</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19</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Ilova</a:t>
            </a:r>
            <a:endParaRPr lang="en-US" sz="1700" dirty="0"/>
          </a:p>
        </p:txBody>
      </p:sp>
      <p:sp>
        <p:nvSpPr>
          <p:cNvPr id="9" name="sign-lane"/>
          <p:cNvSpPr/>
          <p:nvPr/>
        </p:nvSpPr>
        <p:spPr>
          <a:xfrm>
            <a:off x="9994392" y="1225296"/>
            <a:ext cx="1517904" cy="50292"/>
          </a:xfrm>
          <a:prstGeom prst="rect">
            <a:avLst/>
          </a:prstGeom>
          <a:solidFill>
            <a:srgbClr val="9A9A9A"/>
          </a:solidFill>
          <a:ln/>
        </p:spPr>
      </p:sp>
      <p:graphicFrame>
        <p:nvGraphicFramePr>
          <p:cNvPr id="20" name="ilova-jadval"/>
          <p:cNvGraphicFramePr>
            <a:graphicFrameLocks noGrp="1"/>
          </p:cNvGraphicFramePr>
          <p:nvPr>
            <p:extLst>
              <p:ext uri="{D42A27DB-BD31-4B8C-83A1-F6EECF244321}">
                <p14:modId xmlns:p14="http://schemas.microsoft.com/office/powerpoint/2010/main" val="1579011935"/>
              </p:ext>
            </p:extLst>
          </p:nvPr>
        </p:nvGraphicFramePr>
        <p:xfrm>
          <a:off x="571500" y="155448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76,6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77,6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78,5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78,3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77,9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77,8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77,4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77,5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78,1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79,4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0,88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0,89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graphicFrame>
        <p:nvGraphicFramePr>
          <p:cNvPr id="39" name="ilova-jadval"/>
          <p:cNvGraphicFramePr>
            <a:graphicFrameLocks noGrp="1"/>
          </p:cNvGraphicFramePr>
          <p:nvPr>
            <p:extLst>
              <p:ext uri="{D42A27DB-BD31-4B8C-83A1-F6EECF244321}">
                <p14:modId xmlns:p14="http://schemas.microsoft.com/office/powerpoint/2010/main" val="1579011935"/>
              </p:ext>
            </p:extLst>
          </p:nvPr>
        </p:nvGraphicFramePr>
        <p:xfrm>
          <a:off x="571500" y="379476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80,7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0,89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0,86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0,76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0,77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0,84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0,83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2" name="manba"/>
          <p:cNvSpPr txBox="1"/>
          <p:nvPr/>
        </p:nvSpPr>
        <p:spPr>
          <a:xfrm>
            <a:off x="571500" y="6053328"/>
            <a:ext cx="54864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 mualliflar hisobi</a:t>
            </a:r>
            <a:endParaRPr lang="en-US" sz="11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progress"/>
          <p:cNvSpPr/>
          <p:nvPr/>
        </p:nvSpPr>
        <p:spPr>
          <a:xfrm>
            <a:off x="0" y="6743700"/>
            <a:ext cx="11030581"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Ilova: Real hajm, 2000 = 100, 2000–2025</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20</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Ilova</a:t>
            </a:r>
            <a:endParaRPr lang="en-US" sz="1700" dirty="0"/>
          </a:p>
        </p:txBody>
      </p:sp>
      <p:sp>
        <p:nvSpPr>
          <p:cNvPr id="9" name="sign-lane"/>
          <p:cNvSpPr/>
          <p:nvPr/>
        </p:nvSpPr>
        <p:spPr>
          <a:xfrm>
            <a:off x="9994392" y="1225296"/>
            <a:ext cx="1517904" cy="50292"/>
          </a:xfrm>
          <a:prstGeom prst="rect">
            <a:avLst/>
          </a:prstGeom>
          <a:solidFill>
            <a:srgbClr val="9A9A9A"/>
          </a:solidFill>
          <a:ln/>
        </p:spPr>
      </p:sp>
      <p:graphicFrame>
        <p:nvGraphicFramePr>
          <p:cNvPr id="21" name="ilova-jadval"/>
          <p:cNvGraphicFramePr>
            <a:graphicFrameLocks noGrp="1"/>
          </p:cNvGraphicFramePr>
          <p:nvPr>
            <p:extLst>
              <p:ext uri="{D42A27DB-BD31-4B8C-83A1-F6EECF244321}">
                <p14:modId xmlns:p14="http://schemas.microsoft.com/office/powerpoint/2010/main" val="1579011935"/>
              </p:ext>
            </p:extLst>
          </p:nvPr>
        </p:nvGraphicFramePr>
        <p:xfrm>
          <a:off x="571500" y="155448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YaIM</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102,7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105,5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109,6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116,6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118,9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119,1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116,0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119,1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96,4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97,6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108,2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117,8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119,4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106,9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114,8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117,5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119,3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124,7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127,7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97,8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108,9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118,1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124,5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115,7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98,3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94,9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96,9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98,7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96,0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86,6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74,2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graphicFrame>
        <p:nvGraphicFramePr>
          <p:cNvPr id="41" name="ilova-jadval"/>
          <p:cNvGraphicFramePr>
            <a:graphicFrameLocks noGrp="1"/>
          </p:cNvGraphicFramePr>
          <p:nvPr>
            <p:extLst>
              <p:ext uri="{D42A27DB-BD31-4B8C-83A1-F6EECF244321}">
                <p14:modId xmlns:p14="http://schemas.microsoft.com/office/powerpoint/2010/main" val="1579011935"/>
              </p:ext>
            </p:extLst>
          </p:nvPr>
        </p:nvGraphicFramePr>
        <p:xfrm>
          <a:off x="571500" y="379476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YaIM</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126,4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129,6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135,8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139,1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147,0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143,9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156,6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166,0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169,9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127,1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129,4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133,8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139,2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138,2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145,4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143,1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156,8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129,9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137,2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147,4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148,4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158,3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168,3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173,1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177,5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136,1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137,0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145,4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145,8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144,7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75,4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77,9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86,9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95,3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95,8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88,8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93,5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2" name="manba"/>
          <p:cNvSpPr txBox="1"/>
          <p:nvPr/>
        </p:nvSpPr>
        <p:spPr>
          <a:xfrm>
            <a:off x="571500" y="6053328"/>
            <a:ext cx="54864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 mualliflar hisobi</a:t>
            </a:r>
            <a:endParaRPr lang="en-US" sz="11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progress"/>
          <p:cNvSpPr/>
          <p:nvPr/>
        </p:nvSpPr>
        <p:spPr>
          <a:xfrm>
            <a:off x="0" y="6743700"/>
            <a:ext cx="11611138"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Ilova: Real o‘sish, %, 2000–2025</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21</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Ilova</a:t>
            </a:r>
            <a:endParaRPr lang="en-US" sz="1700" dirty="0"/>
          </a:p>
        </p:txBody>
      </p:sp>
      <p:sp>
        <p:nvSpPr>
          <p:cNvPr id="9" name="sign-lane"/>
          <p:cNvSpPr/>
          <p:nvPr/>
        </p:nvSpPr>
        <p:spPr>
          <a:xfrm>
            <a:off x="9994392" y="1225296"/>
            <a:ext cx="1517904" cy="50292"/>
          </a:xfrm>
          <a:prstGeom prst="rect">
            <a:avLst/>
          </a:prstGeom>
          <a:solidFill>
            <a:srgbClr val="9A9A9A"/>
          </a:solidFill>
          <a:ln/>
        </p:spPr>
      </p:sp>
      <p:graphicFrame>
        <p:nvGraphicFramePr>
          <p:cNvPr id="22" name="ilova-jadval"/>
          <p:cNvGraphicFramePr>
            <a:graphicFrameLocks noGrp="1"/>
          </p:cNvGraphicFramePr>
          <p:nvPr>
            <p:extLst>
              <p:ext uri="{D42A27DB-BD31-4B8C-83A1-F6EECF244321}">
                <p14:modId xmlns:p14="http://schemas.microsoft.com/office/powerpoint/2010/main" val="1579011935"/>
              </p:ext>
            </p:extLst>
          </p:nvPr>
        </p:nvGraphicFramePr>
        <p:xfrm>
          <a:off x="571500" y="155448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YaIM</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graphicFrame>
        <p:nvGraphicFramePr>
          <p:cNvPr id="43" name="ilova-jadval"/>
          <p:cNvGraphicFramePr>
            <a:graphicFrameLocks noGrp="1"/>
          </p:cNvGraphicFramePr>
          <p:nvPr>
            <p:extLst>
              <p:ext uri="{D42A27DB-BD31-4B8C-83A1-F6EECF244321}">
                <p14:modId xmlns:p14="http://schemas.microsoft.com/office/powerpoint/2010/main" val="1579011935"/>
              </p:ext>
            </p:extLst>
          </p:nvPr>
        </p:nvGraphicFramePr>
        <p:xfrm>
          <a:off x="571500" y="379476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YaIM</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+3,4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+4,5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2" name="manba"/>
          <p:cNvSpPr txBox="1"/>
          <p:nvPr/>
        </p:nvSpPr>
        <p:spPr>
          <a:xfrm>
            <a:off x="571500" y="6053328"/>
            <a:ext cx="54864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 mualliflar hisobi</a:t>
            </a:r>
            <a:endParaRPr lang="en-US" sz="11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progress"/>
          <p:cNvSpPr/>
          <p:nvPr/>
        </p:nvSpPr>
        <p:spPr>
          <a:xfrm>
            <a:off x="0" y="6743700"/>
            <a:ext cx="12191695" cy="41148"/>
          </a:xfrm>
          <a:prstGeom prst="rect">
            <a:avLst/>
          </a:prstGeom>
          <a:solidFill>
            <a:srgbClr val="F5C400"/>
          </a:solidFill>
          <a:ln/>
        </p:spPr>
      </p:sp>
      <p:sp>
        <p:nvSpPr>
          <p:cNvPr id="3" name="Text 2"/>
          <p:cNvSpPr/>
          <p:nvPr>
            <p:ph idx="102" type="title" hasCustomPrompt="1"/>
          </p:nvPr>
        </p:nvSpPr>
        <p:spPr>
          <a:xfrm>
            <a:off x="571500" y="365760"/>
            <a:ext cx="8412480" cy="987552"/>
          </a:xfrm>
          <a:prstGeom prst="rect">
            <a:avLst/>
          </a:prstGeom>
          <a:noFill/>
          <a:ln/>
        </p:spPr>
        <p:txBody>
          <a:bodyPr wrap="square" lIns="0" tIns="0" rIns="0" bIns="0" rtlCol="0" anchor="t"/>
          <a:lstStyle/>
          <a:p>
            <a:pPr algn="l" indent="0" marL="0">
              <a:lnSpc>
                <a:spcPct val="95000"/>
              </a:lnSpc>
              <a:buNone/>
            </a:pPr>
            <a:r>
              <a:rPr lang="en-US" sz="3000" b="1" dirty="0">
                <a:solidFill>
                  <a:schemeClr val="tx1"/>
                </a:solidFill>
                <a:latin typeface="IBM Plex Sans" pitchFamily="34" charset="0"/>
                <a:ea typeface="IBM Plex Sans" pitchFamily="34" charset="-122"/>
                <a:cs typeface="IBM Plex Sans" pitchFamily="34" charset="-120"/>
              </a:rPr>
              <a:t>Ilova: Bandlik, ming kishi, 2000–2025</a:t>
            </a:r>
            <a:endParaRPr lang="en-US" sz="3000" dirty="0"/>
          </a:p>
        </p:txBody>
      </p:sp>
      <p:sp>
        <p:nvSpPr>
          <p:cNvPr id="4" name="sign-tab"/>
          <p:cNvSpPr/>
          <p:nvPr/>
        </p:nvSpPr>
        <p:spPr>
          <a:xfrm>
            <a:off x="10250424" y="329184"/>
            <a:ext cx="1207008" cy="384048"/>
          </a:xfrm>
          <a:prstGeom prst="roundRect">
            <a:avLst>
              <a:gd name="adj" fmla="val 19048"/>
            </a:avLst>
          </a:prstGeom>
          <a:solidFill>
            <a:srgbClr val="00653A"/>
          </a:solidFill>
          <a:ln w="19050">
            <a:solidFill>
              <a:srgbClr val="FFFFFF"/>
            </a:solidFill>
            <a:prstDash val="solid"/>
          </a:ln>
        </p:spPr>
      </p:sp>
      <p:sp>
        <p:nvSpPr>
          <p:cNvPr id="5" name="sign-tab-text"/>
          <p:cNvSpPr txBox="1"/>
          <p:nvPr/>
        </p:nvSpPr>
        <p:spPr>
          <a:xfrm>
            <a:off x="10250424" y="338328"/>
            <a:ext cx="1207008"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j-lt" pitchFamily="34" charset="0"/>
                <a:ea typeface="+mj-lt" pitchFamily="34" charset="-122"/>
                <a:cs typeface="+mj-lt" pitchFamily="34" charset="-120"/>
              </a:rPr>
              <a:t>CHIQISH 22</a:t>
            </a:r>
            <a:endParaRPr lang="en-US" sz="1100" dirty="0"/>
          </a:p>
        </p:txBody>
      </p:sp>
      <p:sp>
        <p:nvSpPr>
          <p:cNvPr id="6" name="sign-outer"/>
          <p:cNvSpPr/>
          <p:nvPr/>
        </p:nvSpPr>
        <p:spPr>
          <a:xfrm>
            <a:off x="9848088" y="566928"/>
            <a:ext cx="1810512" cy="603504"/>
          </a:xfrm>
          <a:prstGeom prst="roundRect">
            <a:avLst>
              <a:gd name="adj" fmla="val 15152"/>
            </a:avLst>
          </a:prstGeom>
          <a:solidFill>
            <a:srgbClr val="00653A"/>
          </a:solidFill>
          <a:ln/>
        </p:spPr>
      </p:sp>
      <p:sp>
        <p:nvSpPr>
          <p:cNvPr id="7" name="sign-panel"/>
          <p:cNvSpPr/>
          <p:nvPr/>
        </p:nvSpPr>
        <p:spPr>
          <a:xfrm>
            <a:off x="9884664" y="603504"/>
            <a:ext cx="1737360" cy="530352"/>
          </a:xfrm>
          <a:prstGeom prst="roundRect">
            <a:avLst>
              <a:gd name="adj" fmla="val 13793"/>
            </a:avLst>
          </a:prstGeom>
          <a:solidFill>
            <a:srgbClr val="00653A"/>
          </a:solidFill>
          <a:ln w="25400">
            <a:solidFill>
              <a:srgbClr val="FFFFFF"/>
            </a:solidFill>
            <a:prstDash val="solid"/>
          </a:ln>
        </p:spPr>
      </p:sp>
      <p:sp>
        <p:nvSpPr>
          <p:cNvPr id="8" name="sign-name"/>
          <p:cNvSpPr txBox="1"/>
          <p:nvPr/>
        </p:nvSpPr>
        <p:spPr>
          <a:xfrm>
            <a:off x="9884664" y="603504"/>
            <a:ext cx="1737360"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mj-lt" pitchFamily="34" charset="0"/>
                <a:ea typeface="+mj-lt" pitchFamily="34" charset="-122"/>
                <a:cs typeface="+mj-lt" pitchFamily="34" charset="-120"/>
              </a:rPr>
              <a:t>Ilova</a:t>
            </a:r>
            <a:endParaRPr lang="en-US" sz="1700" dirty="0"/>
          </a:p>
        </p:txBody>
      </p:sp>
      <p:sp>
        <p:nvSpPr>
          <p:cNvPr id="9" name="sign-lane"/>
          <p:cNvSpPr/>
          <p:nvPr/>
        </p:nvSpPr>
        <p:spPr>
          <a:xfrm>
            <a:off x="9994392" y="1225296"/>
            <a:ext cx="1517904" cy="50292"/>
          </a:xfrm>
          <a:prstGeom prst="rect">
            <a:avLst/>
          </a:prstGeom>
          <a:solidFill>
            <a:srgbClr val="9A9A9A"/>
          </a:solidFill>
          <a:ln/>
        </p:spPr>
      </p:sp>
      <p:graphicFrame>
        <p:nvGraphicFramePr>
          <p:cNvPr id="23" name="ilova-jadval"/>
          <p:cNvGraphicFramePr>
            <a:graphicFrameLocks noGrp="1"/>
          </p:cNvGraphicFramePr>
          <p:nvPr>
            <p:extLst>
              <p:ext uri="{D42A27DB-BD31-4B8C-83A1-F6EECF244321}">
                <p14:modId xmlns:p14="http://schemas.microsoft.com/office/powerpoint/2010/main" val="1579011935"/>
              </p:ext>
            </p:extLst>
          </p:nvPr>
        </p:nvGraphicFramePr>
        <p:xfrm>
          <a:off x="571500" y="155448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Jami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123 384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123 725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122 474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121 964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123 101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125 359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127 578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128 922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128 227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121 457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120 519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121 965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124 500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18 051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17 246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16 054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15 265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15 084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15 037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15 033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14 787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14 391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12 699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12 411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12 702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12 976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97 504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98 557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98 587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98 857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99 963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101 991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103 840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105 463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105 638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101 842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101 608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102 773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104 882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1 170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1 085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1 099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1 087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1 060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1 099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1 112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1 141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6 659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6 827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6 748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6 744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7 011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7 315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7 606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7 570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7 111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5 856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5 401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5 378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5 501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graphicFrame>
        <p:nvGraphicFramePr>
          <p:cNvPr id="45" name="ilova-jadval"/>
          <p:cNvGraphicFramePr>
            <a:graphicFrameLocks noGrp="1"/>
          </p:cNvGraphicFramePr>
          <p:nvPr>
            <p:extLst>
              <p:ext uri="{D42A27DB-BD31-4B8C-83A1-F6EECF244321}">
                <p14:modId xmlns:p14="http://schemas.microsoft.com/office/powerpoint/2010/main" val="1579011935"/>
              </p:ext>
            </p:extLst>
          </p:nvPr>
        </p:nvGraphicFramePr>
        <p:xfrm>
          <a:off x="571500" y="3794760"/>
          <a:ext cx="11045952" cy="914400"/>
        </p:xfrm>
        <a:graphic>
          <a:graphicData uri="http://schemas.openxmlformats.org/drawingml/2006/table">
            <a:tbl>
              <a:tblPr/>
              <a:tblGrid>
                <a:gridCol w="1682496"/>
                <a:gridCol w="720266"/>
                <a:gridCol w="720266"/>
                <a:gridCol w="720266"/>
                <a:gridCol w="720266"/>
                <a:gridCol w="720266"/>
                <a:gridCol w="720266"/>
                <a:gridCol w="720266"/>
                <a:gridCol w="720266"/>
                <a:gridCol w="720266"/>
                <a:gridCol w="720266"/>
                <a:gridCol w="720266"/>
                <a:gridCol w="720266"/>
                <a:gridCol w="720266"/>
              </a:tblGrid>
              <a:tr h="274320">
                <a:tc>
                  <a:txBody>
                    <a:bodyPr/>
                    <a:lstStyle/>
                    <a:p>
                      <a:pPr algn="l" indent="0" marL="0">
                        <a:buNone/>
                      </a:pP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c>
                  <a:txBody>
                    <a:bodyPr/>
                    <a:lstStyle/>
                    <a:p>
                      <a:pPr algn="r" indent="0" marL="0">
                        <a:buNone/>
                      </a:pPr>
                      <a:r>
                        <a:rPr lang="en-US" sz="1100" b="1" dirty="0">
                          <a:solidFill>
                            <a:srgbClr val="141414"/>
                          </a:solidFill>
                          <a:latin typeface="+mj-lt" pitchFamily="34" charset="0"/>
                          <a:ea typeface="+mj-lt" pitchFamily="34" charset="-122"/>
                          <a:cs typeface="+mj-lt" pitchFamily="34" charset="-120"/>
                        </a:rPr>
                        <a:t>2025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25400" cap="flat" cmpd="sng" algn="ctr">
                      <a:solidFill>
                        <a:srgbClr val="141414"/>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Jami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126 606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129 326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132 262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134 426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136 565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138 990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141 249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133 370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137 590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143 398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146 124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147 302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147 725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Sanoat</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13 079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13 291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13 362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13 188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13 342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13 597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13 733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12 907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13 110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13 563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13 689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13 616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13 453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Xizmatlar</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106 606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108 805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111 283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113 379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115 111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116 998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118 864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112 135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115 884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120 929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123 319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124 420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124 947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Qishloq xo‘jaligi</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1 167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1 187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1 239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1 220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1 219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1 222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1 195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1 209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1 225</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1 216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1 223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1 196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r h="274320">
                <a:tc>
                  <a:txBody>
                    <a:bodyPr/>
                    <a:lstStyle/>
                    <a:p>
                      <a:pPr algn="l" indent="0" marL="0">
                        <a:buNone/>
                      </a:pPr>
                      <a:r>
                        <a:rPr lang="en-US" sz="1100" dirty="0">
                          <a:solidFill>
                            <a:srgbClr val="55524B"/>
                          </a:solidFill>
                          <a:latin typeface="+mj-lt" pitchFamily="34" charset="0"/>
                          <a:ea typeface="+mj-lt" pitchFamily="34" charset="-122"/>
                          <a:cs typeface="+mj-lt" pitchFamily="34" charset="-120"/>
                        </a:rPr>
                        <a:t>Qurilish</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5 754</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6 043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6 378</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6 640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6 892</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7 176</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7 430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7 133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7 387</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7 681</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7 900</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8 043</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c>
                  <a:txBody>
                    <a:bodyPr/>
                    <a:lstStyle/>
                    <a:p>
                      <a:pPr algn="r" indent="0" marL="0">
                        <a:buNone/>
                      </a:pPr>
                      <a:r>
                        <a:rPr lang="en-US" sz="1100" dirty="0">
                          <a:solidFill>
                            <a:srgbClr val="141414"/>
                          </a:solidFill>
                          <a:latin typeface="+mj-lt" pitchFamily="34" charset="0"/>
                          <a:ea typeface="+mj-lt" pitchFamily="34" charset="-122"/>
                          <a:cs typeface="+mj-lt" pitchFamily="34" charset="-120"/>
                        </a:rPr>
                        <a:t>8 129</a:t>
                      </a:r>
                      <a:endParaRPr lang="en-US" sz="1100" dirty="0">
                        <a:latin typeface="+mj-lt" charset="0"/>
                        <a:ea typeface="+mj-lt" charset="0"/>
                        <a:cs typeface="+mj-lt" charset="0"/>
                      </a:endParaRPr>
                    </a:p>
                  </a:txBody>
                  <a:tcPr marL="54864" marR="54864" marT="36576" marB="27432" anchor="ctr">
                    <a:lnL w="0" cap="flat" cmpd="sng" algn="ctr">
                      <a:noFill/>
                    </a:lnL>
                    <a:lnR w="0" cap="flat" cmpd="sng" algn="ctr">
                      <a:noFill/>
                    </a:lnR>
                    <a:lnT w="0" cap="flat" cmpd="sng" algn="ctr">
                      <a:noFill/>
                    </a:lnT>
                    <a:lnB w="9525" cap="flat" cmpd="sng" algn="ctr">
                      <a:solidFill>
                        <a:srgbClr val="D6D0C2"/>
                      </a:solidFill>
                      <a:prstDash val="solid"/>
                      <a:round/>
                      <a:headEnd type="none" w="med" len="med"/>
                      <a:tailEnd type="none" w="med" len="med"/>
                    </a:lnB>
                  </a:tcPr>
                </a:tc>
              </a:tr>
            </a:tbl>
          </a:graphicData>
        </a:graphic>
      </p:graphicFrame>
      <p:sp>
        <p:nvSpPr>
          <p:cNvPr id="12" name="manba"/>
          <p:cNvSpPr txBox="1"/>
          <p:nvPr/>
        </p:nvSpPr>
        <p:spPr>
          <a:xfrm>
            <a:off x="571500" y="6053328"/>
            <a:ext cx="5486400" cy="219456"/>
          </a:xfrm>
          <a:prstGeom prst="rect">
            <a:avLst/>
          </a:prstGeom>
          <a:noFill/>
          <a:ln/>
        </p:spPr>
        <p:txBody>
          <a:bodyPr wrap="square" lIns="0" tIns="0" rIns="0" bIns="0" rtlCol="0" anchor="ctr"/>
          <a:lstStyle/>
          <a:p>
            <a:pPr indent="0" marL="0">
              <a:buNone/>
            </a:pPr>
            <a:r>
              <a:rPr lang="en-US" sz="1100" dirty="0">
                <a:solidFill>
                  <a:srgbClr val="77736A"/>
                </a:solidFill>
                <a:latin typeface="+mj-lt" pitchFamily="34" charset="0"/>
                <a:ea typeface="+mj-lt" pitchFamily="34" charset="-122"/>
                <a:cs typeface="+mj-lt" pitchFamily="34" charset="-120"/>
              </a:rPr>
              <a:t>Manba: BEA [1], [2]; mualliflar hisobi</a:t>
            </a:r>
            <a:endParaRPr lang="en-US" sz="1100" dirty="0"/>
          </a:p>
        </p:txBody>
      </p:sp>
    </p:spTree>
  </p:cSld>
  <p:clrMapOvr>
    <a:masterClrMapping/>
  </p:clrMapOvr>
  <p:transition spd="med">
    <p:fade/>
  </p:transition>
</p:sld>
</file>

<file path=ppt/theme/theme1.xml><?xml version="1.0" encoding="utf-8"?>
<a:theme xmlns:a="http://schemas.openxmlformats.org/drawingml/2006/main" name="AQSh avtomagistrali">
  <a:themeElements>
    <a:clrScheme name="AQSh avtomagistrali">
      <a:dk1>
        <a:srgbClr val="141414"/>
      </a:dk1>
      <a:lt1>
        <a:srgbClr val="FFFFFF"/>
      </a:lt1>
      <a:dk2>
        <a:srgbClr val="55524B"/>
      </a:dk2>
      <a:lt2>
        <a:srgbClr val="F7F5F0"/>
      </a:lt2>
      <a:accent1>
        <a:srgbClr val="1C3F94"/>
      </a:accent1>
      <a:accent2>
        <a:srgbClr val="F59F00"/>
      </a:accent2>
      <a:accent3>
        <a:srgbClr val="2F9E44"/>
      </a:accent3>
      <a:accent4>
        <a:srgbClr val="9C36B5"/>
      </a:accent4>
      <a:accent5>
        <a:srgbClr val="00653A"/>
      </a:accent5>
      <a:accent6>
        <a:srgbClr val="C92A2A"/>
      </a:accent6>
      <a:hlink>
        <a:srgbClr val="00653A"/>
      </a:hlink>
      <a:folHlink>
        <a:srgbClr val="55524B"/>
      </a:folHlink>
    </a:clrScheme>
    <a:fontScheme name="AQSh avtomagistral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AQSh iqtisodiyotining asosiy tarmoqlari: 2000–2025</dc:title>
  <dc:subject>AQSh iqtisodiyoti tarmoqlari tahlili</dc:subject>
  <dc:creator>3-guruh</dc:creator>
  <cp:lastModifiedBy>3-guruh</cp:lastModifiedBy>
  <cp:revision>1</cp:revision>
  <dcterms:created xsi:type="dcterms:W3CDTF">2026-10-25T19:15:09Z</dcterms:created>
  <dcterms:modified xsi:type="dcterms:W3CDTF">2026-10-25T19:15:09Z</dcterms:modified>
</cp:coreProperties>
</file>